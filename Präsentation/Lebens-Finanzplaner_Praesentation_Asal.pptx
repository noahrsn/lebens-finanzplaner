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3"/>
  </p:notesMasterIdLst>
  <p:sldIdLst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</p:sldIdLst>
  <p:sldSz cx="12192000" cy="6858000"/>
  <p:notesSz cx="6858000" cy="12192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6"/>
  </p:normalViewPr>
  <p:slideViewPr>
    <p:cSldViewPr snapToGrid="0">
      <p:cViewPr varScale="1">
        <p:scale>
          <a:sx n="215" d="100"/>
          <a:sy n="215" d="100"/>
        </p:scale>
        <p:origin x="10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Folie mittels Klicken verschieben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2DB4BE8-5F8B-40B8-9A55-8E2C4E193087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‹Nr.›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">
    <p:bg>
      <p:bgPr>
        <a:solidFill>
          <a:srgbClr val="F7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1682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Format des Titeltextes durch Klicken bearbeiten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Format des Gliederungstextes durch Klicken bearbeiten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Gliederungsebene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Gliederungsebene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Gliederungsebene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Gliederungsebene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Sechste Gliederungsebene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Siebte Gliederungsebene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22000"/>
          </a:blip>
          <a:stretch>
            <a:fillRect/>
          </a:stretch>
        </p:blipFill>
        <p:spPr>
          <a:xfrm>
            <a:off x="8869680" y="3931920"/>
            <a:ext cx="3291840" cy="3291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600" y="194310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chemeClr val="tx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Frontend-Entwicklung</a:t>
            </a:r>
            <a:endParaRPr lang="en-US" sz="5200" dirty="0">
              <a:solidFill>
                <a:schemeClr val="tx2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237744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685800" y="33832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leeren Repository zur vollständigen Web-Anwendung — in fünf Phasen.</a:t>
            </a:r>
            <a:endParaRPr lang="en-US" sz="17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685800" y="4069080"/>
            <a:ext cx="1014984" cy="402336"/>
          </a:xfrm>
          <a:prstGeom prst="roundRect">
            <a:avLst>
              <a:gd name="adj" fmla="val 50000"/>
            </a:avLst>
          </a:prstGeom>
          <a:solidFill>
            <a:srgbClr val="0E4A3D"/>
          </a:solidFill>
          <a:ln w="12700">
            <a:solidFill>
              <a:srgbClr val="0E7A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685800" y="4069080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8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865376" y="4069080"/>
            <a:ext cx="1225296" cy="402336"/>
          </a:xfrm>
          <a:prstGeom prst="roundRect">
            <a:avLst>
              <a:gd name="adj" fmla="val 50000"/>
            </a:avLst>
          </a:prstGeom>
          <a:solidFill>
            <a:srgbClr val="0E4A3D"/>
          </a:solidFill>
          <a:ln w="12700">
            <a:solidFill>
              <a:srgbClr val="0E7A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1865376" y="4069080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55264" y="4069080"/>
            <a:ext cx="1856232" cy="402336"/>
          </a:xfrm>
          <a:prstGeom prst="roundRect">
            <a:avLst>
              <a:gd name="adj" fmla="val 50000"/>
            </a:avLst>
          </a:prstGeom>
          <a:solidFill>
            <a:srgbClr val="0E4A3D"/>
          </a:solidFill>
          <a:ln w="12700">
            <a:solidFill>
              <a:srgbClr val="0E7A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3255264" y="4069080"/>
            <a:ext cx="1856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276088" y="4069080"/>
            <a:ext cx="1856232" cy="402336"/>
          </a:xfrm>
          <a:prstGeom prst="roundRect">
            <a:avLst>
              <a:gd name="adj" fmla="val 50000"/>
            </a:avLst>
          </a:prstGeom>
          <a:solidFill>
            <a:srgbClr val="0E4A3D"/>
          </a:solidFill>
          <a:ln w="12700">
            <a:solidFill>
              <a:srgbClr val="0E7A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5276088" y="4069080"/>
            <a:ext cx="1856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7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296912" y="4069080"/>
            <a:ext cx="1435608" cy="402336"/>
          </a:xfrm>
          <a:prstGeom prst="roundRect">
            <a:avLst>
              <a:gd name="adj" fmla="val 50000"/>
            </a:avLst>
          </a:prstGeom>
          <a:solidFill>
            <a:srgbClr val="0E4A3D"/>
          </a:solidFill>
          <a:ln w="12700">
            <a:solidFill>
              <a:srgbClr val="0E7A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/>
          <p:cNvSpPr/>
          <p:nvPr/>
        </p:nvSpPr>
        <p:spPr>
          <a:xfrm>
            <a:off x="7296912" y="4069080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3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897112" y="4069080"/>
            <a:ext cx="1330452" cy="402336"/>
          </a:xfrm>
          <a:prstGeom prst="roundRect">
            <a:avLst>
              <a:gd name="adj" fmla="val 50000"/>
            </a:avLst>
          </a:prstGeom>
          <a:solidFill>
            <a:srgbClr val="0E4A3D"/>
          </a:solidFill>
          <a:ln w="12700">
            <a:solidFill>
              <a:srgbClr val="0E7A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5"/>
          <p:cNvSpPr/>
          <p:nvPr/>
        </p:nvSpPr>
        <p:spPr>
          <a:xfrm>
            <a:off x="8897112" y="4069080"/>
            <a:ext cx="13304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10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85800" y="5074920"/>
            <a:ext cx="1993392" cy="960120"/>
          </a:xfrm>
          <a:prstGeom prst="roundRect">
            <a:avLst>
              <a:gd name="adj" fmla="val 8571"/>
            </a:avLst>
          </a:prstGeom>
          <a:solidFill>
            <a:srgbClr val="0E7A63"/>
          </a:solidFill>
          <a:ln w="12700">
            <a:solidFill>
              <a:srgbClr val="0E7A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7"/>
          <p:cNvSpPr/>
          <p:nvPr/>
        </p:nvSpPr>
        <p:spPr>
          <a:xfrm>
            <a:off x="685800" y="52029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5F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58952" y="5477256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Projekt-Setup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660904" y="5074920"/>
            <a:ext cx="237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2880360" y="5074920"/>
            <a:ext cx="1993392" cy="960120"/>
          </a:xfrm>
          <a:prstGeom prst="roundRect">
            <a:avLst>
              <a:gd name="adj" fmla="val 8571"/>
            </a:avLst>
          </a:prstGeom>
          <a:solidFill>
            <a:srgbClr val="0E4A3D"/>
          </a:solidFill>
          <a:ln w="12700">
            <a:solidFill>
              <a:srgbClr val="0E7A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1"/>
          <p:cNvSpPr/>
          <p:nvPr/>
        </p:nvSpPr>
        <p:spPr>
          <a:xfrm>
            <a:off x="2880360" y="52029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5F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2953512" y="5477256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Kern-UI-Seiten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855464" y="5074920"/>
            <a:ext cx="237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074920" y="5074920"/>
            <a:ext cx="1993392" cy="960120"/>
          </a:xfrm>
          <a:prstGeom prst="roundRect">
            <a:avLst>
              <a:gd name="adj" fmla="val 8571"/>
            </a:avLst>
          </a:prstGeom>
          <a:solidFill>
            <a:srgbClr val="0E7A63"/>
          </a:solidFill>
          <a:ln w="12700">
            <a:solidFill>
              <a:srgbClr val="0E7A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5"/>
          <p:cNvSpPr/>
          <p:nvPr/>
        </p:nvSpPr>
        <p:spPr>
          <a:xfrm>
            <a:off x="5074920" y="52029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5F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148072" y="5477256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Auth-Backend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050024" y="5074920"/>
            <a:ext cx="237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7269480" y="5074920"/>
            <a:ext cx="1993392" cy="960120"/>
          </a:xfrm>
          <a:prstGeom prst="roundRect">
            <a:avLst>
              <a:gd name="adj" fmla="val 8571"/>
            </a:avLst>
          </a:prstGeom>
          <a:solidFill>
            <a:srgbClr val="0E4A3D"/>
          </a:solidFill>
          <a:ln w="12700">
            <a:solidFill>
              <a:srgbClr val="0E7A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29"/>
          <p:cNvSpPr/>
          <p:nvPr/>
        </p:nvSpPr>
        <p:spPr>
          <a:xfrm>
            <a:off x="7269480" y="52029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5F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7342632" y="5477256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 Daten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9244584" y="5074920"/>
            <a:ext cx="237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9464040" y="5074920"/>
            <a:ext cx="1993392" cy="960120"/>
          </a:xfrm>
          <a:prstGeom prst="roundRect">
            <a:avLst>
              <a:gd name="adj" fmla="val 8571"/>
            </a:avLst>
          </a:prstGeom>
          <a:solidFill>
            <a:srgbClr val="0E7A63"/>
          </a:solidFill>
          <a:ln w="12700">
            <a:solidFill>
              <a:srgbClr val="0E7A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Text 33"/>
          <p:cNvSpPr/>
          <p:nvPr/>
        </p:nvSpPr>
        <p:spPr>
          <a:xfrm>
            <a:off x="9464040" y="52029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5F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9537192" y="5477256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Ziele-Funktion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8580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r>
              <a:rPr lang="en-US" sz="1200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React-Seiten     Flask + Azure Cosmos DB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TECHNOLOGIE-ENTSCHEIDUNGEN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Der Stack und warum genau diese Werkzeuge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  <a:effectLst>
            <a:outerShdw blurRad="101600" dist="38100" dir="5400000" algn="bl" rotWithShape="0">
              <a:srgbClr val="1F262E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960120" y="1920240"/>
            <a:ext cx="777240" cy="777240"/>
          </a:xfrm>
          <a:prstGeom prst="ellipse">
            <a:avLst/>
          </a:prstGeom>
          <a:solidFill>
            <a:srgbClr val="E5F1ED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202" y="21223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91109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Vite 8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74520" y="22585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Build-Tool &amp; Dev-Server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87552" y="2834640"/>
            <a:ext cx="4599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 veraltetem Create React App. Dev-Server startet sofort, HMR zeigt Änderungen ohne Reload. Produktions-Builds über Rollup optimiert.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1600200"/>
            <a:ext cx="52578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  <a:effectLst>
            <a:outerShdw blurRad="101600" dist="38100" dir="5400000" algn="bl" rotWithShape="0">
              <a:srgbClr val="1F262E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6537960" y="1920240"/>
            <a:ext cx="777240" cy="777240"/>
          </a:xfrm>
          <a:prstGeom prst="ellipse">
            <a:avLst/>
          </a:prstGeom>
          <a:solidFill>
            <a:srgbClr val="E5F1ED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0042" y="212232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191109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React 19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452360" y="225856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UI-Bibliothek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565392" y="2834640"/>
            <a:ext cx="4599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Komponentenbasiert, moderne createRoot()-API mit StrictMode. State und Datenladen über Hooks (useState, useEffect).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4206240"/>
            <a:ext cx="52578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  <a:effectLst>
            <a:outerShdw blurRad="101600" dist="38100" dir="5400000" algn="bl" rotWithShape="0">
              <a:srgbClr val="1F262E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3"/>
          <p:cNvSpPr/>
          <p:nvPr/>
        </p:nvSpPr>
        <p:spPr>
          <a:xfrm>
            <a:off x="960120" y="4526280"/>
            <a:ext cx="777240" cy="777240"/>
          </a:xfrm>
          <a:prstGeom prst="ellipse">
            <a:avLst/>
          </a:prstGeom>
          <a:solidFill>
            <a:srgbClr val="E5F1ED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202" y="4728362"/>
            <a:ext cx="373075" cy="3730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74520" y="451713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Tailwind CSS 4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874520" y="48646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987552" y="5440680"/>
            <a:ext cx="4599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Utility-First, als Vite-Plugin eingebunden. Gesamtes CSS-Setup: @import "tailwindcss"; — nur genutzte Klassen landen im Bundle.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217920" y="4206240"/>
            <a:ext cx="52578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  <a:effectLst>
            <a:outerShdw blurRad="101600" dist="38100" dir="5400000" algn="bl" rotWithShape="0">
              <a:srgbClr val="1F262E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18"/>
          <p:cNvSpPr/>
          <p:nvPr/>
        </p:nvSpPr>
        <p:spPr>
          <a:xfrm>
            <a:off x="6537960" y="4526280"/>
            <a:ext cx="777240" cy="777240"/>
          </a:xfrm>
          <a:prstGeom prst="ellipse">
            <a:avLst/>
          </a:prstGeom>
          <a:solidFill>
            <a:srgbClr val="E5F1ED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0042" y="4728362"/>
            <a:ext cx="373075" cy="37307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52360" y="451713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Router · Recharts · ESLint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7452360" y="48646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· Diagramme · Qualität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565392" y="5440680"/>
            <a:ext cx="4599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Router: Navigation + geschützte Routen (PrivateRoute). Recharts: Diagramme als React-Komponenten. ESLint: prüft Hook-Regeln.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Projekt-Setup &amp; Konfiguration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das Tooling-Grundgerüst, dann die erste React-Komponente. Alles in frontend/ — sauber vom Backend getrennt.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 minimale Konfiguration: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vite.config.js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nur zwei Plugins: React + Tailwind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eslint.config.js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Flat Config, React-Hooks-Regeln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main.jsx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createRoot() + StrictMode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VITE_API_URL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Backend-URL für die Produktion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534466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516636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Saubere Trennung von Frontend und Backend von Anfang an.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80760" y="169164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0B3B31"/>
          </a:solidFill>
          <a:ln/>
          <a:effectLst>
            <a:outerShdw blurRad="101600" dist="38100" dir="5400000" algn="bl" rotWithShape="0">
              <a:srgbClr val="1F262E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6400800" y="196596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index.html         HTML-Hülle, lang="de"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vite.config.js     React- + Tailwind-Plugin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eslint.config.js   Flat Config, Hook-Regeln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package.json       dev · build · lint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src/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main.jsx       createRoot + StrictMode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index.css      @import "tailwindcss";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App.jsx        Routen-Definition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components/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Layout.jsx       Sidebar-Layout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PrivateRoute.jsx Auth-Schutz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7E6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pages/         11 Seiten-Komponenten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 DER WERKZEUGE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Stärken und Schwächen im Projektalltag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835640" y="658368"/>
            <a:ext cx="777240" cy="777240"/>
          </a:xfrm>
          <a:prstGeom prst="ellipse">
            <a:avLst/>
          </a:prstGeom>
          <a:solidFill>
            <a:srgbClr val="E5F1ED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7722" y="860450"/>
            <a:ext cx="373075" cy="3730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91640"/>
            <a:ext cx="1965960" cy="457200"/>
          </a:xfrm>
          <a:prstGeom prst="rect">
            <a:avLst/>
          </a:prstGeom>
          <a:solidFill>
            <a:srgbClr val="0B3B3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4"/>
          <p:cNvSpPr/>
          <p:nvPr/>
        </p:nvSpPr>
        <p:spPr>
          <a:xfrm>
            <a:off x="777240" y="1691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5F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606040" y="1691640"/>
            <a:ext cx="4709160" cy="457200"/>
          </a:xfrm>
          <a:prstGeom prst="rect">
            <a:avLst/>
          </a:prstGeom>
          <a:solidFill>
            <a:srgbClr val="0B3B3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2743200" y="16916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5F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VORTEILE (IM PROJEKT ERLEBT)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315200" y="1691640"/>
            <a:ext cx="4251960" cy="457200"/>
          </a:xfrm>
          <a:prstGeom prst="rect">
            <a:avLst/>
          </a:prstGeom>
          <a:solidFill>
            <a:srgbClr val="0B3B3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7452360" y="16916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5F1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NACHTEILE / KOMPROMISSE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2148840"/>
            <a:ext cx="196596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777240" y="2148840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8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2606040" y="2148840"/>
            <a:ext cx="470916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/>
          <p:nvPr/>
        </p:nvSpPr>
        <p:spPr>
          <a:xfrm>
            <a:off x="2743200" y="2148840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Sofortiger Start; schnelles HMR; kaum Konfiguration.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315200" y="2148840"/>
            <a:ext cx="425196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7452360" y="2148840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 und Produktions-Build unterscheiden sich — Build separat testen.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40080" y="2935224"/>
            <a:ext cx="1965960" cy="786384"/>
          </a:xfrm>
          <a:prstGeom prst="rect">
            <a:avLst/>
          </a:prstGeom>
          <a:solidFill>
            <a:srgbClr val="F0F7F4"/>
          </a:solidFill>
          <a:ln w="6350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6"/>
          <p:cNvSpPr/>
          <p:nvPr/>
        </p:nvSpPr>
        <p:spPr>
          <a:xfrm>
            <a:off x="777240" y="2935224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2606040" y="2935224"/>
            <a:ext cx="4709160" cy="786384"/>
          </a:xfrm>
          <a:prstGeom prst="rect">
            <a:avLst/>
          </a:prstGeom>
          <a:solidFill>
            <a:srgbClr val="F0F7F4"/>
          </a:solidFill>
          <a:ln w="6350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8"/>
          <p:cNvSpPr/>
          <p:nvPr/>
        </p:nvSpPr>
        <p:spPr>
          <a:xfrm>
            <a:off x="2743200" y="2935224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Wiederverwendbare Komponenten; riesiges Ökosystem; StrictMode findet Fehler früh.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315200" y="2935224"/>
            <a:ext cx="4251960" cy="786384"/>
          </a:xfrm>
          <a:prstGeom prst="rect">
            <a:avLst/>
          </a:prstGeom>
          <a:solidFill>
            <a:srgbClr val="F0F7F4"/>
          </a:solidFill>
          <a:ln w="6350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0"/>
          <p:cNvSpPr/>
          <p:nvPr/>
        </p:nvSpPr>
        <p:spPr>
          <a:xfrm>
            <a:off x="7452360" y="2935224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Doppel-Rendering anfangs verwirrend; Hook-Regeln haben eine Lernkurve.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40080" y="3721608"/>
            <a:ext cx="196596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2"/>
          <p:cNvSpPr/>
          <p:nvPr/>
        </p:nvSpPr>
        <p:spPr>
          <a:xfrm>
            <a:off x="777240" y="3721608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4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2606040" y="3721608"/>
            <a:ext cx="470916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4"/>
          <p:cNvSpPr/>
          <p:nvPr/>
        </p:nvSpPr>
        <p:spPr>
          <a:xfrm>
            <a:off x="2743200" y="3721608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direkt im JSX; konsistentes Design; kleines finales CSS.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315200" y="3721608"/>
            <a:ext cx="425196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6"/>
          <p:cNvSpPr/>
          <p:nvPr/>
        </p:nvSpPr>
        <p:spPr>
          <a:xfrm>
            <a:off x="7452360" y="3721608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 Klassenlisten machen JSX schwerer lesbar.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40080" y="4507992"/>
            <a:ext cx="1965960" cy="786384"/>
          </a:xfrm>
          <a:prstGeom prst="rect">
            <a:avLst/>
          </a:prstGeom>
          <a:solidFill>
            <a:srgbClr val="F0F7F4"/>
          </a:solidFill>
          <a:ln w="6350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8"/>
          <p:cNvSpPr/>
          <p:nvPr/>
        </p:nvSpPr>
        <p:spPr>
          <a:xfrm>
            <a:off x="777240" y="4507992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7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2606040" y="4507992"/>
            <a:ext cx="4709160" cy="786384"/>
          </a:xfrm>
          <a:prstGeom prst="rect">
            <a:avLst/>
          </a:prstGeom>
          <a:solidFill>
            <a:srgbClr val="F0F7F4"/>
          </a:solidFill>
          <a:ln w="6350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0"/>
          <p:cNvSpPr/>
          <p:nvPr/>
        </p:nvSpPr>
        <p:spPr>
          <a:xfrm>
            <a:off x="2743200" y="4507992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Deklarative Routen; zentraler Auth-Schutz; einfache Redirects.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7315200" y="4507992"/>
            <a:ext cx="4251960" cy="786384"/>
          </a:xfrm>
          <a:prstGeom prst="rect">
            <a:avLst/>
          </a:prstGeom>
          <a:solidFill>
            <a:srgbClr val="F0F7F4"/>
          </a:solidFill>
          <a:ln w="6350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2"/>
          <p:cNvSpPr/>
          <p:nvPr/>
        </p:nvSpPr>
        <p:spPr>
          <a:xfrm>
            <a:off x="7452360" y="4507992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Häufige Major-Versionen — Tutorials oft veraltet.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40080" y="5294376"/>
            <a:ext cx="196596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4"/>
          <p:cNvSpPr/>
          <p:nvPr/>
        </p:nvSpPr>
        <p:spPr>
          <a:xfrm>
            <a:off x="777240" y="5294376"/>
            <a:ext cx="1691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3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2606040" y="5294376"/>
            <a:ext cx="470916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6"/>
          <p:cNvSpPr/>
          <p:nvPr/>
        </p:nvSpPr>
        <p:spPr>
          <a:xfrm>
            <a:off x="2743200" y="5294376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als React-Komponenten; responsiv out-of-the-box.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7315200" y="5294376"/>
            <a:ext cx="425196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6E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1" name="Text 38"/>
          <p:cNvSpPr/>
          <p:nvPr/>
        </p:nvSpPr>
        <p:spPr>
          <a:xfrm>
            <a:off x="7452360" y="5294376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Weniger Kontrolle als D3; vergrößert das Bundle.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Kern-UI-Seiten — die Anwendung nimmt Gestalt 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Ansichten zunächst mit Beispieldaten — unabhängig vom Backend entwickelt.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  <a:effectLst>
            <a:outerShdw blurRad="101600" dist="38100" dir="5400000" algn="bl" rotWithShape="0">
              <a:srgbClr val="1F262E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96112" y="2377440"/>
            <a:ext cx="502920" cy="502920"/>
          </a:xfrm>
          <a:prstGeom prst="ellipse">
            <a:avLst/>
          </a:prstGeom>
          <a:solidFill>
            <a:srgbClr val="0E7A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896112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22128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Login-Seite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5786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Responsives Split-Screen-Layout.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502152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  <a:effectLst>
            <a:outerShdw blurRad="101600" dist="38100" dir="5400000" algn="bl" rotWithShape="0">
              <a:srgbClr val="1F262E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896112" y="3867912"/>
            <a:ext cx="502920" cy="502920"/>
          </a:xfrm>
          <a:prstGeom prst="ellipse">
            <a:avLst/>
          </a:prstGeom>
          <a:solidFill>
            <a:srgbClr val="0E7A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896112" y="3867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3703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00200" y="4069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Sidebar-Layout mit KPI-Kacheln und Diagrammen (Layout.jsx).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992624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  <a:effectLst>
            <a:outerShdw blurRad="101600" dist="38100" dir="5400000" algn="bl" rotWithShape="0">
              <a:srgbClr val="1F262E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896112" y="5358384"/>
            <a:ext cx="502920" cy="502920"/>
          </a:xfrm>
          <a:prstGeom prst="ellipse">
            <a:avLst/>
          </a:prstGeom>
          <a:solidFill>
            <a:srgbClr val="0E7A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896112" y="5358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00200" y="51937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Meine Finanzen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00200" y="55595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Kreisdiagramm, Transaktionsliste, Transaktions-Modal.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2011680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  <a:effectLst>
            <a:outerShdw blurRad="101600" dist="38100" dir="5400000" algn="bl" rotWithShape="0">
              <a:srgbClr val="1F262E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6565392" y="2377440"/>
            <a:ext cx="502920" cy="502920"/>
          </a:xfrm>
          <a:prstGeom prst="ellipse">
            <a:avLst/>
          </a:prstGeom>
          <a:solidFill>
            <a:srgbClr val="0E7A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6565392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69480" y="22128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Prognosen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69480" y="25786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Seite + alle Seiten responsiv gemacht.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3502152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  <a:effectLst>
            <a:outerShdw blurRad="101600" dist="38100" dir="5400000" algn="bl" rotWithShape="0">
              <a:srgbClr val="1F262E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6565392" y="3867912"/>
            <a:ext cx="502920" cy="502920"/>
          </a:xfrm>
          <a:prstGeom prst="ellipse">
            <a:avLst/>
          </a:prstGeom>
          <a:solidFill>
            <a:srgbClr val="0E7A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6565392" y="3867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269480" y="3703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Finanz-Szenarien &amp; Ziele-Tab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269480" y="4069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Interaktive Schieberegler mit Sofort-Effekt.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4992624"/>
            <a:ext cx="52578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  <a:effectLst>
            <a:outerShdw blurRad="101600" dist="38100" dir="5400000" algn="bl" rotWithShape="0">
              <a:srgbClr val="1F262E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6565392" y="5358384"/>
            <a:ext cx="502920" cy="502920"/>
          </a:xfrm>
          <a:prstGeom prst="ellipse">
            <a:avLst/>
          </a:prstGeom>
          <a:solidFill>
            <a:srgbClr val="0E7A6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6565392" y="5358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69480" y="51937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Registrierung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269480" y="55595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Verlinkt mit Login; UI-Rahmen damit geschlossen.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PHASEN 3 &amp;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Vom Prototyp zur echten Anwendung: Auth &amp; Finanzprofil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6E9"/>
            </a:solidFill>
            <a:prstDash val="solid"/>
          </a:ln>
          <a:effectLst>
            <a:outerShdw blurRad="101600" dist="38100" dir="5400000" algn="bl" rotWithShape="0">
              <a:srgbClr val="1F262E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932688" y="1810512"/>
            <a:ext cx="658368" cy="658368"/>
          </a:xfrm>
          <a:prstGeom prst="ellipse">
            <a:avLst/>
          </a:prstGeom>
          <a:solidFill>
            <a:srgbClr val="E5F1ED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864" y="1981688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1051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Phase 3 — Anbindung ans Auth-Backend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260604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(Python)</a:t>
            </a:r>
            <a:r>
              <a:rPr lang="en-US" sz="125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mit flask-bcrypt, flask-cors, azure-cosmos, python-dotenv. Login/Registrierung nutzen echte API-Endpunkte; PrivateRoute schützt interne Seiten.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749040"/>
            <a:ext cx="5257800" cy="2514600"/>
          </a:xfrm>
          <a:prstGeom prst="roundRect">
            <a:avLst>
              <a:gd name="adj" fmla="val 3636"/>
            </a:avLst>
          </a:prstGeom>
          <a:solidFill>
            <a:srgbClr val="0B3B31"/>
          </a:solidFill>
          <a:ln/>
          <a:effectLst>
            <a:outerShdw blurRad="101600" dist="38100" dir="5400000" algn="bl" rotWithShape="0">
              <a:srgbClr val="1F262E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960120" y="39319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Ablauf nach dem Login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60120" y="443484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0E7A63"/>
          </a:solidFill>
          <a:ln w="12700">
            <a:solidFill>
              <a:srgbClr val="3FA8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1005840" y="4434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514600" y="4434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880360" y="4315968"/>
            <a:ext cx="2468880" cy="685800"/>
          </a:xfrm>
          <a:prstGeom prst="roundRect">
            <a:avLst>
              <a:gd name="adj" fmla="val 8000"/>
            </a:avLst>
          </a:prstGeom>
          <a:solidFill>
            <a:srgbClr val="0E4A3D"/>
          </a:solidFill>
          <a:ln w="12700">
            <a:solidFill>
              <a:srgbClr val="3FA8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/>
          <p:nvPr/>
        </p:nvSpPr>
        <p:spPr>
          <a:xfrm>
            <a:off x="2926080" y="431596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Finanzprofil vorhanden?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60120" y="521208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0E4A3D"/>
          </a:solidFill>
          <a:ln w="12700">
            <a:solidFill>
              <a:srgbClr val="3FA8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4"/>
          <p:cNvSpPr/>
          <p:nvPr/>
        </p:nvSpPr>
        <p:spPr>
          <a:xfrm>
            <a:off x="1005840" y="52120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 → Dashboard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154680" y="5212080"/>
            <a:ext cx="2606040" cy="502920"/>
          </a:xfrm>
          <a:prstGeom prst="roundRect">
            <a:avLst>
              <a:gd name="adj" fmla="val 10909"/>
            </a:avLst>
          </a:prstGeom>
          <a:solidFill>
            <a:srgbClr val="0E4A3D"/>
          </a:solidFill>
          <a:ln w="12700">
            <a:solidFill>
              <a:srgbClr val="3FA8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6"/>
          <p:cNvSpPr/>
          <p:nvPr/>
        </p:nvSpPr>
        <p:spPr>
          <a:xfrm>
            <a:off x="3200400" y="52120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7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 → /eingabe → Dashboard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263640" y="1600200"/>
            <a:ext cx="5303520" cy="4663440"/>
          </a:xfrm>
          <a:prstGeom prst="roundRect">
            <a:avLst>
              <a:gd name="adj" fmla="val 1961"/>
            </a:avLst>
          </a:prstGeom>
          <a:solidFill>
            <a:srgbClr val="F0F7F4"/>
          </a:solidFill>
          <a:ln w="12700">
            <a:solidFill>
              <a:srgbClr val="E3E6E9"/>
            </a:solidFill>
            <a:prstDash val="solid"/>
          </a:ln>
          <a:effectLst>
            <a:outerShdw blurRad="101600" dist="38100" dir="5400000" algn="bl" rotWithShape="0">
              <a:srgbClr val="1F262E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8"/>
          <p:cNvSpPr/>
          <p:nvPr/>
        </p:nvSpPr>
        <p:spPr>
          <a:xfrm>
            <a:off x="6583680" y="18288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856" y="1999976"/>
            <a:ext cx="316017" cy="316017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360920" y="182880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Phase 4 — Finanzprofil &amp; reale Daten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6611112" y="2651760"/>
            <a:ext cx="4608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 von Fake-Daten, hin zu echten Nutzerdaten: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629400" y="3063240"/>
            <a:ext cx="459028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b="1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/eingabe</a:t>
            </a:r>
            <a:r>
              <a:rPr lang="en-US" sz="125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mehrteiliges Formular (Einkommen, Ersparnisse, Vorsorge, Konten)</a:t>
            </a:r>
            <a:endParaRPr lang="en-US" sz="1250" dirty="0"/>
          </a:p>
          <a:p>
            <a:pPr marL="203200" indent="-2032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b="1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Meine Finanzen</a:t>
            </a:r>
            <a:r>
              <a:rPr lang="en-US" sz="125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bearbeitbares Profil, Änderungen per PATCH</a:t>
            </a:r>
            <a:endParaRPr lang="en-US" sz="1250" dirty="0"/>
          </a:p>
          <a:p>
            <a:pPr marL="203200" indent="-2032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b="1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en-US" sz="125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lädt reale Daten von /api/financial-profile</a:t>
            </a:r>
            <a:endParaRPr lang="en-US" sz="1250" dirty="0"/>
          </a:p>
          <a:p>
            <a:pPr marL="203200" indent="-203200">
              <a:lnSpc>
                <a:spcPct val="103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b="1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r>
              <a:rPr lang="en-US" sz="125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Container financial_profiles + Validierung + Änderungsprotokoll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Ziele-Funktion, Logout &amp; Produktions-Konfiguration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statische Ziele-Tab wurde ein echtes Feature mit vollem CRUD-Zyklus: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5257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Persistenz</a:t>
            </a:r>
            <a:r>
              <a:rPr lang="en-US" sz="130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Ziele in der Datenbank, Fake-Ziele entfernt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Bearbeiten &amp; Löschen</a:t>
            </a:r>
            <a:r>
              <a:rPr lang="en-US" sz="130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inklusive Backend-Endpunkte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r>
              <a:rPr lang="en-US" sz="130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schließt den Auth-Zyklus ab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703320"/>
            <a:ext cx="5257800" cy="2514600"/>
          </a:xfrm>
          <a:prstGeom prst="roundRect">
            <a:avLst>
              <a:gd name="adj" fmla="val 3636"/>
            </a:avLst>
          </a:prstGeom>
          <a:solidFill>
            <a:srgbClr val="F6EEDC"/>
          </a:solidFill>
          <a:ln/>
          <a:effectLst>
            <a:outerShdw blurRad="101600" dist="38100" dir="5400000" algn="bl" rotWithShape="0">
              <a:srgbClr val="1F262E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932688" y="39319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09" y="409834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393192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07A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Aus der Produktion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87552" y="4709160"/>
            <a:ext cx="45628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Ziele wurden in Produktion nicht gespeichert — Ursache: hartcodierte localhost-URL. </a:t>
            </a:r>
            <a:r>
              <a:rPr lang="en-US" sz="1300" b="1" dirty="0">
                <a:solidFill>
                  <a:srgbClr val="B07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jede API-Adresse kommt aus VITE_API_URL, nie aus dem Code.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600200"/>
            <a:ext cx="5303520" cy="4617720"/>
          </a:xfrm>
          <a:prstGeom prst="roundRect">
            <a:avLst>
              <a:gd name="adj" fmla="val 1980"/>
            </a:avLst>
          </a:prstGeom>
          <a:solidFill>
            <a:srgbClr val="0B3B31"/>
          </a:solidFill>
          <a:ln/>
          <a:effectLst>
            <a:outerShdw blurRad="101600" dist="38100" dir="5400000" algn="bl" rotWithShape="0">
              <a:srgbClr val="1F262E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66294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Request-Fluss in Produktion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720840" y="2377440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0E7A63"/>
          </a:solidFill>
          <a:ln w="12700">
            <a:solidFill>
              <a:srgbClr val="3FA8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1"/>
          <p:cNvSpPr/>
          <p:nvPr/>
        </p:nvSpPr>
        <p:spPr>
          <a:xfrm>
            <a:off x="6922008" y="2596896"/>
            <a:ext cx="475488" cy="475488"/>
          </a:xfrm>
          <a:prstGeom prst="ellipse">
            <a:avLst/>
          </a:prstGeom>
          <a:solidFill>
            <a:srgbClr val="0B3B31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5635" y="2720523"/>
            <a:ext cx="228234" cy="22823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589520" y="2377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— React-App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8641080" y="32918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720840" y="3584448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0E4A3D"/>
          </a:solidFill>
          <a:ln w="12700">
            <a:solidFill>
              <a:srgbClr val="3FA8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5"/>
          <p:cNvSpPr/>
          <p:nvPr/>
        </p:nvSpPr>
        <p:spPr>
          <a:xfrm>
            <a:off x="6922008" y="3803904"/>
            <a:ext cx="475488" cy="475488"/>
          </a:xfrm>
          <a:prstGeom prst="ellipse">
            <a:avLst/>
          </a:prstGeom>
          <a:solidFill>
            <a:srgbClr val="0E7A6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5635" y="3927531"/>
            <a:ext cx="228234" cy="22823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589520" y="37307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Flask-Backend (REST-API)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589520" y="405993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D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 · CORS · Validierung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8641080" y="44988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6720840" y="4791456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0E4A3D"/>
          </a:solidFill>
          <a:ln w="12700">
            <a:solidFill>
              <a:srgbClr val="3FA88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0"/>
          <p:cNvSpPr/>
          <p:nvPr/>
        </p:nvSpPr>
        <p:spPr>
          <a:xfrm>
            <a:off x="6922008" y="5010912"/>
            <a:ext cx="475488" cy="475488"/>
          </a:xfrm>
          <a:prstGeom prst="ellipse">
            <a:avLst/>
          </a:prstGeom>
          <a:solidFill>
            <a:srgbClr val="0E7A63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5635" y="5134539"/>
            <a:ext cx="228234" cy="22823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589520" y="49377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Cosmos DB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589520" y="52669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D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 · financial_profiles · goals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720840" y="5806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Lokal: Vite + Flask nebeneinander (CORS). Produktion: statisches Bundle aus vite build.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1063721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FA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Was am Ende steht</a:t>
            </a:r>
            <a:endParaRPr lang="en-US" sz="3200" dirty="0">
              <a:solidFill>
                <a:schemeClr val="tx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0E4A3D"/>
          </a:solidFill>
          <a:ln w="12700">
            <a:solidFill>
              <a:srgbClr val="0E7A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731520" y="19842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FA8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7157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5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Seiten-Komponenten (Login bis KI-Assistent)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47872" y="17830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0E4A3D"/>
          </a:solidFill>
          <a:ln w="12700">
            <a:solidFill>
              <a:srgbClr val="0E7A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639312" y="19842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FA8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730752" y="27157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5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Entwicklungsphasen, iterativ aufgebaut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55664" y="17830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0E4A3D"/>
          </a:solidFill>
          <a:ln w="12700">
            <a:solidFill>
              <a:srgbClr val="0E7A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547104" y="19842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FA8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100 %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638544" y="27157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5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Kernseiten mit realen Backend-Daten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363456" y="178308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0E4A3D"/>
          </a:solidFill>
          <a:ln w="12700">
            <a:solidFill>
              <a:srgbClr val="0E7A6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9454896" y="19842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FA88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546336" y="27157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5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Zeile CSS-Konfiguration dank Tailwind 4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53949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F262E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896112" y="3959352"/>
            <a:ext cx="640080" cy="640080"/>
          </a:xfrm>
          <a:prstGeom prst="ellipse">
            <a:avLst/>
          </a:prstGeom>
          <a:solidFill>
            <a:srgbClr val="E5F1ED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3" y="4125773"/>
            <a:ext cx="307238" cy="30723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645920" y="395935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Funktionsumfang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60120" y="475488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vollständige, responsive Single-Page-Anwendung: Registrierung, Login/Logout, geführte Profil-Einrichtung, Dashboard mit echten KPI-Werten, Prognosen, interaktive Szenarien und persistente Ziele mit CRUD.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172200" y="3703320"/>
            <a:ext cx="53949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F262E">
                <a:alpha val="16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Shape 19"/>
          <p:cNvSpPr/>
          <p:nvPr/>
        </p:nvSpPr>
        <p:spPr>
          <a:xfrm>
            <a:off x="6428232" y="3959352"/>
            <a:ext cx="640080" cy="640080"/>
          </a:xfrm>
          <a:prstGeom prst="ellipse">
            <a:avLst/>
          </a:prstGeom>
          <a:solidFill>
            <a:srgbClr val="E5F1ED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653" y="4125773"/>
            <a:ext cx="307238" cy="30723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178040" y="39593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Wichtigste Erkenntnisse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537960" y="4727448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UI, dann Daten</a:t>
            </a:r>
            <a:r>
              <a:rPr lang="en-US" sz="120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Frontend und Backend entkoppelt</a:t>
            </a:r>
            <a:endParaRPr lang="en-US" sz="12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Moderne Tools</a:t>
            </a:r>
            <a:r>
              <a:rPr lang="en-US" sz="120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Setup in wenigen Zeilen</a:t>
            </a:r>
            <a:endParaRPr lang="en-US" sz="12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Umgebungen früh trennen</a:t>
            </a:r>
            <a:r>
              <a:rPr lang="en-US" sz="120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VITE_API_URL von Anfang an</a:t>
            </a:r>
            <a:endParaRPr lang="en-US" sz="12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0E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 rendern</a:t>
            </a:r>
            <a:r>
              <a:rPr lang="en-US" sz="1200" dirty="0">
                <a:solidFill>
                  <a:srgbClr val="1F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Optional Chaining bei API-Daten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3574396489F2A408CA3654B3BFD8422" ma:contentTypeVersion="10" ma:contentTypeDescription="Ein neues Dokument erstellen." ma:contentTypeScope="" ma:versionID="969204ac11472e36d23f9bf858dc86b1">
  <xsd:schema xmlns:xsd="http://www.w3.org/2001/XMLSchema" xmlns:xs="http://www.w3.org/2001/XMLSchema" xmlns:p="http://schemas.microsoft.com/office/2006/metadata/properties" xmlns:ns2="ee027e5d-e3f7-4a15-8562-b3d3cde3991d" xmlns:ns3="1dacdcdf-d4df-4960-8c37-34aeefdb918c" targetNamespace="http://schemas.microsoft.com/office/2006/metadata/properties" ma:root="true" ma:fieldsID="4bfbc37b80d867521b2692f88b3f4205" ns2:_="" ns3:_="">
    <xsd:import namespace="ee027e5d-e3f7-4a15-8562-b3d3cde3991d"/>
    <xsd:import namespace="1dacdcdf-d4df-4960-8c37-34aeefdb91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027e5d-e3f7-4a15-8562-b3d3cde399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e9e705d6-38b3-4b97-b0df-0b3ae6773d9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acdcdf-d4df-4960-8c37-34aeefdb918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b87afd1-52cb-466b-91df-8b174df1b189}" ma:internalName="TaxCatchAll" ma:showField="CatchAllData" ma:web="1dacdcdf-d4df-4960-8c37-34aeefdb91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dacdcdf-d4df-4960-8c37-34aeefdb918c" xsi:nil="true"/>
    <lcf76f155ced4ddcb4097134ff3c332f xmlns="ee027e5d-e3f7-4a15-8562-b3d3cde3991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99EE830-3EA3-4BFC-A31A-38FA763395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e027e5d-e3f7-4a15-8562-b3d3cde3991d"/>
    <ds:schemaRef ds:uri="1dacdcdf-d4df-4960-8c37-34aeefdb91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3640B8B-799A-4B64-99BD-0B95243E89FA}">
  <ds:schemaRefs>
    <ds:schemaRef ds:uri="http://schemas.microsoft.com/office/2006/metadata/properties"/>
    <ds:schemaRef ds:uri="http://schemas.microsoft.com/office/infopath/2007/PartnerControls"/>
    <ds:schemaRef ds:uri="1dacdcdf-d4df-4960-8c37-34aeefdb918c"/>
    <ds:schemaRef ds:uri="ee027e5d-e3f7-4a15-8562-b3d3cde3991d"/>
  </ds:schemaRefs>
</ds:datastoreItem>
</file>

<file path=customXml/itemProps3.xml><?xml version="1.0" encoding="utf-8"?>
<ds:datastoreItem xmlns:ds="http://schemas.openxmlformats.org/officeDocument/2006/customXml" ds:itemID="{E7ADD3EB-5B74-4774-B1CD-4A32C22001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893</Words>
  <Application>Microsoft Macintosh PowerPoint</Application>
  <PresentationFormat>Breitbild</PresentationFormat>
  <Paragraphs>168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7" baseType="lpstr">
      <vt:lpstr>Aptos</vt:lpstr>
      <vt:lpstr>Arial</vt:lpstr>
      <vt:lpstr>Calibri</vt:lpstr>
      <vt:lpstr>Century Schoolbook</vt:lpstr>
      <vt:lpstr>Consolas</vt:lpstr>
      <vt:lpstr>Symbol</vt:lpstr>
      <vt:lpstr>Times New Roman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Hochschulprojekt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Lebens-Finanzplaner – Projektpräsentation</dc:title>
  <dc:subject>Präsentation Lebens-Finanzplaner</dc:subject>
  <dc:creator>Lebens-Finanzplaner Projektteam</dc:creator>
  <dc:description/>
  <cp:lastModifiedBy>Thomas Relovsky</cp:lastModifiedBy>
  <cp:revision>23</cp:revision>
  <dcterms:created xsi:type="dcterms:W3CDTF">2026-07-13T13:39:48Z</dcterms:created>
  <dcterms:modified xsi:type="dcterms:W3CDTF">2026-07-23T19:48:30Z</dcterms:modified>
  <dc:language>de-DE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0x010100C3574396489F2A408CA3654B3BFD8422</vt:lpwstr>
  </property>
  <property fmtid="{D5CDD505-2E9C-101B-9397-08002B2CF9AE}" pid="3" name="MediaServiceImageTags">
    <vt:lpwstr/>
  </property>
  <property fmtid="{D5CDD505-2E9C-101B-9397-08002B2CF9AE}" pid="4" name="Notes">
    <vt:i4>39</vt:i4>
  </property>
  <property fmtid="{D5CDD505-2E9C-101B-9397-08002B2CF9AE}" pid="5" name="PresentationFormat">
    <vt:lpwstr>Breitbild</vt:lpwstr>
  </property>
  <property fmtid="{D5CDD505-2E9C-101B-9397-08002B2CF9AE}" pid="6" name="Slides">
    <vt:i4>40</vt:i4>
  </property>
</Properties>
</file>