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comment1.xml" ContentType="application/vnd.openxmlformats-officedocument.presentationml.comments+xml"/>
  <Override PartName="/ppt/notesSlides/notesSlide4.xml" ContentType="application/vnd.openxmlformats-officedocument.presentationml.notesSlide+xml"/>
  <Override PartName="/ppt/comments/comment2.xml" ContentType="application/vnd.openxmlformats-officedocument.presentationml.comments+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
  </p:notesMasterIdLst>
  <p:sldIdLst>
    <p:sldId id="272" r:id="rId2"/>
    <p:sldId id="273" r:id="rId3"/>
    <p:sldId id="274" r:id="rId4"/>
    <p:sldId id="275" r:id="rId5"/>
    <p:sldId id="276" r:id="rId6"/>
    <p:sldId id="277" r:id="rId7"/>
  </p:sldIdLst>
  <p:sldSz cx="12192000" cy="6858000"/>
  <p:notesSz cx="6858000" cy="12192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 initials=""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commentAuthors" Target="commentAuthors.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7-16T11:59:29" idx="1">
    <p:pos x="0" y="0"/>
    <p:text>JSON/NoSQL
SQL
Konsistenz wird hauptsächlich durch den Anwendungscode sichergestellt.
Konsistenz wird zusätzlich von der Datenbank selbst überwacht.
Fehlerhafte Verweise oder ungültige Werte können gespeichert werden, wenn die Anwendung nicht prüft.
Fremdschlüssel und Constraints verhindern viele Fehler automatisch.
Mehr Verantwortung für den Entwickler.
Weniger Risiko für inkonsistente Daten durch eingebaute Datenbankregeln.
</p:text>
  </p:cm>
</p:cmLst>
</file>

<file path=ppt/comments/comment2.xml><?xml version="1.0" encoding="utf-8"?>
<p:cmLst xmlns:a="http://schemas.openxmlformats.org/drawingml/2006/main" xmlns:r="http://schemas.openxmlformats.org/officeDocument/2006/relationships" xmlns:p="http://schemas.openxmlformats.org/presentationml/2006/main">
  <p:cm authorId="0" dt="2026-07-16T12:08:23" idx="2">
    <p:pos x="0" y="0"/>
    <p:text>Zunächst gab es nur die Tabellen users und financial_profiles mit id und data: json.</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PlaceHolder 1"/>
          <p:cNvSpPr>
            <a:spLocks noGrp="1" noRot="1" noChangeAspect="1"/>
          </p:cNvSpPr>
          <p:nvPr>
            <p:ph type="sldImg"/>
          </p:nvPr>
        </p:nvSpPr>
        <p:spPr>
          <a:xfrm>
            <a:off x="216000" y="812520"/>
            <a:ext cx="7127280" cy="4008960"/>
          </a:xfrm>
          <a:prstGeom prst="rect">
            <a:avLst/>
          </a:prstGeom>
          <a:noFill/>
          <a:ln w="0">
            <a:noFill/>
          </a:ln>
        </p:spPr>
        <p:txBody>
          <a:bodyPr lIns="0" tIns="0" rIns="0" bIns="0" anchor="ctr">
            <a:noAutofit/>
          </a:bodyPr>
          <a:lstStyle/>
          <a:p>
            <a:r>
              <a:rPr lang="de-DE" sz="1800" b="0" u="none" strike="noStrike">
                <a:solidFill>
                  <a:schemeClr val="dk1"/>
                </a:solidFill>
                <a:effectLst/>
                <a:uFillTx/>
                <a:latin typeface="Aptos"/>
              </a:rPr>
              <a:t>Folie mittels Klicken verschieben</a:t>
            </a:r>
          </a:p>
        </p:txBody>
      </p:sp>
      <p:sp>
        <p:nvSpPr>
          <p:cNvPr id="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de-DE" sz="2000" b="0" u="none" strike="noStrike">
                <a:solidFill>
                  <a:srgbClr val="000000"/>
                </a:solidFill>
                <a:effectLst/>
                <a:uFillTx/>
                <a:latin typeface="Arial"/>
              </a:rPr>
              <a:t>Format der Notizen mittels Klicken bearbeiten</a:t>
            </a:r>
          </a:p>
        </p:txBody>
      </p:sp>
      <p:sp>
        <p:nvSpPr>
          <p:cNvPr id="6"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lgn="l">
              <a:buNone/>
            </a:pPr>
            <a:r>
              <a:rPr lang="de-DE" sz="1400" b="0" u="none" strike="noStrike">
                <a:solidFill>
                  <a:srgbClr val="000000"/>
                </a:solidFill>
                <a:effectLst/>
                <a:uFillTx/>
                <a:latin typeface="Times New Roman"/>
              </a:rPr>
              <a:t> </a:t>
            </a:r>
          </a:p>
        </p:txBody>
      </p:sp>
      <p:sp>
        <p:nvSpPr>
          <p:cNvPr id="7"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de-DE" sz="1400" b="0" u="none" strike="noStrike">
                <a:solidFill>
                  <a:srgbClr val="000000"/>
                </a:solidFill>
                <a:effectLst/>
                <a:uFillTx/>
                <a:latin typeface="Times New Roman"/>
              </a:defRPr>
            </a:lvl1pPr>
          </a:lstStyle>
          <a:p>
            <a:pPr indent="0" algn="r">
              <a:buNone/>
            </a:pPr>
            <a:r>
              <a:rPr lang="de-DE" sz="1400" b="0" u="none" strike="noStrike">
                <a:solidFill>
                  <a:srgbClr val="000000"/>
                </a:solidFill>
                <a:effectLst/>
                <a:uFillTx/>
                <a:latin typeface="Times New Roman"/>
              </a:rPr>
              <a:t> </a:t>
            </a:r>
          </a:p>
        </p:txBody>
      </p:sp>
      <p:sp>
        <p:nvSpPr>
          <p:cNvPr id="8"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de-DE" sz="1400" b="0" u="none" strike="noStrike">
                <a:solidFill>
                  <a:srgbClr val="000000"/>
                </a:solidFill>
                <a:effectLst/>
                <a:uFillTx/>
                <a:latin typeface="Times New Roman"/>
              </a:defRPr>
            </a:lvl1pPr>
          </a:lstStyle>
          <a:p>
            <a:pPr indent="0" algn="l">
              <a:buNone/>
            </a:pPr>
            <a:r>
              <a:rPr lang="de-DE" sz="1400" b="0" u="none" strike="noStrike">
                <a:solidFill>
                  <a:srgbClr val="000000"/>
                </a:solidFill>
                <a:effectLst/>
                <a:uFillTx/>
                <a:latin typeface="Times New Roman"/>
              </a:rPr>
              <a:t> </a:t>
            </a:r>
          </a:p>
        </p:txBody>
      </p:sp>
      <p:sp>
        <p:nvSpPr>
          <p:cNvPr id="9"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de-DE" sz="1400" b="0" u="none" strike="noStrike">
                <a:solidFill>
                  <a:srgbClr val="000000"/>
                </a:solidFill>
                <a:effectLst/>
                <a:uFillTx/>
                <a:latin typeface="Times New Roman"/>
              </a:defRPr>
            </a:lvl1pPr>
          </a:lstStyle>
          <a:p>
            <a:pPr indent="0" algn="r">
              <a:buNone/>
            </a:pPr>
            <a:fld id="{C2DB4BE8-5F8B-40B8-9A55-8E2C4E193087}" type="slidenum">
              <a:rPr lang="de-DE" sz="1400" b="0" u="none" strike="noStrike">
                <a:solidFill>
                  <a:srgbClr val="000000"/>
                </a:solidFill>
                <a:effectLst/>
                <a:uFillTx/>
                <a:latin typeface="Times New Roman"/>
              </a:rPr>
              <a:t>‹Nr.›</a:t>
            </a:fld>
            <a:endParaRPr lang="de-DE"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3" name="PlaceHolder 1"/>
          <p:cNvSpPr>
            <a:spLocks noGrp="1" noRot="1" noChangeAspect="1"/>
          </p:cNvSpPr>
          <p:nvPr>
            <p:ph type="sldImg"/>
          </p:nvPr>
        </p:nvSpPr>
        <p:spPr>
          <a:xfrm>
            <a:off x="-228600" y="1523880"/>
            <a:ext cx="7314840" cy="4114440"/>
          </a:xfrm>
          <a:prstGeom prst="rect">
            <a:avLst/>
          </a:prstGeom>
          <a:ln w="0">
            <a:noFill/>
          </a:ln>
        </p:spPr>
      </p:sp>
      <p:sp>
        <p:nvSpPr>
          <p:cNvPr id="814" name="PlaceHolder 2"/>
          <p:cNvSpPr>
            <a:spLocks noGrp="1"/>
          </p:cNvSpPr>
          <p:nvPr>
            <p:ph type="body"/>
          </p:nvPr>
        </p:nvSpPr>
        <p:spPr>
          <a:xfrm>
            <a:off x="685800" y="5867280"/>
            <a:ext cx="5486040" cy="480024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Datenbankabschnitt: Kern ist der Wechsel von JSON/NoSQL zu relationaler Struktur.</a:t>
            </a:r>
            <a:endParaRPr lang="de-DE" sz="2000" b="0" u="none" strike="noStrike">
              <a:solidFill>
                <a:srgbClr val="000000"/>
              </a:solidFill>
              <a:effectLst/>
              <a:uFillTx/>
              <a:latin typeface="Arial"/>
            </a:endParaRPr>
          </a:p>
        </p:txBody>
      </p:sp>
      <p:sp>
        <p:nvSpPr>
          <p:cNvPr id="815" name="PlaceHolder 3"/>
          <p:cNvSpPr>
            <a:spLocks noGrp="1"/>
          </p:cNvSpPr>
          <p:nvPr>
            <p:ph type="sldNum" idx="20"/>
          </p:nvPr>
        </p:nvSpPr>
        <p:spPr>
          <a:xfrm>
            <a:off x="3884760" y="11580840"/>
            <a:ext cx="2971440" cy="61092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32AA6A2-DD8A-4143-A5E1-2D2AC6F419CB}" type="slidenum">
              <a:rPr lang="en-US" sz="1200" b="0" u="none" strike="noStrike">
                <a:solidFill>
                  <a:schemeClr val="dk1"/>
                </a:solidFill>
                <a:effectLst/>
                <a:uFillTx/>
                <a:latin typeface="+mn-lt"/>
                <a:ea typeface="+mn-ea"/>
              </a:rPr>
              <a:t>1</a:t>
            </a:fld>
            <a:endParaRPr lang="de-DE"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6" name="PlaceHolder 1"/>
          <p:cNvSpPr>
            <a:spLocks noGrp="1" noRot="1" noChangeAspect="1"/>
          </p:cNvSpPr>
          <p:nvPr>
            <p:ph type="sldImg"/>
          </p:nvPr>
        </p:nvSpPr>
        <p:spPr>
          <a:xfrm>
            <a:off x="-228600" y="1523880"/>
            <a:ext cx="7314840" cy="4114440"/>
          </a:xfrm>
          <a:prstGeom prst="rect">
            <a:avLst/>
          </a:prstGeom>
          <a:ln w="0">
            <a:noFill/>
          </a:ln>
        </p:spPr>
      </p:sp>
      <p:sp>
        <p:nvSpPr>
          <p:cNvPr id="817" name="PlaceHolder 2"/>
          <p:cNvSpPr>
            <a:spLocks noGrp="1"/>
          </p:cNvSpPr>
          <p:nvPr>
            <p:ph type="body"/>
          </p:nvPr>
        </p:nvSpPr>
        <p:spPr>
          <a:xfrm>
            <a:off x="685800" y="5867280"/>
            <a:ext cx="5486040" cy="480024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Kurz erklären: NoSQL war nicht falsch, aber für die benötigten relationalen Bearbeitungen weniger passend.</a:t>
            </a:r>
            <a:endParaRPr lang="de-DE" sz="2000" b="0" u="none" strike="noStrike">
              <a:solidFill>
                <a:srgbClr val="000000"/>
              </a:solidFill>
              <a:effectLst/>
              <a:uFillTx/>
              <a:latin typeface="Arial"/>
            </a:endParaRPr>
          </a:p>
        </p:txBody>
      </p:sp>
      <p:sp>
        <p:nvSpPr>
          <p:cNvPr id="818" name="PlaceHolder 3"/>
          <p:cNvSpPr>
            <a:spLocks noGrp="1"/>
          </p:cNvSpPr>
          <p:nvPr>
            <p:ph type="sldNum" idx="21"/>
          </p:nvPr>
        </p:nvSpPr>
        <p:spPr>
          <a:xfrm>
            <a:off x="3884760" y="11580840"/>
            <a:ext cx="2971440" cy="61092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367471A-2AF1-4DBA-9F26-DD22B037552F}" type="slidenum">
              <a:rPr lang="en-US" sz="1200" b="0" u="none" strike="noStrike">
                <a:solidFill>
                  <a:schemeClr val="dk1"/>
                </a:solidFill>
                <a:effectLst/>
                <a:uFillTx/>
                <a:latin typeface="+mn-lt"/>
                <a:ea typeface="+mn-ea"/>
              </a:rPr>
              <a:t>2</a:t>
            </a:fld>
            <a:endParaRPr lang="de-DE"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 name="PlaceHolder 1"/>
          <p:cNvSpPr>
            <a:spLocks noGrp="1" noRot="1" noChangeAspect="1"/>
          </p:cNvSpPr>
          <p:nvPr>
            <p:ph type="sldImg"/>
          </p:nvPr>
        </p:nvSpPr>
        <p:spPr>
          <a:xfrm>
            <a:off x="-228600" y="1523880"/>
            <a:ext cx="7314840" cy="4114440"/>
          </a:xfrm>
          <a:prstGeom prst="rect">
            <a:avLst/>
          </a:prstGeom>
          <a:ln w="0">
            <a:noFill/>
          </a:ln>
        </p:spPr>
      </p:sp>
      <p:sp>
        <p:nvSpPr>
          <p:cNvPr id="820" name="PlaceHolder 2"/>
          <p:cNvSpPr>
            <a:spLocks noGrp="1"/>
          </p:cNvSpPr>
          <p:nvPr>
            <p:ph type="body"/>
          </p:nvPr>
        </p:nvSpPr>
        <p:spPr>
          <a:xfrm>
            <a:off x="685800" y="5867280"/>
            <a:ext cx="5486040" cy="480024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Nicht in Details verlieren; zentrale Begründung ist gezielte Änderbarkeit und Konsistenz.</a:t>
            </a:r>
            <a:endParaRPr lang="de-DE" sz="2000" b="0" u="none" strike="noStrike">
              <a:solidFill>
                <a:srgbClr val="000000"/>
              </a:solidFill>
              <a:effectLst/>
              <a:uFillTx/>
              <a:latin typeface="Arial"/>
            </a:endParaRPr>
          </a:p>
        </p:txBody>
      </p:sp>
      <p:sp>
        <p:nvSpPr>
          <p:cNvPr id="821" name="PlaceHolder 3"/>
          <p:cNvSpPr>
            <a:spLocks noGrp="1"/>
          </p:cNvSpPr>
          <p:nvPr>
            <p:ph type="sldNum" idx="22"/>
          </p:nvPr>
        </p:nvSpPr>
        <p:spPr>
          <a:xfrm>
            <a:off x="3884760" y="11580840"/>
            <a:ext cx="2971440" cy="61092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B960999-4F4C-48B1-8545-41A1DF16F9B8}" type="slidenum">
              <a:rPr lang="en-US" sz="1200" b="0" u="none" strike="noStrike">
                <a:solidFill>
                  <a:schemeClr val="dk1"/>
                </a:solidFill>
                <a:effectLst/>
                <a:uFillTx/>
                <a:latin typeface="+mn-lt"/>
                <a:ea typeface="+mn-ea"/>
              </a:rPr>
              <a:t>4</a:t>
            </a:fld>
            <a:endParaRPr lang="de-DE"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PlaceHolder 1"/>
          <p:cNvSpPr>
            <a:spLocks noGrp="1" noRot="1" noChangeAspect="1"/>
          </p:cNvSpPr>
          <p:nvPr>
            <p:ph type="sldImg"/>
          </p:nvPr>
        </p:nvSpPr>
        <p:spPr>
          <a:xfrm>
            <a:off x="-228600" y="1524000"/>
            <a:ext cx="7315200" cy="4114800"/>
          </a:xfrm>
          <a:prstGeom prst="rect">
            <a:avLst/>
          </a:prstGeom>
          <a:ln w="0">
            <a:noFill/>
          </a:ln>
        </p:spPr>
      </p:sp>
      <p:sp>
        <p:nvSpPr>
          <p:cNvPr id="823" name="PlaceHolder 2"/>
          <p:cNvSpPr>
            <a:spLocks noGrp="1"/>
          </p:cNvSpPr>
          <p:nvPr>
            <p:ph type="body"/>
          </p:nvPr>
        </p:nvSpPr>
        <p:spPr>
          <a:xfrm>
            <a:off x="685800" y="5867280"/>
            <a:ext cx="5486040" cy="480024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Das ist einer der technisch stärksten Punkte der Doku: Änderungsdruck und Lösung erklären.</a:t>
            </a:r>
            <a:endParaRPr lang="de-DE" sz="2000" b="0" u="none" strike="noStrike">
              <a:solidFill>
                <a:srgbClr val="000000"/>
              </a:solidFill>
              <a:effectLst/>
              <a:uFillTx/>
              <a:latin typeface="Arial"/>
            </a:endParaRPr>
          </a:p>
        </p:txBody>
      </p:sp>
      <p:sp>
        <p:nvSpPr>
          <p:cNvPr id="824" name="PlaceHolder 3"/>
          <p:cNvSpPr>
            <a:spLocks noGrp="1"/>
          </p:cNvSpPr>
          <p:nvPr>
            <p:ph type="sldNum" idx="23"/>
          </p:nvPr>
        </p:nvSpPr>
        <p:spPr>
          <a:xfrm>
            <a:off x="3884760" y="11580840"/>
            <a:ext cx="2971440" cy="61092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A3494EA-099E-4AA0-B23C-D3C33F9BC26C}" type="slidenum">
              <a:rPr lang="en-US" sz="1200" b="0" u="none" strike="noStrike">
                <a:solidFill>
                  <a:schemeClr val="dk1"/>
                </a:solidFill>
                <a:effectLst/>
                <a:uFillTx/>
                <a:latin typeface="+mn-lt"/>
                <a:ea typeface="+mn-ea"/>
              </a:rPr>
              <a:t>5</a:t>
            </a:fld>
            <a:endParaRPr lang="de-DE"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5" name="PlaceHolder 1"/>
          <p:cNvSpPr>
            <a:spLocks noGrp="1" noRot="1" noChangeAspect="1"/>
          </p:cNvSpPr>
          <p:nvPr>
            <p:ph type="sldImg"/>
          </p:nvPr>
        </p:nvSpPr>
        <p:spPr>
          <a:xfrm>
            <a:off x="-228600" y="1523880"/>
            <a:ext cx="7314840" cy="4114440"/>
          </a:xfrm>
          <a:prstGeom prst="rect">
            <a:avLst/>
          </a:prstGeom>
          <a:ln w="0">
            <a:noFill/>
          </a:ln>
        </p:spPr>
      </p:sp>
      <p:sp>
        <p:nvSpPr>
          <p:cNvPr id="826" name="PlaceHolder 2"/>
          <p:cNvSpPr>
            <a:spLocks noGrp="1"/>
          </p:cNvSpPr>
          <p:nvPr>
            <p:ph type="body"/>
          </p:nvPr>
        </p:nvSpPr>
        <p:spPr>
          <a:xfrm>
            <a:off x="685800" y="5867280"/>
            <a:ext cx="5486040" cy="480024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Mit Frontend überleiten: Die Oberfläche profitiert, weil einzelne Ziele/Events gezielt darstellbar und bearbeitbar sind.</a:t>
            </a:r>
            <a:endParaRPr lang="de-DE" sz="2000" b="0" u="none" strike="noStrike">
              <a:solidFill>
                <a:srgbClr val="000000"/>
              </a:solidFill>
              <a:effectLst/>
              <a:uFillTx/>
              <a:latin typeface="Arial"/>
            </a:endParaRPr>
          </a:p>
        </p:txBody>
      </p:sp>
      <p:sp>
        <p:nvSpPr>
          <p:cNvPr id="827" name="PlaceHolder 3"/>
          <p:cNvSpPr>
            <a:spLocks noGrp="1"/>
          </p:cNvSpPr>
          <p:nvPr>
            <p:ph type="sldNum" idx="24"/>
          </p:nvPr>
        </p:nvSpPr>
        <p:spPr>
          <a:xfrm>
            <a:off x="3884760" y="11580840"/>
            <a:ext cx="2971440" cy="61092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60FFA63-3B4B-4AB7-B93C-8BC736D0ABF9}" type="slidenum">
              <a:rPr lang="en-US" sz="1200" b="0" u="none" strike="noStrike">
                <a:solidFill>
                  <a:schemeClr val="dk1"/>
                </a:solidFill>
                <a:effectLst/>
                <a:uFillTx/>
                <a:latin typeface="+mn-lt"/>
                <a:ea typeface="+mn-ea"/>
              </a:rPr>
              <a:t>6</a:t>
            </a:fld>
            <a:endParaRPr lang="de-DE"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de-DE" sz="1800" b="0" u="none" strike="noStrike">
                <a:solidFill>
                  <a:schemeClr val="dk1"/>
                </a:solidFill>
                <a:effectLst/>
                <a:uFillTx/>
                <a:latin typeface="Aptos"/>
              </a:defRPr>
            </a:lvl1pPr>
          </a:lstStyle>
          <a:p>
            <a:pPr indent="0" algn="l">
              <a:buNone/>
            </a:pPr>
            <a:r>
              <a:rPr lang="de-DE" sz="1800" b="0" u="none" strike="noStrike">
                <a:solidFill>
                  <a:schemeClr val="dk1"/>
                </a:solidFill>
                <a:effectLst/>
                <a:uFillTx/>
                <a:latin typeface="Aptos"/>
              </a:rPr>
              <a:t>Format des Titeltextes durch Klicken bearbeiten</a:t>
            </a: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de-DE" sz="3200" b="0" u="none" strike="noStrike">
                <a:solidFill>
                  <a:schemeClr val="dk1"/>
                </a:solidFill>
                <a:effectLst/>
                <a:uFillTx/>
                <a:latin typeface="Aptos"/>
              </a:defRPr>
            </a:lvl1pPr>
            <a:lvl2pPr lvl="1" algn="l">
              <a:spcBef>
                <a:spcPts val="1134"/>
              </a:spcBef>
              <a:buClr>
                <a:srgbClr val="000000"/>
              </a:buClr>
              <a:buSzPct val="75000"/>
              <a:buFont typeface="Symbol" charset="2"/>
              <a:buChar char=""/>
              <a:defRPr lang="de-DE" sz="2400" b="0" u="none" strike="noStrike">
                <a:solidFill>
                  <a:schemeClr val="dk1"/>
                </a:solidFill>
                <a:effectLst/>
                <a:uFillTx/>
                <a:latin typeface="Aptos"/>
              </a:defRPr>
            </a:lvl2pPr>
            <a:lvl3pPr lvl="2" algn="l">
              <a:spcBef>
                <a:spcPts val="850"/>
              </a:spcBef>
              <a:buClr>
                <a:srgbClr val="000000"/>
              </a:buClr>
              <a:buSzPct val="45000"/>
              <a:buFont typeface="Wingdings" charset="2"/>
              <a:buChar char=""/>
              <a:defRPr lang="de-DE" sz="2000" b="0" u="none" strike="noStrike">
                <a:solidFill>
                  <a:schemeClr val="dk1"/>
                </a:solidFill>
                <a:effectLst/>
                <a:uFillTx/>
                <a:latin typeface="Aptos"/>
              </a:defRPr>
            </a:lvl3pPr>
            <a:lvl4pPr lvl="3" algn="l">
              <a:spcBef>
                <a:spcPts val="567"/>
              </a:spcBef>
              <a:buClr>
                <a:srgbClr val="000000"/>
              </a:buClr>
              <a:buSzPct val="75000"/>
              <a:buFont typeface="Symbol" charset="2"/>
              <a:buChar char=""/>
              <a:defRPr lang="de-DE" sz="2000" b="0" u="none" strike="noStrike">
                <a:solidFill>
                  <a:schemeClr val="dk1"/>
                </a:solidFill>
                <a:effectLst/>
                <a:uFillTx/>
                <a:latin typeface="Aptos"/>
              </a:defRPr>
            </a:lvl4pPr>
            <a:lvl5pPr lvl="4" algn="l">
              <a:spcBef>
                <a:spcPts val="283"/>
              </a:spcBef>
              <a:buClr>
                <a:srgbClr val="000000"/>
              </a:buClr>
              <a:buSzPct val="45000"/>
              <a:buFont typeface="Wingdings" charset="2"/>
              <a:buChar char=""/>
              <a:defRPr lang="de-DE" sz="2000" b="0" u="none" strike="noStrike">
                <a:solidFill>
                  <a:schemeClr val="dk1"/>
                </a:solidFill>
                <a:effectLst/>
                <a:uFillTx/>
                <a:latin typeface="Aptos"/>
              </a:defRPr>
            </a:lvl5pPr>
            <a:lvl6pPr lvl="5" algn="l">
              <a:spcBef>
                <a:spcPts val="283"/>
              </a:spcBef>
              <a:buClr>
                <a:srgbClr val="000000"/>
              </a:buClr>
              <a:buSzPct val="45000"/>
              <a:buFont typeface="Wingdings" charset="2"/>
              <a:buChar char=""/>
              <a:defRPr lang="de-DE" sz="2000" b="0" u="none" strike="noStrike">
                <a:solidFill>
                  <a:schemeClr val="dk1"/>
                </a:solidFill>
                <a:effectLst/>
                <a:uFillTx/>
                <a:latin typeface="Aptos"/>
              </a:defRPr>
            </a:lvl6pPr>
            <a:lvl7pPr lvl="6" algn="l">
              <a:spcBef>
                <a:spcPts val="283"/>
              </a:spcBef>
              <a:buClr>
                <a:srgbClr val="000000"/>
              </a:buClr>
              <a:buSzPct val="45000"/>
              <a:buFont typeface="Wingdings" charset="2"/>
              <a:buChar char=""/>
              <a:defRPr lang="de-DE" sz="2000" b="0" u="none" strike="noStrike">
                <a:solidFill>
                  <a:schemeClr val="dk1"/>
                </a:solidFill>
                <a:effectLst/>
                <a:uFillTx/>
                <a:latin typeface="Aptos"/>
              </a:defRPr>
            </a:lvl7pPr>
          </a:lstStyle>
          <a:p>
            <a:pPr marL="432000" indent="-324000" algn="l">
              <a:spcBef>
                <a:spcPts val="1417"/>
              </a:spcBef>
              <a:buClr>
                <a:srgbClr val="000000"/>
              </a:buClr>
              <a:buSzPct val="45000"/>
              <a:buFont typeface="Wingdings" charset="2"/>
              <a:buChar char=""/>
            </a:pPr>
            <a:r>
              <a:rPr lang="de-DE" sz="3200" b="0" u="none" strike="noStrike">
                <a:solidFill>
                  <a:schemeClr val="dk1"/>
                </a:solidFill>
                <a:effectLst/>
                <a:uFillTx/>
                <a:latin typeface="Aptos"/>
              </a:rPr>
              <a:t>Format des Gliederungstextes durch Klicken bearbeiten</a:t>
            </a:r>
          </a:p>
          <a:p>
            <a:pPr marL="864000" lvl="1" indent="-324000" algn="l">
              <a:spcBef>
                <a:spcPts val="1134"/>
              </a:spcBef>
              <a:buClr>
                <a:srgbClr val="000000"/>
              </a:buClr>
              <a:buSzPct val="75000"/>
              <a:buFont typeface="Symbol" charset="2"/>
              <a:buChar char=""/>
            </a:pPr>
            <a:r>
              <a:rPr lang="de-DE" sz="2400" b="0" u="none" strike="noStrike">
                <a:solidFill>
                  <a:schemeClr val="dk1"/>
                </a:solidFill>
                <a:effectLst/>
                <a:uFillTx/>
                <a:latin typeface="Aptos"/>
              </a:rPr>
              <a:t>Zweite Gliederungsebene</a:t>
            </a:r>
          </a:p>
          <a:p>
            <a:pPr marL="1296000" lvl="2" indent="-288000" algn="l">
              <a:spcBef>
                <a:spcPts val="850"/>
              </a:spcBef>
              <a:buClr>
                <a:srgbClr val="000000"/>
              </a:buClr>
              <a:buSzPct val="45000"/>
              <a:buFont typeface="Wingdings" charset="2"/>
              <a:buChar char=""/>
            </a:pPr>
            <a:r>
              <a:rPr lang="de-DE" sz="2000" b="0" u="none" strike="noStrike">
                <a:solidFill>
                  <a:schemeClr val="dk1"/>
                </a:solidFill>
                <a:effectLst/>
                <a:uFillTx/>
                <a:latin typeface="Aptos"/>
              </a:rPr>
              <a:t>Dritte Gliederungsebene</a:t>
            </a:r>
          </a:p>
          <a:p>
            <a:pPr marL="1728000" lvl="3" indent="-216000" algn="l">
              <a:spcBef>
                <a:spcPts val="567"/>
              </a:spcBef>
              <a:buClr>
                <a:srgbClr val="000000"/>
              </a:buClr>
              <a:buSzPct val="75000"/>
              <a:buFont typeface="Symbol" charset="2"/>
              <a:buChar char=""/>
            </a:pPr>
            <a:r>
              <a:rPr lang="de-DE" sz="2000" b="0" u="none" strike="noStrike">
                <a:solidFill>
                  <a:schemeClr val="dk1"/>
                </a:solidFill>
                <a:effectLst/>
                <a:uFillTx/>
                <a:latin typeface="Aptos"/>
              </a:rPr>
              <a:t>Vierte Gliederungsebene</a:t>
            </a:r>
          </a:p>
          <a:p>
            <a:pPr marL="2160000" lvl="4" indent="-216000" algn="l">
              <a:spcBef>
                <a:spcPts val="283"/>
              </a:spcBef>
              <a:buClr>
                <a:srgbClr val="000000"/>
              </a:buClr>
              <a:buSzPct val="45000"/>
              <a:buFont typeface="Wingdings" charset="2"/>
              <a:buChar char=""/>
            </a:pPr>
            <a:r>
              <a:rPr lang="de-DE" sz="2000" b="0" u="none" strike="noStrike">
                <a:solidFill>
                  <a:schemeClr val="dk1"/>
                </a:solidFill>
                <a:effectLst/>
                <a:uFillTx/>
                <a:latin typeface="Aptos"/>
              </a:rPr>
              <a:t>Fünfte Gliederungsebene</a:t>
            </a:r>
          </a:p>
          <a:p>
            <a:pPr marL="2592000" lvl="5" indent="-216000" algn="l">
              <a:spcBef>
                <a:spcPts val="283"/>
              </a:spcBef>
              <a:buClr>
                <a:srgbClr val="000000"/>
              </a:buClr>
              <a:buSzPct val="45000"/>
              <a:buFont typeface="Wingdings" charset="2"/>
              <a:buChar char=""/>
            </a:pPr>
            <a:r>
              <a:rPr lang="de-DE" sz="2000" b="0" u="none" strike="noStrike">
                <a:solidFill>
                  <a:schemeClr val="dk1"/>
                </a:solidFill>
                <a:effectLst/>
                <a:uFillTx/>
                <a:latin typeface="Aptos"/>
              </a:rPr>
              <a:t>Sechste Gliederungsebene</a:t>
            </a:r>
          </a:p>
          <a:p>
            <a:pPr marL="3024000" lvl="6" indent="-216000" algn="l">
              <a:spcBef>
                <a:spcPts val="283"/>
              </a:spcBef>
              <a:buClr>
                <a:srgbClr val="000000"/>
              </a:buClr>
              <a:buSzPct val="45000"/>
              <a:buFont typeface="Wingdings" charset="2"/>
              <a:buChar char=""/>
            </a:pPr>
            <a:r>
              <a:rPr lang="de-DE" sz="2000" b="0" u="none" strike="noStrike">
                <a:solidFill>
                  <a:schemeClr val="dk1"/>
                </a:solidFill>
                <a:effectLst/>
                <a:uFillTx/>
                <a:latin typeface="Aptos"/>
              </a:rPr>
              <a:t>Siebte Gliederungsebene</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339" name="Shape 0"/>
          <p:cNvSpPr/>
          <p:nvPr/>
        </p:nvSpPr>
        <p:spPr>
          <a:xfrm>
            <a:off x="0" y="0"/>
            <a:ext cx="12191400" cy="6857640"/>
          </a:xfrm>
          <a:prstGeom prst="rect">
            <a:avLst/>
          </a:prstGeom>
          <a:solidFill>
            <a:srgbClr val="0F172A"/>
          </a:solidFill>
          <a:ln w="12700">
            <a:solidFill>
              <a:srgbClr val="0F172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FFFFFF"/>
              </a:solidFill>
              <a:effectLst/>
              <a:uFillTx/>
              <a:latin typeface="Arial"/>
            </a:endParaRPr>
          </a:p>
        </p:txBody>
      </p:sp>
      <p:sp>
        <p:nvSpPr>
          <p:cNvPr id="340" name="Shape 1"/>
          <p:cNvSpPr/>
          <p:nvPr/>
        </p:nvSpPr>
        <p:spPr>
          <a:xfrm>
            <a:off x="0" y="0"/>
            <a:ext cx="12191400" cy="200880"/>
          </a:xfrm>
          <a:prstGeom prst="rect">
            <a:avLst/>
          </a:prstGeom>
          <a:solidFill>
            <a:srgbClr val="F59E0B"/>
          </a:solidFill>
          <a:ln w="1270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341" name="Text 2"/>
          <p:cNvSpPr/>
          <p:nvPr/>
        </p:nvSpPr>
        <p:spPr>
          <a:xfrm>
            <a:off x="685800" y="914400"/>
            <a:ext cx="123408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F59E0B"/>
                </a:solidFill>
                <a:effectLst/>
                <a:uFillTx/>
                <a:latin typeface="Aptos"/>
              </a:rPr>
              <a:t>Teil 3</a:t>
            </a:r>
            <a:endParaRPr lang="de-DE" sz="1300" b="0" u="none" strike="noStrike">
              <a:solidFill>
                <a:srgbClr val="FFFFFF"/>
              </a:solidFill>
              <a:effectLst/>
              <a:uFillTx/>
              <a:latin typeface="Arial"/>
            </a:endParaRPr>
          </a:p>
        </p:txBody>
      </p:sp>
      <p:sp>
        <p:nvSpPr>
          <p:cNvPr id="342" name="Text 3"/>
          <p:cNvSpPr/>
          <p:nvPr/>
        </p:nvSpPr>
        <p:spPr>
          <a:xfrm>
            <a:off x="685800" y="1325880"/>
            <a:ext cx="804636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3400" b="1" u="none" strike="noStrike">
                <a:solidFill>
                  <a:srgbClr val="FFFFFF"/>
                </a:solidFill>
                <a:effectLst/>
                <a:uFillTx/>
                <a:latin typeface="Aptos"/>
              </a:rPr>
              <a:t>Datenbank &amp; Migration</a:t>
            </a:r>
            <a:endParaRPr lang="de-DE" sz="3400" b="0" u="none" strike="noStrike">
              <a:solidFill>
                <a:srgbClr val="FFFFFF"/>
              </a:solidFill>
              <a:effectLst/>
              <a:uFillTx/>
              <a:latin typeface="Arial"/>
            </a:endParaRPr>
          </a:p>
        </p:txBody>
      </p:sp>
      <p:sp>
        <p:nvSpPr>
          <p:cNvPr id="343" name="Text 4"/>
          <p:cNvSpPr/>
          <p:nvPr/>
        </p:nvSpPr>
        <p:spPr>
          <a:xfrm>
            <a:off x="713160" y="2176200"/>
            <a:ext cx="502884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u="none" strike="noStrike">
                <a:solidFill>
                  <a:srgbClr val="CBD5E1"/>
                </a:solidFill>
                <a:effectLst/>
                <a:uFillTx/>
                <a:latin typeface="Aptos"/>
              </a:rPr>
              <a:t>Grit Unzner</a:t>
            </a:r>
            <a:endParaRPr lang="de-DE" sz="1300" b="0" u="none" strike="noStrike">
              <a:solidFill>
                <a:srgbClr val="FFFFFF"/>
              </a:solidFill>
              <a:effectLst/>
              <a:uFillTx/>
              <a:latin typeface="Arial"/>
            </a:endParaRPr>
          </a:p>
        </p:txBody>
      </p:sp>
      <p:sp>
        <p:nvSpPr>
          <p:cNvPr id="344" name="Text 5"/>
          <p:cNvSpPr/>
          <p:nvPr/>
        </p:nvSpPr>
        <p:spPr>
          <a:xfrm>
            <a:off x="9235440" y="1188720"/>
            <a:ext cx="1462680" cy="1279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5800" b="0" u="none" strike="noStrike">
                <a:solidFill>
                  <a:srgbClr val="F59E0B"/>
                </a:solidFill>
                <a:effectLst/>
                <a:uFillTx/>
                <a:latin typeface="Aptos"/>
              </a:rPr>
              <a:t>🗄</a:t>
            </a:r>
            <a:endParaRPr lang="de-DE" sz="5800" b="0" u="none" strike="noStrike">
              <a:solidFill>
                <a:srgbClr val="FFFFFF"/>
              </a:solidFill>
              <a:effectLst/>
              <a:uFillTx/>
              <a:latin typeface="Arial"/>
            </a:endParaRPr>
          </a:p>
        </p:txBody>
      </p:sp>
      <p:sp>
        <p:nvSpPr>
          <p:cNvPr id="345" name="Shape 6"/>
          <p:cNvSpPr/>
          <p:nvPr/>
        </p:nvSpPr>
        <p:spPr>
          <a:xfrm>
            <a:off x="713160" y="2816280"/>
            <a:ext cx="10607040" cy="360"/>
          </a:xfrm>
          <a:prstGeom prst="line">
            <a:avLst/>
          </a:prstGeom>
          <a:ln w="12700">
            <a:solidFill>
              <a:srgbClr val="334155"/>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de-DE" sz="1800" b="0" u="none" strike="noStrike">
              <a:solidFill>
                <a:srgbClr val="FFFFFF"/>
              </a:solidFill>
              <a:effectLst/>
              <a:uFillTx/>
              <a:latin typeface="Arial"/>
            </a:endParaRPr>
          </a:p>
        </p:txBody>
      </p:sp>
      <p:sp>
        <p:nvSpPr>
          <p:cNvPr id="346" name="Text 7"/>
          <p:cNvSpPr/>
          <p:nvPr/>
        </p:nvSpPr>
        <p:spPr>
          <a:xfrm>
            <a:off x="749880" y="3127320"/>
            <a:ext cx="20113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FFFFFF"/>
                </a:solidFill>
                <a:effectLst/>
                <a:uFillTx/>
                <a:latin typeface="Aptos"/>
              </a:rPr>
              <a:t>Ziel dieses Abschnitts</a:t>
            </a:r>
            <a:endParaRPr lang="de-DE" sz="1200" b="0" u="none" strike="noStrike">
              <a:solidFill>
                <a:srgbClr val="FFFFFF"/>
              </a:solidFill>
              <a:effectLst/>
              <a:uFillTx/>
              <a:latin typeface="Arial"/>
            </a:endParaRPr>
          </a:p>
        </p:txBody>
      </p:sp>
      <p:sp>
        <p:nvSpPr>
          <p:cNvPr id="347" name="Text 8"/>
          <p:cNvSpPr/>
          <p:nvPr/>
        </p:nvSpPr>
        <p:spPr>
          <a:xfrm>
            <a:off x="749880" y="3474720"/>
            <a:ext cx="7497720" cy="5940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600" b="0" u="none" strike="noStrike">
                <a:solidFill>
                  <a:srgbClr val="E2E8F0"/>
                </a:solidFill>
                <a:effectLst/>
                <a:uFillTx/>
                <a:latin typeface="Aptos"/>
              </a:rPr>
              <a:t>Warum wurde das Datenmodell umgestellt und wie wurden JSON-Strukturen relational abgebildet?</a:t>
            </a:r>
            <a:endParaRPr lang="de-DE" sz="1600" b="0" u="none" strike="noStrike">
              <a:solidFill>
                <a:srgbClr val="FFFFFF"/>
              </a:solidFill>
              <a:effectLst/>
              <a:uFillTx/>
              <a:latin typeface="Arial"/>
            </a:endParaRPr>
          </a:p>
        </p:txBody>
      </p:sp>
      <p:sp>
        <p:nvSpPr>
          <p:cNvPr id="348" name="Text 9"/>
          <p:cNvSpPr/>
          <p:nvPr/>
        </p:nvSpPr>
        <p:spPr>
          <a:xfrm>
            <a:off x="11174040" y="6473880"/>
            <a:ext cx="45684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94A3B8"/>
                </a:solidFill>
                <a:effectLst/>
                <a:uFillTx/>
                <a:latin typeface="Aptos"/>
              </a:rPr>
              <a:t>17</a:t>
            </a:r>
            <a:endParaRPr lang="de-DE" sz="75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49" name="Shape 0"/>
          <p:cNvSpPr/>
          <p:nvPr/>
        </p:nvSpPr>
        <p:spPr>
          <a:xfrm>
            <a:off x="6480000" y="4500000"/>
            <a:ext cx="4140000" cy="1080000"/>
          </a:xfrm>
          <a:prstGeom prst="rect">
            <a:avLst/>
          </a:prstGeom>
          <a:solidFill>
            <a:srgbClr val="F8FAFC"/>
          </a:solidFill>
          <a:ln w="12700">
            <a:solidFill>
              <a:srgbClr val="F8FAFC">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marL="216000" indent="-216000" defTabSz="914400">
              <a:lnSpc>
                <a:spcPct val="100000"/>
              </a:lnSpc>
              <a:buClr>
                <a:srgbClr val="000000"/>
              </a:buClr>
              <a:buSzPct val="45000"/>
              <a:buFont typeface="Wingdings" charset="2"/>
              <a:buChar char=""/>
            </a:pPr>
            <a:r>
              <a:rPr lang="en-US" sz="1400" b="0" u="none" strike="noStrike">
                <a:solidFill>
                  <a:srgbClr val="334155"/>
                </a:solidFill>
                <a:effectLst/>
                <a:uFillTx/>
                <a:latin typeface="Aptos"/>
              </a:rPr>
              <a:t>Supabase mit PostgreSQL</a:t>
            </a:r>
            <a:endParaRPr lang="de-DE" sz="1400" b="0" u="none" strike="noStrike">
              <a:solidFill>
                <a:srgbClr val="000000"/>
              </a:solidFill>
              <a:effectLst/>
              <a:uFillTx/>
              <a:latin typeface="Arial"/>
            </a:endParaRPr>
          </a:p>
          <a:p>
            <a:pPr marL="216000" indent="-216000" defTabSz="914400">
              <a:lnSpc>
                <a:spcPct val="100000"/>
              </a:lnSpc>
              <a:buClr>
                <a:srgbClr val="000000"/>
              </a:buClr>
              <a:buSzPct val="45000"/>
              <a:buFont typeface="Wingdings" charset="2"/>
              <a:buChar char=""/>
            </a:pPr>
            <a:r>
              <a:rPr lang="en-US" sz="1400" b="0" u="none" strike="noStrike">
                <a:solidFill>
                  <a:srgbClr val="334155"/>
                </a:solidFill>
                <a:effectLst/>
                <a:uFillTx/>
                <a:latin typeface="Aptos"/>
              </a:rPr>
              <a:t>Relationale Tabellen und Beziehungen</a:t>
            </a:r>
            <a:endParaRPr lang="de-DE" sz="1400" b="0" u="none" strike="noStrike">
              <a:solidFill>
                <a:srgbClr val="000000"/>
              </a:solidFill>
              <a:effectLst/>
              <a:uFillTx/>
              <a:latin typeface="Arial"/>
            </a:endParaRPr>
          </a:p>
          <a:p>
            <a:pPr marL="216000" indent="-216000" defTabSz="914400">
              <a:lnSpc>
                <a:spcPct val="100000"/>
              </a:lnSpc>
              <a:buClr>
                <a:srgbClr val="000000"/>
              </a:buClr>
              <a:buSzPct val="45000"/>
              <a:buFont typeface="Wingdings" charset="2"/>
              <a:buChar char=""/>
            </a:pPr>
            <a:r>
              <a:rPr lang="en-US" sz="1400" b="0" u="none" strike="noStrike">
                <a:solidFill>
                  <a:srgbClr val="334155"/>
                </a:solidFill>
                <a:effectLst/>
                <a:uFillTx/>
                <a:latin typeface="Aptos"/>
              </a:rPr>
              <a:t>Gezielte CRUD-Operationen</a:t>
            </a:r>
            <a:endParaRPr lang="de-DE" sz="1400" b="0" u="none" strike="noStrike">
              <a:solidFill>
                <a:srgbClr val="000000"/>
              </a:solidFill>
              <a:effectLst/>
              <a:uFillTx/>
              <a:latin typeface="Arial"/>
            </a:endParaRPr>
          </a:p>
          <a:p>
            <a:pPr marL="216000" indent="-216000" defTabSz="914400">
              <a:lnSpc>
                <a:spcPct val="100000"/>
              </a:lnSpc>
              <a:buClr>
                <a:srgbClr val="000000"/>
              </a:buClr>
              <a:buSzPct val="45000"/>
              <a:buFont typeface="Wingdings" charset="2"/>
              <a:buChar char=""/>
            </a:pPr>
            <a:r>
              <a:rPr lang="en-US" sz="1400" b="0" u="none" strike="noStrike">
                <a:solidFill>
                  <a:srgbClr val="334155"/>
                </a:solidFill>
                <a:effectLst/>
                <a:uFillTx/>
                <a:latin typeface="Aptos"/>
              </a:rPr>
              <a:t>Bessere Konsistenz und Abfragen</a:t>
            </a:r>
            <a:endParaRPr lang="de-DE" sz="1400" b="0" u="none" strike="noStrike">
              <a:solidFill>
                <a:srgbClr val="000000"/>
              </a:solidFill>
              <a:effectLst/>
              <a:uFillTx/>
              <a:latin typeface="Arial"/>
            </a:endParaRPr>
          </a:p>
        </p:txBody>
      </p:sp>
      <p:sp>
        <p:nvSpPr>
          <p:cNvPr id="350" name="Shape 1"/>
          <p:cNvSpPr/>
          <p:nvPr/>
        </p:nvSpPr>
        <p:spPr>
          <a:xfrm>
            <a:off x="0" y="0"/>
            <a:ext cx="109440" cy="6857640"/>
          </a:xfrm>
          <a:prstGeom prst="rect">
            <a:avLst/>
          </a:prstGeom>
          <a:solidFill>
            <a:srgbClr val="10B981"/>
          </a:solidFill>
          <a:ln w="12700">
            <a:solidFill>
              <a:srgbClr val="10B98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351" name="Text 2"/>
          <p:cNvSpPr/>
          <p:nvPr/>
        </p:nvSpPr>
        <p:spPr>
          <a:xfrm>
            <a:off x="594360" y="384120"/>
            <a:ext cx="905220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400" b="1" u="none" strike="noStrike">
                <a:solidFill>
                  <a:srgbClr val="0F172A"/>
                </a:solidFill>
                <a:effectLst/>
                <a:uFillTx/>
                <a:latin typeface="Aptos Display"/>
                <a:ea typeface="Aptos Display"/>
              </a:rPr>
              <a:t>Ausgangslage der Datenhaltung</a:t>
            </a:r>
            <a:endParaRPr lang="de-DE" sz="2400" b="0" u="none" strike="noStrike">
              <a:solidFill>
                <a:srgbClr val="000000"/>
              </a:solidFill>
              <a:effectLst/>
              <a:uFillTx/>
              <a:latin typeface="Arial"/>
            </a:endParaRPr>
          </a:p>
        </p:txBody>
      </p:sp>
      <p:sp>
        <p:nvSpPr>
          <p:cNvPr id="352" name="Text 3"/>
          <p:cNvSpPr/>
          <p:nvPr/>
        </p:nvSpPr>
        <p:spPr>
          <a:xfrm>
            <a:off x="612720" y="850320"/>
            <a:ext cx="960084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64748B"/>
                </a:solidFill>
                <a:effectLst/>
                <a:uFillTx/>
                <a:latin typeface="Aptos"/>
              </a:rPr>
              <a:t>Von Azure Cosmos DB / JSON zur relationalen Datenbank</a:t>
            </a:r>
            <a:endParaRPr lang="de-DE" sz="1200" b="0" u="none" strike="noStrike">
              <a:solidFill>
                <a:srgbClr val="000000"/>
              </a:solidFill>
              <a:effectLst/>
              <a:uFillTx/>
              <a:latin typeface="Arial"/>
            </a:endParaRPr>
          </a:p>
        </p:txBody>
      </p:sp>
      <p:sp>
        <p:nvSpPr>
          <p:cNvPr id="353" name="Shape 4"/>
          <p:cNvSpPr/>
          <p:nvPr/>
        </p:nvSpPr>
        <p:spPr>
          <a:xfrm>
            <a:off x="502920" y="6473880"/>
            <a:ext cx="11201400" cy="360"/>
          </a:xfrm>
          <a:prstGeom prst="line">
            <a:avLst/>
          </a:prstGeom>
          <a:ln w="7620">
            <a:solidFill>
              <a:srgbClr val="CBD5E1">
                <a:alpha val="70000"/>
              </a:srgbClr>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de-DE" sz="1800" b="0" u="none" strike="noStrike">
              <a:solidFill>
                <a:srgbClr val="000000"/>
              </a:solidFill>
              <a:effectLst/>
              <a:uFillTx/>
              <a:latin typeface="Arial"/>
            </a:endParaRPr>
          </a:p>
        </p:txBody>
      </p:sp>
      <p:sp>
        <p:nvSpPr>
          <p:cNvPr id="354" name="Text 5"/>
          <p:cNvSpPr/>
          <p:nvPr/>
        </p:nvSpPr>
        <p:spPr>
          <a:xfrm>
            <a:off x="567000" y="6519600"/>
            <a:ext cx="53031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750" b="0" u="none" strike="noStrike">
                <a:solidFill>
                  <a:srgbClr val="64748B"/>
                </a:solidFill>
                <a:effectLst/>
                <a:uFillTx/>
                <a:latin typeface="Aptos"/>
                <a:ea typeface="Aptos"/>
              </a:rPr>
              <a:t>Teil 3 · Datenbank &amp; Migration</a:t>
            </a:r>
            <a:endParaRPr lang="de-DE" sz="750" b="0" u="none" strike="noStrike">
              <a:solidFill>
                <a:srgbClr val="000000"/>
              </a:solidFill>
              <a:effectLst/>
              <a:uFillTx/>
              <a:latin typeface="Arial"/>
            </a:endParaRPr>
          </a:p>
        </p:txBody>
      </p:sp>
      <p:sp>
        <p:nvSpPr>
          <p:cNvPr id="355" name="Text 6"/>
          <p:cNvSpPr/>
          <p:nvPr/>
        </p:nvSpPr>
        <p:spPr>
          <a:xfrm>
            <a:off x="11201400" y="6519600"/>
            <a:ext cx="45684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64748B"/>
                </a:solidFill>
                <a:effectLst/>
                <a:uFillTx/>
                <a:latin typeface="Aptos"/>
                <a:ea typeface="Aptos"/>
              </a:rPr>
              <a:t>18</a:t>
            </a:r>
            <a:endParaRPr lang="de-DE" sz="750" b="0" u="none" strike="noStrike">
              <a:solidFill>
                <a:srgbClr val="000000"/>
              </a:solidFill>
              <a:effectLst/>
              <a:uFillTx/>
              <a:latin typeface="Arial"/>
            </a:endParaRPr>
          </a:p>
        </p:txBody>
      </p:sp>
      <p:sp>
        <p:nvSpPr>
          <p:cNvPr id="356" name="Text 8"/>
          <p:cNvSpPr/>
          <p:nvPr/>
        </p:nvSpPr>
        <p:spPr>
          <a:xfrm>
            <a:off x="932760" y="1554480"/>
            <a:ext cx="473616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1" u="none" strike="noStrike">
                <a:solidFill>
                  <a:srgbClr val="0F172A"/>
                </a:solidFill>
                <a:effectLst/>
                <a:uFillTx/>
                <a:latin typeface="Aptos"/>
              </a:rPr>
              <a:t>Ursprünglicher Ansatz</a:t>
            </a:r>
            <a:endParaRPr lang="de-DE" sz="1350" b="0" u="none" strike="noStrike">
              <a:solidFill>
                <a:srgbClr val="000000"/>
              </a:solidFill>
              <a:effectLst/>
              <a:uFillTx/>
              <a:latin typeface="Arial"/>
            </a:endParaRPr>
          </a:p>
        </p:txBody>
      </p:sp>
      <p:sp>
        <p:nvSpPr>
          <p:cNvPr id="357" name="Text 9"/>
          <p:cNvSpPr/>
          <p:nvPr/>
        </p:nvSpPr>
        <p:spPr>
          <a:xfrm>
            <a:off x="987480" y="1993320"/>
            <a:ext cx="4617360" cy="34286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pPr>
            <a:endParaRPr lang="de-DE" sz="1800" b="0" u="none" strike="noStrike">
              <a:solidFill>
                <a:srgbClr val="000000"/>
              </a:solidFill>
              <a:effectLst/>
              <a:uFillTx/>
              <a:latin typeface="Arial"/>
            </a:endParaRPr>
          </a:p>
        </p:txBody>
      </p:sp>
      <p:sp>
        <p:nvSpPr>
          <p:cNvPr id="358" name="Text 11"/>
          <p:cNvSpPr/>
          <p:nvPr/>
        </p:nvSpPr>
        <p:spPr>
          <a:xfrm>
            <a:off x="6510600" y="1554480"/>
            <a:ext cx="473616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1" u="none" strike="noStrike">
                <a:solidFill>
                  <a:srgbClr val="0F172A"/>
                </a:solidFill>
                <a:effectLst/>
                <a:uFillTx/>
                <a:latin typeface="Aptos"/>
              </a:rPr>
              <a:t>Neuer Ansatz</a:t>
            </a:r>
            <a:endParaRPr lang="de-DE" sz="1350" b="0" u="none" strike="noStrike">
              <a:solidFill>
                <a:srgbClr val="000000"/>
              </a:solidFill>
              <a:effectLst/>
              <a:uFillTx/>
              <a:latin typeface="Arial"/>
            </a:endParaRPr>
          </a:p>
        </p:txBody>
      </p:sp>
      <p:sp>
        <p:nvSpPr>
          <p:cNvPr id="359" name="Text 12"/>
          <p:cNvSpPr/>
          <p:nvPr/>
        </p:nvSpPr>
        <p:spPr>
          <a:xfrm>
            <a:off x="6565320" y="1993320"/>
            <a:ext cx="4617360" cy="34286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pPr>
            <a:endParaRPr lang="de-DE" sz="1800" b="0" u="none" strike="noStrike">
              <a:solidFill>
                <a:srgbClr val="000000"/>
              </a:solidFill>
              <a:effectLst/>
              <a:uFillTx/>
              <a:latin typeface="Arial"/>
            </a:endParaRPr>
          </a:p>
        </p:txBody>
      </p:sp>
      <p:pic>
        <p:nvPicPr>
          <p:cNvPr id="360" name="Grafik 359"/>
          <p:cNvPicPr/>
          <p:nvPr/>
        </p:nvPicPr>
        <p:blipFill>
          <a:blip r:embed="rId3"/>
          <a:stretch/>
        </p:blipFill>
        <p:spPr>
          <a:xfrm>
            <a:off x="900000" y="2340000"/>
            <a:ext cx="1826640" cy="1826640"/>
          </a:xfrm>
          <a:prstGeom prst="rect">
            <a:avLst/>
          </a:prstGeom>
          <a:noFill/>
          <a:ln w="0">
            <a:noFill/>
          </a:ln>
        </p:spPr>
      </p:pic>
      <p:sp>
        <p:nvSpPr>
          <p:cNvPr id="361" name="Textfeld 360"/>
          <p:cNvSpPr txBox="1"/>
          <p:nvPr/>
        </p:nvSpPr>
        <p:spPr>
          <a:xfrm>
            <a:off x="765000" y="4415400"/>
            <a:ext cx="4455000" cy="983160"/>
          </a:xfrm>
          <a:prstGeom prst="rect">
            <a:avLst/>
          </a:prstGeom>
          <a:noFill/>
          <a:ln w="0">
            <a:noFill/>
          </a:ln>
        </p:spPr>
        <p:txBody>
          <a:bodyPr lIns="90000" tIns="45000" rIns="90000" bIns="45000" anchor="t">
            <a:spAutoFit/>
          </a:bodyPr>
          <a:lstStyle/>
          <a:p>
            <a:pPr marL="216000" indent="-216000" defTabSz="914400">
              <a:lnSpc>
                <a:spcPct val="100000"/>
              </a:lnSpc>
              <a:buClr>
                <a:srgbClr val="000000"/>
              </a:buClr>
              <a:buSzPct val="45000"/>
              <a:buFont typeface="Wingdings" charset="2"/>
              <a:buChar char=""/>
            </a:pPr>
            <a:r>
              <a:rPr lang="en-US" sz="1400" b="0" u="none" strike="noStrike">
                <a:solidFill>
                  <a:srgbClr val="334155"/>
                </a:solidFill>
                <a:effectLst/>
                <a:uFillTx/>
                <a:latin typeface="Aptos"/>
              </a:rPr>
              <a:t>Dokumentenorientierte Speicherung</a:t>
            </a:r>
            <a:endParaRPr lang="de-DE" sz="1400" b="0" u="none" strike="noStrike">
              <a:solidFill>
                <a:srgbClr val="000000"/>
              </a:solidFill>
              <a:effectLst/>
              <a:uFillTx/>
              <a:latin typeface="Arial"/>
            </a:endParaRPr>
          </a:p>
          <a:p>
            <a:pPr marL="216000" indent="-216000" defTabSz="914400">
              <a:lnSpc>
                <a:spcPct val="100000"/>
              </a:lnSpc>
              <a:buClr>
                <a:srgbClr val="000000"/>
              </a:buClr>
              <a:buSzPct val="45000"/>
              <a:buFont typeface="Wingdings" charset="2"/>
              <a:buChar char=""/>
            </a:pPr>
            <a:r>
              <a:rPr lang="en-US" sz="1400" b="0" u="none" strike="noStrike">
                <a:solidFill>
                  <a:srgbClr val="334155"/>
                </a:solidFill>
                <a:effectLst/>
                <a:uFillTx/>
                <a:latin typeface="Aptos"/>
              </a:rPr>
              <a:t>Finanzprofil als größeres JSON-Objekt</a:t>
            </a:r>
            <a:endParaRPr lang="de-DE" sz="1400" b="0" u="none" strike="noStrike">
              <a:solidFill>
                <a:srgbClr val="000000"/>
              </a:solidFill>
              <a:effectLst/>
              <a:uFillTx/>
              <a:latin typeface="Arial"/>
            </a:endParaRPr>
          </a:p>
          <a:p>
            <a:pPr marL="216000" indent="-216000" defTabSz="914400">
              <a:lnSpc>
                <a:spcPct val="100000"/>
              </a:lnSpc>
              <a:buClr>
                <a:srgbClr val="000000"/>
              </a:buClr>
              <a:buSzPct val="45000"/>
              <a:buFont typeface="Wingdings" charset="2"/>
              <a:buChar char=""/>
            </a:pPr>
            <a:r>
              <a:rPr lang="en-US" sz="1400" b="0" u="none" strike="noStrike">
                <a:solidFill>
                  <a:srgbClr val="334155"/>
                </a:solidFill>
                <a:effectLst/>
                <a:uFillTx/>
                <a:latin typeface="Aptos"/>
              </a:rPr>
              <a:t>Ziele und Szenarien als eingebettete Arrays</a:t>
            </a:r>
            <a:endParaRPr lang="de-DE" sz="1400" b="0" u="none" strike="noStrike">
              <a:solidFill>
                <a:srgbClr val="000000"/>
              </a:solidFill>
              <a:effectLst/>
              <a:uFillTx/>
              <a:latin typeface="Arial"/>
            </a:endParaRPr>
          </a:p>
          <a:p>
            <a:pPr marL="216000" indent="-216000" defTabSz="914400">
              <a:lnSpc>
                <a:spcPct val="100000"/>
              </a:lnSpc>
              <a:buClr>
                <a:srgbClr val="000000"/>
              </a:buClr>
              <a:buSzPct val="45000"/>
              <a:buFont typeface="Wingdings" charset="2"/>
              <a:buChar char=""/>
            </a:pPr>
            <a:r>
              <a:rPr lang="en-US" sz="1400" b="0" u="none" strike="noStrike">
                <a:solidFill>
                  <a:srgbClr val="334155"/>
                </a:solidFill>
                <a:effectLst/>
                <a:uFillTx/>
                <a:latin typeface="Aptos"/>
              </a:rPr>
              <a:t>Flexibel, aber schwerer gezielt zu ändern</a:t>
            </a:r>
            <a:endParaRPr lang="de-DE" sz="1400" b="0" u="none" strike="noStrike">
              <a:solidFill>
                <a:srgbClr val="000000"/>
              </a:solidFill>
              <a:effectLst/>
              <a:uFillTx/>
              <a:latin typeface="Arial"/>
            </a:endParaRPr>
          </a:p>
        </p:txBody>
      </p:sp>
      <p:pic>
        <p:nvPicPr>
          <p:cNvPr id="362" name="Grafik 361"/>
          <p:cNvPicPr/>
          <p:nvPr/>
        </p:nvPicPr>
        <p:blipFill>
          <a:blip r:embed="rId4"/>
          <a:stretch/>
        </p:blipFill>
        <p:spPr>
          <a:xfrm>
            <a:off x="6532200" y="2520000"/>
            <a:ext cx="2886840" cy="1620000"/>
          </a:xfrm>
          <a:prstGeom prst="rect">
            <a:avLst/>
          </a:prstGeom>
          <a:noFill/>
          <a:ln w="0">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3" name="Textfeld 2"/>
          <p:cNvSpPr/>
          <p:nvPr/>
        </p:nvSpPr>
        <p:spPr>
          <a:xfrm>
            <a:off x="3048840" y="3244320"/>
            <a:ext cx="609696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endParaRPr lang="de-DE" sz="1800" b="0" u="none" strike="noStrike">
              <a:solidFill>
                <a:schemeClr val="dk1"/>
              </a:solidFill>
              <a:effectLst/>
              <a:uFillTx/>
              <a:latin typeface="Aptos"/>
            </a:endParaRPr>
          </a:p>
        </p:txBody>
      </p:sp>
      <p:sp>
        <p:nvSpPr>
          <p:cNvPr id="364" name="Textfeld 4"/>
          <p:cNvSpPr/>
          <p:nvPr/>
        </p:nvSpPr>
        <p:spPr>
          <a:xfrm>
            <a:off x="3048840" y="3244320"/>
            <a:ext cx="609696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endParaRPr lang="de-DE" sz="1800" b="0" u="none" strike="noStrike">
              <a:solidFill>
                <a:schemeClr val="dk1"/>
              </a:solidFill>
              <a:effectLst/>
              <a:uFillTx/>
              <a:latin typeface="Aptos"/>
            </a:endParaRPr>
          </a:p>
        </p:txBody>
      </p:sp>
      <p:sp>
        <p:nvSpPr>
          <p:cNvPr id="365" name="Textfeld 6"/>
          <p:cNvSpPr/>
          <p:nvPr/>
        </p:nvSpPr>
        <p:spPr>
          <a:xfrm>
            <a:off x="3048840" y="3244320"/>
            <a:ext cx="609696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endParaRPr lang="de-DE" sz="1800" b="0" u="none" strike="noStrike">
              <a:solidFill>
                <a:schemeClr val="dk1"/>
              </a:solidFill>
              <a:effectLst/>
              <a:uFillTx/>
              <a:latin typeface="Aptos"/>
            </a:endParaRPr>
          </a:p>
        </p:txBody>
      </p:sp>
      <p:pic>
        <p:nvPicPr>
          <p:cNvPr id="366" name="Grafik 1" descr="Ein Bild, das Text, Screenshot, Schrift, Zahl enthält.&#10;&#10;KI-generierte Inhalte können fehlerhaft sein."/>
          <p:cNvPicPr/>
          <p:nvPr/>
        </p:nvPicPr>
        <p:blipFill>
          <a:blip r:embed="rId2"/>
          <a:stretch/>
        </p:blipFill>
        <p:spPr>
          <a:xfrm>
            <a:off x="0" y="182520"/>
            <a:ext cx="12191760" cy="6492600"/>
          </a:xfrm>
          <a:prstGeom prst="rect">
            <a:avLst/>
          </a:prstGeom>
          <a:noFill/>
          <a:ln w="0">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67" name="Shape 0"/>
          <p:cNvSpPr/>
          <p:nvPr/>
        </p:nvSpPr>
        <p:spPr>
          <a:xfrm>
            <a:off x="0" y="0"/>
            <a:ext cx="12191400" cy="6857640"/>
          </a:xfrm>
          <a:prstGeom prst="rect">
            <a:avLst/>
          </a:prstGeom>
          <a:solidFill>
            <a:srgbClr val="F8FAFC"/>
          </a:solidFill>
          <a:ln w="12700">
            <a:solidFill>
              <a:srgbClr val="F8FAFC">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368" name="Shape 1"/>
          <p:cNvSpPr/>
          <p:nvPr/>
        </p:nvSpPr>
        <p:spPr>
          <a:xfrm>
            <a:off x="0" y="0"/>
            <a:ext cx="109440" cy="6857640"/>
          </a:xfrm>
          <a:prstGeom prst="rect">
            <a:avLst/>
          </a:prstGeom>
          <a:solidFill>
            <a:srgbClr val="10B981"/>
          </a:solidFill>
          <a:ln w="12700">
            <a:solidFill>
              <a:srgbClr val="10B98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369" name="Text 2"/>
          <p:cNvSpPr/>
          <p:nvPr/>
        </p:nvSpPr>
        <p:spPr>
          <a:xfrm>
            <a:off x="594360" y="384120"/>
            <a:ext cx="905220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400" b="1" u="none" strike="noStrike">
                <a:solidFill>
                  <a:srgbClr val="0F172A"/>
                </a:solidFill>
                <a:effectLst/>
                <a:uFillTx/>
                <a:latin typeface="Aptos Display"/>
                <a:ea typeface="Aptos Display"/>
              </a:rPr>
              <a:t>Vorteile relationaler Tabellen gegenüber JSON</a:t>
            </a:r>
            <a:endParaRPr lang="de-DE" sz="2400" b="0" u="none" strike="noStrike">
              <a:solidFill>
                <a:srgbClr val="000000"/>
              </a:solidFill>
              <a:effectLst/>
              <a:uFillTx/>
              <a:latin typeface="Arial"/>
            </a:endParaRPr>
          </a:p>
        </p:txBody>
      </p:sp>
      <p:sp>
        <p:nvSpPr>
          <p:cNvPr id="370" name="Text 3"/>
          <p:cNvSpPr/>
          <p:nvPr/>
        </p:nvSpPr>
        <p:spPr>
          <a:xfrm>
            <a:off x="612720" y="850320"/>
            <a:ext cx="960084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endParaRPr lang="de-DE" sz="1800" b="0" u="none" strike="noStrike">
              <a:solidFill>
                <a:srgbClr val="000000"/>
              </a:solidFill>
              <a:effectLst/>
              <a:uFillTx/>
              <a:latin typeface="Arial"/>
            </a:endParaRPr>
          </a:p>
        </p:txBody>
      </p:sp>
      <p:sp>
        <p:nvSpPr>
          <p:cNvPr id="371" name="Shape 4"/>
          <p:cNvSpPr/>
          <p:nvPr/>
        </p:nvSpPr>
        <p:spPr>
          <a:xfrm>
            <a:off x="502920" y="6473880"/>
            <a:ext cx="11201400" cy="360"/>
          </a:xfrm>
          <a:prstGeom prst="line">
            <a:avLst/>
          </a:prstGeom>
          <a:ln w="7620">
            <a:solidFill>
              <a:srgbClr val="CBD5E1">
                <a:alpha val="70000"/>
              </a:srgbClr>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de-DE" sz="1800" b="0" u="none" strike="noStrike">
              <a:solidFill>
                <a:srgbClr val="000000"/>
              </a:solidFill>
              <a:effectLst/>
              <a:uFillTx/>
              <a:latin typeface="Arial"/>
            </a:endParaRPr>
          </a:p>
        </p:txBody>
      </p:sp>
      <p:sp>
        <p:nvSpPr>
          <p:cNvPr id="372" name="Text 5"/>
          <p:cNvSpPr/>
          <p:nvPr/>
        </p:nvSpPr>
        <p:spPr>
          <a:xfrm>
            <a:off x="567000" y="6519600"/>
            <a:ext cx="53031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750" b="0" u="none" strike="noStrike">
                <a:solidFill>
                  <a:srgbClr val="64748B"/>
                </a:solidFill>
                <a:effectLst/>
                <a:uFillTx/>
                <a:latin typeface="Aptos"/>
                <a:ea typeface="Aptos"/>
              </a:rPr>
              <a:t>Teil 3 · Datenbank &amp; Migration</a:t>
            </a:r>
            <a:endParaRPr lang="de-DE" sz="750" b="0" u="none" strike="noStrike">
              <a:solidFill>
                <a:srgbClr val="000000"/>
              </a:solidFill>
              <a:effectLst/>
              <a:uFillTx/>
              <a:latin typeface="Arial"/>
            </a:endParaRPr>
          </a:p>
        </p:txBody>
      </p:sp>
      <p:sp>
        <p:nvSpPr>
          <p:cNvPr id="373" name="Text 6"/>
          <p:cNvSpPr/>
          <p:nvPr/>
        </p:nvSpPr>
        <p:spPr>
          <a:xfrm>
            <a:off x="11201400" y="6519600"/>
            <a:ext cx="45684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64748B"/>
                </a:solidFill>
                <a:effectLst/>
                <a:uFillTx/>
                <a:latin typeface="Aptos"/>
                <a:ea typeface="Aptos"/>
              </a:rPr>
              <a:t>20</a:t>
            </a:r>
            <a:endParaRPr lang="de-DE" sz="750" b="0" u="none" strike="noStrike">
              <a:solidFill>
                <a:srgbClr val="000000"/>
              </a:solidFill>
              <a:effectLst/>
              <a:uFillTx/>
              <a:latin typeface="Arial"/>
            </a:endParaRPr>
          </a:p>
        </p:txBody>
      </p:sp>
      <p:sp>
        <p:nvSpPr>
          <p:cNvPr id="374" name="Text 7"/>
          <p:cNvSpPr/>
          <p:nvPr/>
        </p:nvSpPr>
        <p:spPr>
          <a:xfrm>
            <a:off x="914400" y="1417320"/>
            <a:ext cx="228564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a:solidFill>
                  <a:srgbClr val="0F172A"/>
                </a:solidFill>
                <a:effectLst/>
                <a:uFillTx/>
                <a:latin typeface="Aptos"/>
              </a:rPr>
              <a:t>Kriterium</a:t>
            </a:r>
            <a:endParaRPr lang="de-DE" sz="1100" b="0" u="none" strike="noStrike">
              <a:solidFill>
                <a:srgbClr val="000000"/>
              </a:solidFill>
              <a:effectLst/>
              <a:uFillTx/>
              <a:latin typeface="Arial"/>
            </a:endParaRPr>
          </a:p>
        </p:txBody>
      </p:sp>
      <p:sp>
        <p:nvSpPr>
          <p:cNvPr id="375" name="Text 8"/>
          <p:cNvSpPr/>
          <p:nvPr/>
        </p:nvSpPr>
        <p:spPr>
          <a:xfrm>
            <a:off x="3703320" y="1417320"/>
            <a:ext cx="29257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a:solidFill>
                  <a:srgbClr val="0F172A"/>
                </a:solidFill>
                <a:effectLst/>
                <a:uFillTx/>
                <a:latin typeface="Aptos"/>
              </a:rPr>
              <a:t>JSON im Profil</a:t>
            </a:r>
            <a:endParaRPr lang="de-DE" sz="1100" b="0" u="none" strike="noStrike">
              <a:solidFill>
                <a:srgbClr val="000000"/>
              </a:solidFill>
              <a:effectLst/>
              <a:uFillTx/>
              <a:latin typeface="Arial"/>
            </a:endParaRPr>
          </a:p>
        </p:txBody>
      </p:sp>
      <p:sp>
        <p:nvSpPr>
          <p:cNvPr id="376" name="Text 9"/>
          <p:cNvSpPr/>
          <p:nvPr/>
        </p:nvSpPr>
        <p:spPr>
          <a:xfrm>
            <a:off x="7315200" y="1417320"/>
            <a:ext cx="320004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u="none" strike="noStrike">
                <a:solidFill>
                  <a:srgbClr val="0F172A"/>
                </a:solidFill>
                <a:effectLst/>
                <a:uFillTx/>
                <a:latin typeface="Aptos"/>
              </a:rPr>
              <a:t>Relationale Tabellen</a:t>
            </a:r>
            <a:endParaRPr lang="de-DE" sz="1100" b="0" u="none" strike="noStrike">
              <a:solidFill>
                <a:srgbClr val="000000"/>
              </a:solidFill>
              <a:effectLst/>
              <a:uFillTx/>
              <a:latin typeface="Arial"/>
            </a:endParaRPr>
          </a:p>
        </p:txBody>
      </p:sp>
      <p:sp>
        <p:nvSpPr>
          <p:cNvPr id="377" name="Shape 10"/>
          <p:cNvSpPr/>
          <p:nvPr/>
        </p:nvSpPr>
        <p:spPr>
          <a:xfrm>
            <a:off x="822960" y="1810440"/>
            <a:ext cx="10423800" cy="475200"/>
          </a:xfrm>
          <a:prstGeom prst="roundRect">
            <a:avLst>
              <a:gd name="adj" fmla="val 7692"/>
            </a:avLst>
          </a:prstGeom>
          <a:solidFill>
            <a:srgbClr val="FFFFFF"/>
          </a:solidFill>
          <a:ln w="635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378" name="Text 11"/>
          <p:cNvSpPr/>
          <p:nvPr/>
        </p:nvSpPr>
        <p:spPr>
          <a:xfrm>
            <a:off x="960120" y="1947600"/>
            <a:ext cx="2422800" cy="14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50" b="1" u="none" strike="noStrike">
                <a:solidFill>
                  <a:srgbClr val="334155"/>
                </a:solidFill>
                <a:effectLst/>
                <a:uFillTx/>
                <a:latin typeface="Aptos"/>
              </a:rPr>
              <a:t>Einzelnes Ziel ändern</a:t>
            </a:r>
            <a:endParaRPr lang="de-DE" sz="950" b="0" u="none" strike="noStrike">
              <a:solidFill>
                <a:srgbClr val="000000"/>
              </a:solidFill>
              <a:effectLst/>
              <a:uFillTx/>
              <a:latin typeface="Arial"/>
            </a:endParaRPr>
          </a:p>
        </p:txBody>
      </p:sp>
      <p:sp>
        <p:nvSpPr>
          <p:cNvPr id="379" name="Text 12"/>
          <p:cNvSpPr/>
          <p:nvPr/>
        </p:nvSpPr>
        <p:spPr>
          <a:xfrm>
            <a:off x="3703320" y="1947600"/>
            <a:ext cx="3062880" cy="14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950" b="0" u="none" strike="noStrike">
                <a:solidFill>
                  <a:srgbClr val="334155"/>
                </a:solidFill>
                <a:effectLst/>
                <a:uFillTx/>
                <a:latin typeface="Aptos"/>
              </a:rPr>
              <a:t>Profil komplett lesen/schreiben</a:t>
            </a:r>
            <a:endParaRPr lang="de-DE" sz="950" b="0" u="none" strike="noStrike">
              <a:solidFill>
                <a:srgbClr val="000000"/>
              </a:solidFill>
              <a:effectLst/>
              <a:uFillTx/>
              <a:latin typeface="Arial"/>
            </a:endParaRPr>
          </a:p>
        </p:txBody>
      </p:sp>
      <p:sp>
        <p:nvSpPr>
          <p:cNvPr id="380" name="Text 13"/>
          <p:cNvSpPr/>
          <p:nvPr/>
        </p:nvSpPr>
        <p:spPr>
          <a:xfrm>
            <a:off x="7315200" y="1947600"/>
            <a:ext cx="3291480" cy="14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950" b="0" u="none" strike="noStrike">
                <a:solidFill>
                  <a:srgbClr val="047857"/>
                </a:solidFill>
                <a:effectLst/>
                <a:uFillTx/>
                <a:latin typeface="Aptos"/>
              </a:rPr>
              <a:t>gezieltes UPDATE auf Ziel</a:t>
            </a:r>
            <a:endParaRPr lang="de-DE" sz="950" b="0" u="none" strike="noStrike">
              <a:solidFill>
                <a:srgbClr val="000000"/>
              </a:solidFill>
              <a:effectLst/>
              <a:uFillTx/>
              <a:latin typeface="Arial"/>
            </a:endParaRPr>
          </a:p>
        </p:txBody>
      </p:sp>
      <p:sp>
        <p:nvSpPr>
          <p:cNvPr id="381" name="Shape 14"/>
          <p:cNvSpPr/>
          <p:nvPr/>
        </p:nvSpPr>
        <p:spPr>
          <a:xfrm>
            <a:off x="822960" y="2496240"/>
            <a:ext cx="10423800" cy="475200"/>
          </a:xfrm>
          <a:prstGeom prst="roundRect">
            <a:avLst>
              <a:gd name="adj" fmla="val 7692"/>
            </a:avLst>
          </a:prstGeom>
          <a:solidFill>
            <a:srgbClr val="FFFFFF"/>
          </a:solidFill>
          <a:ln w="635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382" name="Text 15"/>
          <p:cNvSpPr/>
          <p:nvPr/>
        </p:nvSpPr>
        <p:spPr>
          <a:xfrm>
            <a:off x="960120" y="2633400"/>
            <a:ext cx="2422800" cy="14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50" b="1" u="none" strike="noStrike">
                <a:solidFill>
                  <a:srgbClr val="334155"/>
                </a:solidFill>
                <a:effectLst/>
                <a:uFillTx/>
                <a:latin typeface="Aptos"/>
              </a:rPr>
              <a:t>Abfragen</a:t>
            </a:r>
            <a:endParaRPr lang="de-DE" sz="950" b="0" u="none" strike="noStrike">
              <a:solidFill>
                <a:srgbClr val="000000"/>
              </a:solidFill>
              <a:effectLst/>
              <a:uFillTx/>
              <a:latin typeface="Arial"/>
            </a:endParaRPr>
          </a:p>
        </p:txBody>
      </p:sp>
      <p:sp>
        <p:nvSpPr>
          <p:cNvPr id="383" name="Text 16"/>
          <p:cNvSpPr/>
          <p:nvPr/>
        </p:nvSpPr>
        <p:spPr>
          <a:xfrm>
            <a:off x="3703320" y="2633400"/>
            <a:ext cx="3062880" cy="14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950" b="0" u="none" strike="noStrike">
                <a:solidFill>
                  <a:srgbClr val="334155"/>
                </a:solidFill>
                <a:effectLst/>
                <a:uFillTx/>
                <a:latin typeface="Aptos"/>
              </a:rPr>
              <a:t>komplexer über JSON-Struktur</a:t>
            </a:r>
            <a:endParaRPr lang="de-DE" sz="950" b="0" u="none" strike="noStrike">
              <a:solidFill>
                <a:srgbClr val="000000"/>
              </a:solidFill>
              <a:effectLst/>
              <a:uFillTx/>
              <a:latin typeface="Arial"/>
            </a:endParaRPr>
          </a:p>
        </p:txBody>
      </p:sp>
      <p:sp>
        <p:nvSpPr>
          <p:cNvPr id="384" name="Text 17"/>
          <p:cNvSpPr/>
          <p:nvPr/>
        </p:nvSpPr>
        <p:spPr>
          <a:xfrm>
            <a:off x="7315200" y="2633400"/>
            <a:ext cx="3291480" cy="14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950" b="0" u="none" strike="noStrike">
                <a:solidFill>
                  <a:srgbClr val="047857"/>
                </a:solidFill>
                <a:effectLst/>
                <a:uFillTx/>
                <a:latin typeface="Aptos"/>
              </a:rPr>
              <a:t>direkt über SQL</a:t>
            </a:r>
            <a:endParaRPr lang="de-DE" sz="950" b="0" u="none" strike="noStrike">
              <a:solidFill>
                <a:srgbClr val="000000"/>
              </a:solidFill>
              <a:effectLst/>
              <a:uFillTx/>
              <a:latin typeface="Arial"/>
            </a:endParaRPr>
          </a:p>
        </p:txBody>
      </p:sp>
      <p:sp>
        <p:nvSpPr>
          <p:cNvPr id="385" name="Shape 18"/>
          <p:cNvSpPr/>
          <p:nvPr/>
        </p:nvSpPr>
        <p:spPr>
          <a:xfrm>
            <a:off x="822960" y="3182040"/>
            <a:ext cx="10423800" cy="475200"/>
          </a:xfrm>
          <a:prstGeom prst="roundRect">
            <a:avLst>
              <a:gd name="adj" fmla="val 7692"/>
            </a:avLst>
          </a:prstGeom>
          <a:solidFill>
            <a:srgbClr val="FFFFFF"/>
          </a:solidFill>
          <a:ln w="635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386" name="Text 19"/>
          <p:cNvSpPr/>
          <p:nvPr/>
        </p:nvSpPr>
        <p:spPr>
          <a:xfrm>
            <a:off x="960120" y="3319200"/>
            <a:ext cx="2422800" cy="14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50" b="1" u="none" strike="noStrike">
                <a:solidFill>
                  <a:srgbClr val="334155"/>
                </a:solidFill>
                <a:effectLst/>
                <a:uFillTx/>
                <a:latin typeface="Aptos"/>
              </a:rPr>
              <a:t>Konsistenz</a:t>
            </a:r>
            <a:endParaRPr lang="de-DE" sz="950" b="0" u="none" strike="noStrike">
              <a:solidFill>
                <a:srgbClr val="000000"/>
              </a:solidFill>
              <a:effectLst/>
              <a:uFillTx/>
              <a:latin typeface="Arial"/>
            </a:endParaRPr>
          </a:p>
        </p:txBody>
      </p:sp>
      <p:sp>
        <p:nvSpPr>
          <p:cNvPr id="387" name="Text 20"/>
          <p:cNvSpPr/>
          <p:nvPr/>
        </p:nvSpPr>
        <p:spPr>
          <a:xfrm>
            <a:off x="3703320" y="3319200"/>
            <a:ext cx="3062880" cy="14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950" b="0" u="none" strike="noStrike">
                <a:solidFill>
                  <a:srgbClr val="334155"/>
                </a:solidFill>
                <a:effectLst/>
                <a:uFillTx/>
                <a:latin typeface="Aptos"/>
              </a:rPr>
              <a:t>erfolgt durch Anwendungscode</a:t>
            </a:r>
            <a:endParaRPr lang="de-DE" sz="950" b="0" u="none" strike="noStrike">
              <a:solidFill>
                <a:srgbClr val="000000"/>
              </a:solidFill>
              <a:effectLst/>
              <a:uFillTx/>
              <a:latin typeface="Arial"/>
            </a:endParaRPr>
          </a:p>
        </p:txBody>
      </p:sp>
      <p:sp>
        <p:nvSpPr>
          <p:cNvPr id="388" name="Text 21"/>
          <p:cNvSpPr/>
          <p:nvPr/>
        </p:nvSpPr>
        <p:spPr>
          <a:xfrm>
            <a:off x="7315200" y="3319200"/>
            <a:ext cx="3291480" cy="14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950" b="0" u="none" strike="noStrike">
                <a:solidFill>
                  <a:srgbClr val="047857"/>
                </a:solidFill>
                <a:effectLst/>
                <a:uFillTx/>
                <a:latin typeface="Aptos"/>
              </a:rPr>
              <a:t>Constraints und Fremdschlüssel</a:t>
            </a:r>
            <a:endParaRPr lang="de-DE" sz="950" b="0" u="none" strike="noStrike">
              <a:solidFill>
                <a:srgbClr val="000000"/>
              </a:solidFill>
              <a:effectLst/>
              <a:uFillTx/>
              <a:latin typeface="Arial"/>
            </a:endParaRPr>
          </a:p>
        </p:txBody>
      </p:sp>
      <p:sp>
        <p:nvSpPr>
          <p:cNvPr id="389" name="Shape 22"/>
          <p:cNvSpPr/>
          <p:nvPr/>
        </p:nvSpPr>
        <p:spPr>
          <a:xfrm>
            <a:off x="822960" y="3867840"/>
            <a:ext cx="10423800" cy="475200"/>
          </a:xfrm>
          <a:prstGeom prst="roundRect">
            <a:avLst>
              <a:gd name="adj" fmla="val 7692"/>
            </a:avLst>
          </a:prstGeom>
          <a:solidFill>
            <a:srgbClr val="FFFFFF"/>
          </a:solidFill>
          <a:ln w="635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390" name="Text 23"/>
          <p:cNvSpPr/>
          <p:nvPr/>
        </p:nvSpPr>
        <p:spPr>
          <a:xfrm>
            <a:off x="960120" y="4005000"/>
            <a:ext cx="2422800" cy="14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50" b="1" u="none" strike="noStrike">
                <a:solidFill>
                  <a:srgbClr val="334155"/>
                </a:solidFill>
                <a:effectLst/>
                <a:uFillTx/>
                <a:latin typeface="Aptos"/>
              </a:rPr>
              <a:t>Erweiterbarkeit</a:t>
            </a:r>
            <a:endParaRPr lang="de-DE" sz="950" b="0" u="none" strike="noStrike">
              <a:solidFill>
                <a:srgbClr val="000000"/>
              </a:solidFill>
              <a:effectLst/>
              <a:uFillTx/>
              <a:latin typeface="Arial"/>
            </a:endParaRPr>
          </a:p>
        </p:txBody>
      </p:sp>
      <p:sp>
        <p:nvSpPr>
          <p:cNvPr id="391" name="Text 24"/>
          <p:cNvSpPr/>
          <p:nvPr/>
        </p:nvSpPr>
        <p:spPr>
          <a:xfrm>
            <a:off x="3703320" y="4005000"/>
            <a:ext cx="3062880" cy="14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950" b="0" u="none" strike="noStrike">
                <a:solidFill>
                  <a:srgbClr val="334155"/>
                </a:solidFill>
                <a:effectLst/>
                <a:uFillTx/>
                <a:latin typeface="Aptos"/>
              </a:rPr>
              <a:t>schnell am Anfang</a:t>
            </a:r>
            <a:endParaRPr lang="de-DE" sz="950" b="0" u="none" strike="noStrike">
              <a:solidFill>
                <a:srgbClr val="000000"/>
              </a:solidFill>
              <a:effectLst/>
              <a:uFillTx/>
              <a:latin typeface="Arial"/>
            </a:endParaRPr>
          </a:p>
        </p:txBody>
      </p:sp>
      <p:sp>
        <p:nvSpPr>
          <p:cNvPr id="392" name="Text 25"/>
          <p:cNvSpPr/>
          <p:nvPr/>
        </p:nvSpPr>
        <p:spPr>
          <a:xfrm>
            <a:off x="7315200" y="4005000"/>
            <a:ext cx="3291480" cy="14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950" b="0" u="none" strike="noStrike">
                <a:solidFill>
                  <a:srgbClr val="047857"/>
                </a:solidFill>
                <a:effectLst/>
                <a:uFillTx/>
                <a:latin typeface="Aptos"/>
              </a:rPr>
              <a:t>stabiler bei wachsendem Modell</a:t>
            </a:r>
            <a:endParaRPr lang="de-DE" sz="950" b="0" u="none" strike="noStrike">
              <a:solidFill>
                <a:srgbClr val="000000"/>
              </a:solidFill>
              <a:effectLst/>
              <a:uFillTx/>
              <a:latin typeface="Arial"/>
            </a:endParaRPr>
          </a:p>
        </p:txBody>
      </p:sp>
      <p:sp>
        <p:nvSpPr>
          <p:cNvPr id="393" name="Text 26"/>
          <p:cNvSpPr/>
          <p:nvPr/>
        </p:nvSpPr>
        <p:spPr>
          <a:xfrm>
            <a:off x="914400" y="4983480"/>
            <a:ext cx="969228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Entscheidung: JSON war flexibel, relationale Tabellen wurden für den Prototyp langfristig robuster.</a:t>
            </a:r>
            <a:endParaRPr lang="de-DE" sz="14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94" name="Shape 0"/>
          <p:cNvSpPr/>
          <p:nvPr/>
        </p:nvSpPr>
        <p:spPr>
          <a:xfrm>
            <a:off x="0" y="0"/>
            <a:ext cx="12191400" cy="6857640"/>
          </a:xfrm>
          <a:prstGeom prst="rect">
            <a:avLst/>
          </a:prstGeom>
          <a:solidFill>
            <a:srgbClr val="F8FAFC"/>
          </a:solidFill>
          <a:ln w="12700">
            <a:solidFill>
              <a:srgbClr val="F8FAFC">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395" name="Shape 1"/>
          <p:cNvSpPr/>
          <p:nvPr/>
        </p:nvSpPr>
        <p:spPr>
          <a:xfrm>
            <a:off x="0" y="0"/>
            <a:ext cx="109440" cy="6857640"/>
          </a:xfrm>
          <a:prstGeom prst="rect">
            <a:avLst/>
          </a:prstGeom>
          <a:solidFill>
            <a:srgbClr val="10B981"/>
          </a:solidFill>
          <a:ln w="12700">
            <a:solidFill>
              <a:srgbClr val="10B98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396" name="Text 2"/>
          <p:cNvSpPr/>
          <p:nvPr/>
        </p:nvSpPr>
        <p:spPr>
          <a:xfrm>
            <a:off x="594360" y="384120"/>
            <a:ext cx="905220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400" b="1" u="none" strike="noStrike">
                <a:solidFill>
                  <a:srgbClr val="0F172A"/>
                </a:solidFill>
                <a:effectLst/>
                <a:uFillTx/>
                <a:latin typeface="Aptos Display"/>
                <a:ea typeface="Aptos Display"/>
              </a:rPr>
              <a:t>Migrationsablauf</a:t>
            </a:r>
            <a:endParaRPr lang="de-DE" sz="2400" b="0" u="none" strike="noStrike">
              <a:solidFill>
                <a:srgbClr val="000000"/>
              </a:solidFill>
              <a:effectLst/>
              <a:uFillTx/>
              <a:latin typeface="Arial"/>
            </a:endParaRPr>
          </a:p>
        </p:txBody>
      </p:sp>
      <p:sp>
        <p:nvSpPr>
          <p:cNvPr id="397" name="Text 3"/>
          <p:cNvSpPr/>
          <p:nvPr/>
        </p:nvSpPr>
        <p:spPr>
          <a:xfrm>
            <a:off x="612720" y="850320"/>
            <a:ext cx="960084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64748B"/>
                </a:solidFill>
                <a:effectLst/>
                <a:uFillTx/>
                <a:latin typeface="Aptos"/>
              </a:rPr>
              <a:t>Bestehende JSON-Strukturen in SQL-Tabellen überführen</a:t>
            </a:r>
            <a:endParaRPr lang="de-DE" sz="1200" b="0" u="none" strike="noStrike">
              <a:solidFill>
                <a:srgbClr val="000000"/>
              </a:solidFill>
              <a:effectLst/>
              <a:uFillTx/>
              <a:latin typeface="Arial"/>
            </a:endParaRPr>
          </a:p>
        </p:txBody>
      </p:sp>
      <p:sp>
        <p:nvSpPr>
          <p:cNvPr id="398" name="Shape 4"/>
          <p:cNvSpPr/>
          <p:nvPr/>
        </p:nvSpPr>
        <p:spPr>
          <a:xfrm>
            <a:off x="502920" y="6473880"/>
            <a:ext cx="11201400" cy="360"/>
          </a:xfrm>
          <a:prstGeom prst="line">
            <a:avLst/>
          </a:prstGeom>
          <a:ln w="7620">
            <a:solidFill>
              <a:srgbClr val="CBD5E1">
                <a:alpha val="70000"/>
              </a:srgbClr>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de-DE" sz="1800" b="0" u="none" strike="noStrike">
              <a:solidFill>
                <a:srgbClr val="000000"/>
              </a:solidFill>
              <a:effectLst/>
              <a:uFillTx/>
              <a:latin typeface="Arial"/>
            </a:endParaRPr>
          </a:p>
        </p:txBody>
      </p:sp>
      <p:sp>
        <p:nvSpPr>
          <p:cNvPr id="399" name="Text 5"/>
          <p:cNvSpPr/>
          <p:nvPr/>
        </p:nvSpPr>
        <p:spPr>
          <a:xfrm>
            <a:off x="567000" y="6519600"/>
            <a:ext cx="53031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750" b="0" u="none" strike="noStrike">
                <a:solidFill>
                  <a:srgbClr val="64748B"/>
                </a:solidFill>
                <a:effectLst/>
                <a:uFillTx/>
                <a:latin typeface="Aptos"/>
                <a:ea typeface="Aptos"/>
              </a:rPr>
              <a:t>Teil 3 · Datenbank &amp; Migration</a:t>
            </a:r>
            <a:endParaRPr lang="de-DE" sz="750" b="0" u="none" strike="noStrike">
              <a:solidFill>
                <a:srgbClr val="000000"/>
              </a:solidFill>
              <a:effectLst/>
              <a:uFillTx/>
              <a:latin typeface="Arial"/>
            </a:endParaRPr>
          </a:p>
        </p:txBody>
      </p:sp>
      <p:sp>
        <p:nvSpPr>
          <p:cNvPr id="400" name="Text 6"/>
          <p:cNvSpPr/>
          <p:nvPr/>
        </p:nvSpPr>
        <p:spPr>
          <a:xfrm>
            <a:off x="11201400" y="6519600"/>
            <a:ext cx="45684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64748B"/>
                </a:solidFill>
                <a:effectLst/>
                <a:uFillTx/>
                <a:latin typeface="Aptos"/>
                <a:ea typeface="Aptos"/>
              </a:rPr>
              <a:t>21</a:t>
            </a:r>
            <a:endParaRPr lang="de-DE" sz="750" b="0" u="none" strike="noStrike">
              <a:solidFill>
                <a:srgbClr val="000000"/>
              </a:solidFill>
              <a:effectLst/>
              <a:uFillTx/>
              <a:latin typeface="Arial"/>
            </a:endParaRPr>
          </a:p>
        </p:txBody>
      </p:sp>
      <p:sp>
        <p:nvSpPr>
          <p:cNvPr id="401" name="Shape 7"/>
          <p:cNvSpPr/>
          <p:nvPr/>
        </p:nvSpPr>
        <p:spPr>
          <a:xfrm>
            <a:off x="685800" y="1645920"/>
            <a:ext cx="2026080" cy="731160"/>
          </a:xfrm>
          <a:prstGeom prst="chevron">
            <a:avLst>
              <a:gd name="adj" fmla="val 50000"/>
            </a:avLst>
          </a:prstGeom>
          <a:solidFill>
            <a:srgbClr val="F59E0B"/>
          </a:solidFill>
          <a:ln w="1270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402" name="Text 8"/>
          <p:cNvSpPr/>
          <p:nvPr/>
        </p:nvSpPr>
        <p:spPr>
          <a:xfrm>
            <a:off x="832320" y="1856160"/>
            <a:ext cx="18795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lnSpcReduction="10000"/>
          </a:bodyPr>
          <a:lstStyle/>
          <a:p>
            <a:pPr algn="ctr" defTabSz="914400">
              <a:lnSpc>
                <a:spcPct val="100000"/>
              </a:lnSpc>
              <a:tabLst>
                <a:tab pos="0" algn="l"/>
              </a:tabLst>
            </a:pPr>
            <a:r>
              <a:rPr lang="en-US" sz="920" b="1" u="none" strike="noStrike" dirty="0" err="1">
                <a:solidFill>
                  <a:srgbClr val="FFFFFF"/>
                </a:solidFill>
                <a:effectLst/>
                <a:uFillTx/>
                <a:latin typeface="Aptos"/>
              </a:rPr>
              <a:t>Tabellen</a:t>
            </a:r>
            <a:r>
              <a:rPr lang="en-US" sz="920" b="1" u="none" strike="noStrike" dirty="0">
                <a:solidFill>
                  <a:srgbClr val="FFFFFF"/>
                </a:solidFill>
                <a:effectLst/>
                <a:uFillTx/>
                <a:latin typeface="Aptos"/>
              </a:rPr>
              <a:t> </a:t>
            </a:r>
            <a:r>
              <a:rPr lang="en-US" sz="920" b="1" u="none" strike="noStrike" dirty="0" err="1">
                <a:solidFill>
                  <a:srgbClr val="FFFFFF"/>
                </a:solidFill>
                <a:effectLst/>
                <a:uFillTx/>
                <a:latin typeface="Aptos"/>
              </a:rPr>
              <a:t>erweitern</a:t>
            </a:r>
            <a:r>
              <a:rPr lang="en-US" sz="920" b="1" u="none" strike="noStrike" dirty="0">
                <a:solidFill>
                  <a:srgbClr val="FFFFFF"/>
                </a:solidFill>
                <a:effectLst/>
                <a:uFillTx/>
                <a:latin typeface="Aptos"/>
              </a:rPr>
              <a:t> </a:t>
            </a:r>
          </a:p>
          <a:p>
            <a:pPr algn="ctr" defTabSz="914400">
              <a:lnSpc>
                <a:spcPct val="100000"/>
              </a:lnSpc>
              <a:tabLst>
                <a:tab pos="0" algn="l"/>
              </a:tabLst>
            </a:pPr>
            <a:r>
              <a:rPr lang="en-US" sz="920" b="1" u="none" strike="noStrike" dirty="0">
                <a:solidFill>
                  <a:srgbClr val="FFFFFF"/>
                </a:solidFill>
                <a:effectLst/>
                <a:uFillTx/>
                <a:latin typeface="Aptos"/>
              </a:rPr>
              <a:t>und </a:t>
            </a:r>
            <a:r>
              <a:rPr lang="en-US" sz="920" b="1" u="none" strike="noStrike" dirty="0" err="1">
                <a:solidFill>
                  <a:srgbClr val="FFFFFF"/>
                </a:solidFill>
                <a:effectLst/>
                <a:uFillTx/>
                <a:latin typeface="Aptos"/>
              </a:rPr>
              <a:t>neuanlegen</a:t>
            </a:r>
            <a:endParaRPr lang="de-DE" sz="920" b="0" u="none" strike="noStrike" dirty="0">
              <a:solidFill>
                <a:srgbClr val="000000"/>
              </a:solidFill>
              <a:effectLst/>
              <a:uFillTx/>
              <a:latin typeface="Arial"/>
            </a:endParaRPr>
          </a:p>
        </p:txBody>
      </p:sp>
      <p:sp>
        <p:nvSpPr>
          <p:cNvPr id="403" name="Shape 9"/>
          <p:cNvSpPr/>
          <p:nvPr/>
        </p:nvSpPr>
        <p:spPr>
          <a:xfrm>
            <a:off x="2876760" y="1645920"/>
            <a:ext cx="2026080" cy="731160"/>
          </a:xfrm>
          <a:prstGeom prst="chevron">
            <a:avLst>
              <a:gd name="adj" fmla="val 50000"/>
            </a:avLst>
          </a:prstGeom>
          <a:solidFill>
            <a:srgbClr val="FFFFFF"/>
          </a:solidFill>
          <a:ln w="1270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404" name="Text 10"/>
          <p:cNvSpPr/>
          <p:nvPr/>
        </p:nvSpPr>
        <p:spPr>
          <a:xfrm>
            <a:off x="2949840" y="1856160"/>
            <a:ext cx="18795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20" b="1" u="none" strike="noStrike">
                <a:solidFill>
                  <a:srgbClr val="0F172A"/>
                </a:solidFill>
                <a:effectLst/>
                <a:uFillTx/>
                <a:latin typeface="Aptos"/>
              </a:rPr>
              <a:t>Profile lesen</a:t>
            </a:r>
            <a:endParaRPr lang="de-DE" sz="920" b="0" u="none" strike="noStrike">
              <a:solidFill>
                <a:srgbClr val="000000"/>
              </a:solidFill>
              <a:effectLst/>
              <a:uFillTx/>
              <a:latin typeface="Arial"/>
            </a:endParaRPr>
          </a:p>
        </p:txBody>
      </p:sp>
      <p:sp>
        <p:nvSpPr>
          <p:cNvPr id="405" name="Shape 11"/>
          <p:cNvSpPr/>
          <p:nvPr/>
        </p:nvSpPr>
        <p:spPr>
          <a:xfrm>
            <a:off x="5067720" y="1645920"/>
            <a:ext cx="2026080" cy="731160"/>
          </a:xfrm>
          <a:prstGeom prst="chevron">
            <a:avLst>
              <a:gd name="adj" fmla="val 50000"/>
            </a:avLst>
          </a:prstGeom>
          <a:solidFill>
            <a:srgbClr val="FFFFFF"/>
          </a:solidFill>
          <a:ln w="1270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406" name="Text 12"/>
          <p:cNvSpPr/>
          <p:nvPr/>
        </p:nvSpPr>
        <p:spPr>
          <a:xfrm>
            <a:off x="5140800" y="1856160"/>
            <a:ext cx="18795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20" b="1" u="none" strike="noStrike">
                <a:solidFill>
                  <a:srgbClr val="0F172A"/>
                </a:solidFill>
                <a:effectLst/>
                <a:uFillTx/>
                <a:latin typeface="Aptos"/>
              </a:rPr>
              <a:t>Daten extrahieren</a:t>
            </a:r>
            <a:endParaRPr lang="de-DE" sz="920" b="0" u="none" strike="noStrike">
              <a:solidFill>
                <a:srgbClr val="000000"/>
              </a:solidFill>
              <a:effectLst/>
              <a:uFillTx/>
              <a:latin typeface="Arial"/>
            </a:endParaRPr>
          </a:p>
        </p:txBody>
      </p:sp>
      <p:sp>
        <p:nvSpPr>
          <p:cNvPr id="407" name="Shape 13"/>
          <p:cNvSpPr/>
          <p:nvPr/>
        </p:nvSpPr>
        <p:spPr>
          <a:xfrm>
            <a:off x="7258680" y="1645920"/>
            <a:ext cx="2026080" cy="731160"/>
          </a:xfrm>
          <a:prstGeom prst="chevron">
            <a:avLst>
              <a:gd name="adj" fmla="val 50000"/>
            </a:avLst>
          </a:prstGeom>
          <a:solidFill>
            <a:srgbClr val="FFFFFF"/>
          </a:solidFill>
          <a:ln w="1270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408" name="Text 14"/>
          <p:cNvSpPr/>
          <p:nvPr/>
        </p:nvSpPr>
        <p:spPr>
          <a:xfrm>
            <a:off x="7405200" y="1856160"/>
            <a:ext cx="18795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20" b="1" u="none" strike="noStrike">
                <a:solidFill>
                  <a:srgbClr val="0F172A"/>
                </a:solidFill>
                <a:effectLst/>
                <a:uFillTx/>
                <a:latin typeface="Aptos"/>
              </a:rPr>
              <a:t>Datensätze einfügen</a:t>
            </a:r>
            <a:endParaRPr lang="de-DE" sz="920" b="0" u="none" strike="noStrike">
              <a:solidFill>
                <a:srgbClr val="000000"/>
              </a:solidFill>
              <a:effectLst/>
              <a:uFillTx/>
              <a:latin typeface="Arial"/>
            </a:endParaRPr>
          </a:p>
        </p:txBody>
      </p:sp>
      <p:sp>
        <p:nvSpPr>
          <p:cNvPr id="409" name="Shape 15"/>
          <p:cNvSpPr/>
          <p:nvPr/>
        </p:nvSpPr>
        <p:spPr>
          <a:xfrm>
            <a:off x="9449280" y="1645920"/>
            <a:ext cx="2026080" cy="731160"/>
          </a:xfrm>
          <a:prstGeom prst="chevron">
            <a:avLst>
              <a:gd name="adj" fmla="val 50000"/>
            </a:avLst>
          </a:prstGeom>
          <a:solidFill>
            <a:srgbClr val="FFFFFF"/>
          </a:solidFill>
          <a:ln w="1270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410" name="Text 16"/>
          <p:cNvSpPr/>
          <p:nvPr/>
        </p:nvSpPr>
        <p:spPr>
          <a:xfrm>
            <a:off x="9522720" y="1856160"/>
            <a:ext cx="18795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20" b="1" u="none" strike="noStrike">
                <a:solidFill>
                  <a:srgbClr val="0F172A"/>
                </a:solidFill>
                <a:effectLst/>
                <a:uFillTx/>
                <a:latin typeface="Aptos"/>
              </a:rPr>
              <a:t>Zuordnung prüfen</a:t>
            </a:r>
            <a:endParaRPr lang="de-DE" sz="920" b="0" u="none" strike="noStrike">
              <a:solidFill>
                <a:srgbClr val="000000"/>
              </a:solidFill>
              <a:effectLst/>
              <a:uFillTx/>
              <a:latin typeface="Arial"/>
            </a:endParaRPr>
          </a:p>
        </p:txBody>
      </p:sp>
      <p:sp>
        <p:nvSpPr>
          <p:cNvPr id="411" name="Shape 17"/>
          <p:cNvSpPr/>
          <p:nvPr/>
        </p:nvSpPr>
        <p:spPr>
          <a:xfrm>
            <a:off x="868680" y="3154680"/>
            <a:ext cx="3017160" cy="1371240"/>
          </a:xfrm>
          <a:prstGeom prst="roundRect">
            <a:avLst>
              <a:gd name="adj" fmla="val 5333"/>
            </a:avLst>
          </a:prstGeom>
          <a:solidFill>
            <a:srgbClr val="FFFFFF"/>
          </a:solidFill>
          <a:ln w="8890">
            <a:solidFill>
              <a:srgbClr val="CBD5E1">
                <a:alpha val="7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412" name="Text 18"/>
          <p:cNvSpPr/>
          <p:nvPr/>
        </p:nvSpPr>
        <p:spPr>
          <a:xfrm>
            <a:off x="1033200" y="3319200"/>
            <a:ext cx="41112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0" u="none" strike="noStrike">
                <a:solidFill>
                  <a:srgbClr val="F59E0B"/>
                </a:solidFill>
                <a:effectLst/>
                <a:uFillTx/>
                <a:latin typeface="Aptos"/>
              </a:rPr>
              <a:t>⚙</a:t>
            </a:r>
            <a:endParaRPr lang="de-DE" sz="1800" b="0" u="none" strike="noStrike">
              <a:solidFill>
                <a:srgbClr val="000000"/>
              </a:solidFill>
              <a:effectLst/>
              <a:uFillTx/>
              <a:latin typeface="Arial"/>
            </a:endParaRPr>
          </a:p>
        </p:txBody>
      </p:sp>
      <p:sp>
        <p:nvSpPr>
          <p:cNvPr id="413" name="Text 19"/>
          <p:cNvSpPr/>
          <p:nvPr/>
        </p:nvSpPr>
        <p:spPr>
          <a:xfrm>
            <a:off x="1527120" y="3337560"/>
            <a:ext cx="219420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1" u="none" strike="noStrike">
                <a:solidFill>
                  <a:srgbClr val="0F172A"/>
                </a:solidFill>
                <a:effectLst/>
                <a:uFillTx/>
                <a:latin typeface="Aptos"/>
              </a:rPr>
              <a:t>Migrationsskript</a:t>
            </a:r>
            <a:endParaRPr lang="de-DE" sz="1350" b="0" u="none" strike="noStrike">
              <a:solidFill>
                <a:srgbClr val="000000"/>
              </a:solidFill>
              <a:effectLst/>
              <a:uFillTx/>
              <a:latin typeface="Arial"/>
            </a:endParaRPr>
          </a:p>
        </p:txBody>
      </p:sp>
      <p:sp>
        <p:nvSpPr>
          <p:cNvPr id="414" name="Text 20"/>
          <p:cNvSpPr/>
          <p:nvPr/>
        </p:nvSpPr>
        <p:spPr>
          <a:xfrm>
            <a:off x="1069920" y="3813120"/>
            <a:ext cx="2614680" cy="548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960" b="0" u="none" strike="noStrike">
                <a:solidFill>
                  <a:srgbClr val="334155"/>
                </a:solidFill>
                <a:effectLst/>
                <a:uFillTx/>
                <a:latin typeface="Aptos"/>
              </a:rPr>
              <a:t>migrate_json_to_sql.py überführt Ziele und Lebensereignisse aus JSON in SQL-Tabellen.</a:t>
            </a:r>
            <a:endParaRPr lang="de-DE" sz="960" b="0" u="none" strike="noStrike">
              <a:solidFill>
                <a:srgbClr val="000000"/>
              </a:solidFill>
              <a:effectLst/>
              <a:uFillTx/>
              <a:latin typeface="Arial"/>
            </a:endParaRPr>
          </a:p>
        </p:txBody>
      </p:sp>
      <p:sp>
        <p:nvSpPr>
          <p:cNvPr id="415" name="Shape 21"/>
          <p:cNvSpPr/>
          <p:nvPr/>
        </p:nvSpPr>
        <p:spPr>
          <a:xfrm>
            <a:off x="4434840" y="3154680"/>
            <a:ext cx="3017160" cy="1371240"/>
          </a:xfrm>
          <a:prstGeom prst="roundRect">
            <a:avLst>
              <a:gd name="adj" fmla="val 5333"/>
            </a:avLst>
          </a:prstGeom>
          <a:solidFill>
            <a:srgbClr val="FFFFFF"/>
          </a:solidFill>
          <a:ln w="8890">
            <a:solidFill>
              <a:srgbClr val="CBD5E1">
                <a:alpha val="7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416" name="Text 22"/>
          <p:cNvSpPr/>
          <p:nvPr/>
        </p:nvSpPr>
        <p:spPr>
          <a:xfrm>
            <a:off x="4599360" y="3319200"/>
            <a:ext cx="41112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0" u="none" strike="noStrike">
                <a:solidFill>
                  <a:srgbClr val="2563EB"/>
                </a:solidFill>
                <a:effectLst/>
                <a:uFillTx/>
                <a:latin typeface="Aptos"/>
              </a:rPr>
              <a:t>✓</a:t>
            </a:r>
            <a:endParaRPr lang="de-DE" sz="1800" b="0" u="none" strike="noStrike">
              <a:solidFill>
                <a:srgbClr val="000000"/>
              </a:solidFill>
              <a:effectLst/>
              <a:uFillTx/>
              <a:latin typeface="Arial"/>
            </a:endParaRPr>
          </a:p>
        </p:txBody>
      </p:sp>
      <p:sp>
        <p:nvSpPr>
          <p:cNvPr id="417" name="Text 23"/>
          <p:cNvSpPr/>
          <p:nvPr/>
        </p:nvSpPr>
        <p:spPr>
          <a:xfrm>
            <a:off x="5093280" y="3337560"/>
            <a:ext cx="219420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1" u="none" strike="noStrike">
                <a:solidFill>
                  <a:srgbClr val="0F172A"/>
                </a:solidFill>
                <a:effectLst/>
                <a:uFillTx/>
                <a:latin typeface="Aptos"/>
              </a:rPr>
              <a:t>Kontrolle</a:t>
            </a:r>
            <a:endParaRPr lang="de-DE" sz="1350" b="0" u="none" strike="noStrike">
              <a:solidFill>
                <a:srgbClr val="000000"/>
              </a:solidFill>
              <a:effectLst/>
              <a:uFillTx/>
              <a:latin typeface="Arial"/>
            </a:endParaRPr>
          </a:p>
        </p:txBody>
      </p:sp>
      <p:sp>
        <p:nvSpPr>
          <p:cNvPr id="418" name="Text 24"/>
          <p:cNvSpPr/>
          <p:nvPr/>
        </p:nvSpPr>
        <p:spPr>
          <a:xfrm>
            <a:off x="4636080" y="3813120"/>
            <a:ext cx="2614680" cy="548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960" b="0" u="none" strike="noStrike">
                <a:solidFill>
                  <a:srgbClr val="334155"/>
                </a:solidFill>
                <a:effectLst/>
                <a:uFillTx/>
                <a:latin typeface="Aptos"/>
              </a:rPr>
              <a:t>Nach der Migration müssen Anzahl und Zuordnung der Datensätze geprüft werden.</a:t>
            </a:r>
            <a:endParaRPr lang="de-DE" sz="960" b="0" u="none" strike="noStrike">
              <a:solidFill>
                <a:srgbClr val="000000"/>
              </a:solidFill>
              <a:effectLst/>
              <a:uFillTx/>
              <a:latin typeface="Arial"/>
            </a:endParaRPr>
          </a:p>
        </p:txBody>
      </p:sp>
      <p:sp>
        <p:nvSpPr>
          <p:cNvPr id="419" name="Shape 25"/>
          <p:cNvSpPr/>
          <p:nvPr/>
        </p:nvSpPr>
        <p:spPr>
          <a:xfrm>
            <a:off x="8001000" y="3154680"/>
            <a:ext cx="3017160" cy="1371240"/>
          </a:xfrm>
          <a:prstGeom prst="roundRect">
            <a:avLst>
              <a:gd name="adj" fmla="val 5333"/>
            </a:avLst>
          </a:prstGeom>
          <a:solidFill>
            <a:srgbClr val="FFFFFF"/>
          </a:solidFill>
          <a:ln w="8890">
            <a:solidFill>
              <a:srgbClr val="CBD5E1">
                <a:alpha val="7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420" name="Text 26"/>
          <p:cNvSpPr/>
          <p:nvPr/>
        </p:nvSpPr>
        <p:spPr>
          <a:xfrm>
            <a:off x="8165520" y="3319200"/>
            <a:ext cx="41112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0" u="none" strike="noStrike">
                <a:solidFill>
                  <a:srgbClr val="E11D48"/>
                </a:solidFill>
                <a:effectLst/>
                <a:uFillTx/>
                <a:latin typeface="Aptos"/>
              </a:rPr>
              <a:t>!</a:t>
            </a:r>
            <a:endParaRPr lang="de-DE" sz="1800" b="0" u="none" strike="noStrike">
              <a:solidFill>
                <a:srgbClr val="000000"/>
              </a:solidFill>
              <a:effectLst/>
              <a:uFillTx/>
              <a:latin typeface="Arial"/>
            </a:endParaRPr>
          </a:p>
        </p:txBody>
      </p:sp>
      <p:sp>
        <p:nvSpPr>
          <p:cNvPr id="421" name="Text 27"/>
          <p:cNvSpPr/>
          <p:nvPr/>
        </p:nvSpPr>
        <p:spPr>
          <a:xfrm>
            <a:off x="8659440" y="3337560"/>
            <a:ext cx="219420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1" u="none" strike="noStrike">
                <a:solidFill>
                  <a:srgbClr val="0F172A"/>
                </a:solidFill>
                <a:effectLst/>
                <a:uFillTx/>
                <a:latin typeface="Aptos"/>
              </a:rPr>
              <a:t>Risiko</a:t>
            </a:r>
            <a:endParaRPr lang="de-DE" sz="1350" b="0" u="none" strike="noStrike">
              <a:solidFill>
                <a:srgbClr val="000000"/>
              </a:solidFill>
              <a:effectLst/>
              <a:uFillTx/>
              <a:latin typeface="Arial"/>
            </a:endParaRPr>
          </a:p>
        </p:txBody>
      </p:sp>
      <p:sp>
        <p:nvSpPr>
          <p:cNvPr id="422" name="Text 28"/>
          <p:cNvSpPr/>
          <p:nvPr/>
        </p:nvSpPr>
        <p:spPr>
          <a:xfrm>
            <a:off x="8202240" y="3813120"/>
            <a:ext cx="2614680" cy="5482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960" b="0" u="none" strike="noStrike">
                <a:solidFill>
                  <a:srgbClr val="334155"/>
                </a:solidFill>
                <a:effectLst/>
                <a:uFillTx/>
                <a:latin typeface="Aptos"/>
              </a:rPr>
              <a:t>Teilweise Migrationen können Inkonsistenzen erzeugen; produktiv wären Transaktionen wichtig.</a:t>
            </a:r>
            <a:endParaRPr lang="de-DE" sz="96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423" name="Shape 0"/>
          <p:cNvSpPr/>
          <p:nvPr/>
        </p:nvSpPr>
        <p:spPr>
          <a:xfrm>
            <a:off x="0" y="0"/>
            <a:ext cx="12191400" cy="6857640"/>
          </a:xfrm>
          <a:prstGeom prst="rect">
            <a:avLst/>
          </a:prstGeom>
          <a:solidFill>
            <a:srgbClr val="F8FAFC"/>
          </a:solidFill>
          <a:ln w="12700">
            <a:solidFill>
              <a:srgbClr val="F8FAFC">
                <a:alpha val="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424" name="Shape 1"/>
          <p:cNvSpPr/>
          <p:nvPr/>
        </p:nvSpPr>
        <p:spPr>
          <a:xfrm>
            <a:off x="0" y="0"/>
            <a:ext cx="109440" cy="6857640"/>
          </a:xfrm>
          <a:prstGeom prst="rect">
            <a:avLst/>
          </a:prstGeom>
          <a:solidFill>
            <a:srgbClr val="10B981"/>
          </a:solidFill>
          <a:ln w="12700">
            <a:solidFill>
              <a:srgbClr val="10B98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425" name="Text 2"/>
          <p:cNvSpPr/>
          <p:nvPr/>
        </p:nvSpPr>
        <p:spPr>
          <a:xfrm>
            <a:off x="594360" y="384120"/>
            <a:ext cx="905220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400" b="1" u="none" strike="noStrike">
                <a:solidFill>
                  <a:srgbClr val="0F172A"/>
                </a:solidFill>
                <a:effectLst/>
                <a:uFillTx/>
                <a:latin typeface="Aptos Display"/>
                <a:ea typeface="Aptos Display"/>
              </a:rPr>
              <a:t>Datenbankdesign: Bewertung</a:t>
            </a:r>
            <a:endParaRPr lang="de-DE" sz="2400" b="0" u="none" strike="noStrike">
              <a:solidFill>
                <a:srgbClr val="000000"/>
              </a:solidFill>
              <a:effectLst/>
              <a:uFillTx/>
              <a:latin typeface="Arial"/>
            </a:endParaRPr>
          </a:p>
        </p:txBody>
      </p:sp>
      <p:sp>
        <p:nvSpPr>
          <p:cNvPr id="426" name="Text 3"/>
          <p:cNvSpPr/>
          <p:nvPr/>
        </p:nvSpPr>
        <p:spPr>
          <a:xfrm>
            <a:off x="612720" y="850320"/>
            <a:ext cx="960084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64748B"/>
                </a:solidFill>
                <a:effectLst/>
                <a:uFillTx/>
                <a:latin typeface="Aptos"/>
              </a:rPr>
              <a:t>Was durch die Umstellung gewonnen wurde</a:t>
            </a:r>
            <a:endParaRPr lang="de-DE" sz="1200" b="0" u="none" strike="noStrike">
              <a:solidFill>
                <a:srgbClr val="000000"/>
              </a:solidFill>
              <a:effectLst/>
              <a:uFillTx/>
              <a:latin typeface="Arial"/>
            </a:endParaRPr>
          </a:p>
        </p:txBody>
      </p:sp>
      <p:sp>
        <p:nvSpPr>
          <p:cNvPr id="427" name="Shape 4"/>
          <p:cNvSpPr/>
          <p:nvPr/>
        </p:nvSpPr>
        <p:spPr>
          <a:xfrm>
            <a:off x="502920" y="6473880"/>
            <a:ext cx="11201400" cy="360"/>
          </a:xfrm>
          <a:prstGeom prst="line">
            <a:avLst/>
          </a:prstGeom>
          <a:ln w="7620">
            <a:solidFill>
              <a:srgbClr val="CBD5E1">
                <a:alpha val="70000"/>
              </a:srgbClr>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de-DE" sz="1800" b="0" u="none" strike="noStrike">
              <a:solidFill>
                <a:srgbClr val="000000"/>
              </a:solidFill>
              <a:effectLst/>
              <a:uFillTx/>
              <a:latin typeface="Arial"/>
            </a:endParaRPr>
          </a:p>
        </p:txBody>
      </p:sp>
      <p:sp>
        <p:nvSpPr>
          <p:cNvPr id="428" name="Text 5"/>
          <p:cNvSpPr/>
          <p:nvPr/>
        </p:nvSpPr>
        <p:spPr>
          <a:xfrm>
            <a:off x="567000" y="6519600"/>
            <a:ext cx="53031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750" b="0" u="none" strike="noStrike">
                <a:solidFill>
                  <a:srgbClr val="64748B"/>
                </a:solidFill>
                <a:effectLst/>
                <a:uFillTx/>
                <a:latin typeface="Aptos"/>
                <a:ea typeface="Aptos"/>
              </a:rPr>
              <a:t>Teil 3 · Datenbank &amp; Migration</a:t>
            </a:r>
            <a:endParaRPr lang="de-DE" sz="750" b="0" u="none" strike="noStrike">
              <a:solidFill>
                <a:srgbClr val="000000"/>
              </a:solidFill>
              <a:effectLst/>
              <a:uFillTx/>
              <a:latin typeface="Arial"/>
            </a:endParaRPr>
          </a:p>
        </p:txBody>
      </p:sp>
      <p:sp>
        <p:nvSpPr>
          <p:cNvPr id="429" name="Text 6"/>
          <p:cNvSpPr/>
          <p:nvPr/>
        </p:nvSpPr>
        <p:spPr>
          <a:xfrm>
            <a:off x="11201400" y="6519600"/>
            <a:ext cx="45684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64748B"/>
                </a:solidFill>
                <a:effectLst/>
                <a:uFillTx/>
                <a:latin typeface="Aptos"/>
                <a:ea typeface="Aptos"/>
              </a:rPr>
              <a:t>22</a:t>
            </a:r>
            <a:endParaRPr lang="de-DE" sz="750" b="0" u="none" strike="noStrike">
              <a:solidFill>
                <a:srgbClr val="000000"/>
              </a:solidFill>
              <a:effectLst/>
              <a:uFillTx/>
              <a:latin typeface="Arial"/>
            </a:endParaRPr>
          </a:p>
        </p:txBody>
      </p:sp>
      <p:sp>
        <p:nvSpPr>
          <p:cNvPr id="430" name="Text 7"/>
          <p:cNvSpPr/>
          <p:nvPr/>
        </p:nvSpPr>
        <p:spPr>
          <a:xfrm>
            <a:off x="914400" y="1600200"/>
            <a:ext cx="100548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4000" b="1" u="none" strike="noStrike">
                <a:solidFill>
                  <a:srgbClr val="10B981"/>
                </a:solidFill>
                <a:effectLst/>
                <a:uFillTx/>
                <a:latin typeface="Aptos"/>
              </a:rPr>
              <a:t>1</a:t>
            </a:r>
            <a:endParaRPr lang="de-DE" sz="4000" b="0" u="none" strike="noStrike">
              <a:solidFill>
                <a:srgbClr val="000000"/>
              </a:solidFill>
              <a:effectLst/>
              <a:uFillTx/>
              <a:latin typeface="Arial"/>
            </a:endParaRPr>
          </a:p>
        </p:txBody>
      </p:sp>
      <p:sp>
        <p:nvSpPr>
          <p:cNvPr id="431" name="Text 8"/>
          <p:cNvSpPr/>
          <p:nvPr/>
        </p:nvSpPr>
        <p:spPr>
          <a:xfrm>
            <a:off x="777240" y="2313360"/>
            <a:ext cx="127980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50" b="0" u="none" strike="noStrike">
                <a:solidFill>
                  <a:srgbClr val="334155"/>
                </a:solidFill>
                <a:effectLst/>
                <a:uFillTx/>
                <a:latin typeface="Aptos"/>
              </a:rPr>
              <a:t>klare Zuordnung</a:t>
            </a:r>
            <a:endParaRPr lang="de-DE" sz="950" b="0" u="none" strike="noStrike">
              <a:solidFill>
                <a:srgbClr val="000000"/>
              </a:solidFill>
              <a:effectLst/>
              <a:uFillTx/>
              <a:latin typeface="Arial"/>
            </a:endParaRPr>
          </a:p>
        </p:txBody>
      </p:sp>
      <p:sp>
        <p:nvSpPr>
          <p:cNvPr id="432" name="Text 9"/>
          <p:cNvSpPr/>
          <p:nvPr/>
        </p:nvSpPr>
        <p:spPr>
          <a:xfrm>
            <a:off x="2926080" y="1600200"/>
            <a:ext cx="100548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4000" b="1" u="none" strike="noStrike">
                <a:solidFill>
                  <a:srgbClr val="2563EB"/>
                </a:solidFill>
                <a:effectLst/>
                <a:uFillTx/>
                <a:latin typeface="Aptos"/>
              </a:rPr>
              <a:t>2</a:t>
            </a:r>
            <a:endParaRPr lang="de-DE" sz="4000" b="0" u="none" strike="noStrike">
              <a:solidFill>
                <a:srgbClr val="000000"/>
              </a:solidFill>
              <a:effectLst/>
              <a:uFillTx/>
              <a:latin typeface="Arial"/>
            </a:endParaRPr>
          </a:p>
        </p:txBody>
      </p:sp>
      <p:sp>
        <p:nvSpPr>
          <p:cNvPr id="433" name="Text 10"/>
          <p:cNvSpPr/>
          <p:nvPr/>
        </p:nvSpPr>
        <p:spPr>
          <a:xfrm>
            <a:off x="2788920" y="2313360"/>
            <a:ext cx="127980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50" b="0" u="none" strike="noStrike">
                <a:solidFill>
                  <a:srgbClr val="334155"/>
                </a:solidFill>
                <a:effectLst/>
                <a:uFillTx/>
                <a:latin typeface="Aptos"/>
              </a:rPr>
              <a:t>bessere Abfragen</a:t>
            </a:r>
            <a:endParaRPr lang="de-DE" sz="950" b="0" u="none" strike="noStrike">
              <a:solidFill>
                <a:srgbClr val="000000"/>
              </a:solidFill>
              <a:effectLst/>
              <a:uFillTx/>
              <a:latin typeface="Arial"/>
            </a:endParaRPr>
          </a:p>
        </p:txBody>
      </p:sp>
      <p:sp>
        <p:nvSpPr>
          <p:cNvPr id="434" name="Text 11"/>
          <p:cNvSpPr/>
          <p:nvPr/>
        </p:nvSpPr>
        <p:spPr>
          <a:xfrm>
            <a:off x="4937760" y="1600200"/>
            <a:ext cx="1005480" cy="685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4000" b="1" u="none" strike="noStrike">
                <a:solidFill>
                  <a:srgbClr val="F59E0B"/>
                </a:solidFill>
                <a:effectLst/>
                <a:uFillTx/>
                <a:latin typeface="Aptos"/>
              </a:rPr>
              <a:t>3</a:t>
            </a:r>
            <a:endParaRPr lang="de-DE" sz="4000" b="0" u="none" strike="noStrike">
              <a:solidFill>
                <a:srgbClr val="000000"/>
              </a:solidFill>
              <a:effectLst/>
              <a:uFillTx/>
              <a:latin typeface="Arial"/>
            </a:endParaRPr>
          </a:p>
        </p:txBody>
      </p:sp>
      <p:sp>
        <p:nvSpPr>
          <p:cNvPr id="435" name="Text 12"/>
          <p:cNvSpPr/>
          <p:nvPr/>
        </p:nvSpPr>
        <p:spPr>
          <a:xfrm>
            <a:off x="4800600" y="2313360"/>
            <a:ext cx="127980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50" b="0" u="none" strike="noStrike">
                <a:solidFill>
                  <a:srgbClr val="334155"/>
                </a:solidFill>
                <a:effectLst/>
                <a:uFillTx/>
                <a:latin typeface="Aptos"/>
              </a:rPr>
              <a:t>saubere CRUDs</a:t>
            </a:r>
            <a:endParaRPr lang="de-DE" sz="950" b="0" u="none" strike="noStrike">
              <a:solidFill>
                <a:srgbClr val="000000"/>
              </a:solidFill>
              <a:effectLst/>
              <a:uFillTx/>
              <a:latin typeface="Arial"/>
            </a:endParaRPr>
          </a:p>
        </p:txBody>
      </p:sp>
      <p:sp>
        <p:nvSpPr>
          <p:cNvPr id="436" name="Shape 13"/>
          <p:cNvSpPr/>
          <p:nvPr/>
        </p:nvSpPr>
        <p:spPr>
          <a:xfrm>
            <a:off x="7223760" y="1463040"/>
            <a:ext cx="3474360" cy="1645560"/>
          </a:xfrm>
          <a:prstGeom prst="roundRect">
            <a:avLst>
              <a:gd name="adj" fmla="val 4444"/>
            </a:avLst>
          </a:prstGeom>
          <a:solidFill>
            <a:srgbClr val="FFFFFF"/>
          </a:solidFill>
          <a:ln w="8890">
            <a:solidFill>
              <a:srgbClr val="CBD5E1">
                <a:alpha val="7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437" name="Text 14"/>
          <p:cNvSpPr/>
          <p:nvPr/>
        </p:nvSpPr>
        <p:spPr>
          <a:xfrm>
            <a:off x="7388280" y="1627560"/>
            <a:ext cx="41112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0" u="none" strike="noStrike">
                <a:solidFill>
                  <a:srgbClr val="10B981"/>
                </a:solidFill>
                <a:effectLst/>
                <a:uFillTx/>
                <a:latin typeface="Aptos"/>
              </a:rPr>
              <a:t>↗</a:t>
            </a:r>
            <a:endParaRPr lang="de-DE" sz="1800" b="0" u="none" strike="noStrike">
              <a:solidFill>
                <a:srgbClr val="000000"/>
              </a:solidFill>
              <a:effectLst/>
              <a:uFillTx/>
              <a:latin typeface="Arial"/>
            </a:endParaRPr>
          </a:p>
        </p:txBody>
      </p:sp>
      <p:sp>
        <p:nvSpPr>
          <p:cNvPr id="438" name="Text 15"/>
          <p:cNvSpPr/>
          <p:nvPr/>
        </p:nvSpPr>
        <p:spPr>
          <a:xfrm>
            <a:off x="7882200" y="1645920"/>
            <a:ext cx="265140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1" u="none" strike="noStrike">
                <a:solidFill>
                  <a:srgbClr val="0F172A"/>
                </a:solidFill>
                <a:effectLst/>
                <a:uFillTx/>
                <a:latin typeface="Aptos"/>
              </a:rPr>
              <a:t>Technischer Gewinn</a:t>
            </a:r>
            <a:endParaRPr lang="de-DE" sz="1350" b="0" u="none" strike="noStrike">
              <a:solidFill>
                <a:srgbClr val="000000"/>
              </a:solidFill>
              <a:effectLst/>
              <a:uFillTx/>
              <a:latin typeface="Arial"/>
            </a:endParaRPr>
          </a:p>
        </p:txBody>
      </p:sp>
      <p:sp>
        <p:nvSpPr>
          <p:cNvPr id="439" name="Text 16"/>
          <p:cNvSpPr/>
          <p:nvPr/>
        </p:nvSpPr>
        <p:spPr>
          <a:xfrm>
            <a:off x="7425000" y="2121480"/>
            <a:ext cx="3071880" cy="822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960" b="0" u="none" strike="noStrike">
                <a:solidFill>
                  <a:srgbClr val="334155"/>
                </a:solidFill>
                <a:effectLst/>
                <a:uFillTx/>
                <a:latin typeface="Aptos"/>
              </a:rPr>
              <a:t>Ziele, Ereignisse und Profile können getrennt verändert, validiert und erweitert werden.</a:t>
            </a:r>
            <a:endParaRPr lang="de-DE" sz="960" b="0" u="none" strike="noStrike">
              <a:solidFill>
                <a:srgbClr val="000000"/>
              </a:solidFill>
              <a:effectLst/>
              <a:uFillTx/>
              <a:latin typeface="Arial"/>
            </a:endParaRPr>
          </a:p>
        </p:txBody>
      </p:sp>
      <p:sp>
        <p:nvSpPr>
          <p:cNvPr id="440" name="Shape 17"/>
          <p:cNvSpPr/>
          <p:nvPr/>
        </p:nvSpPr>
        <p:spPr>
          <a:xfrm>
            <a:off x="868680" y="3977640"/>
            <a:ext cx="4480200" cy="1234080"/>
          </a:xfrm>
          <a:prstGeom prst="roundRect">
            <a:avLst>
              <a:gd name="adj" fmla="val 5926"/>
            </a:avLst>
          </a:prstGeom>
          <a:solidFill>
            <a:srgbClr val="FFFFFF"/>
          </a:solidFill>
          <a:ln w="8890">
            <a:solidFill>
              <a:srgbClr val="CBD5E1">
                <a:alpha val="7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441" name="Text 18"/>
          <p:cNvSpPr/>
          <p:nvPr/>
        </p:nvSpPr>
        <p:spPr>
          <a:xfrm>
            <a:off x="1033200" y="4142160"/>
            <a:ext cx="41112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0" u="none" strike="noStrike">
                <a:solidFill>
                  <a:srgbClr val="334155"/>
                </a:solidFill>
                <a:effectLst/>
                <a:uFillTx/>
                <a:latin typeface="Aptos"/>
              </a:rPr>
              <a:t>…</a:t>
            </a:r>
            <a:endParaRPr lang="de-DE" sz="1800" b="0" u="none" strike="noStrike">
              <a:solidFill>
                <a:srgbClr val="000000"/>
              </a:solidFill>
              <a:effectLst/>
              <a:uFillTx/>
              <a:latin typeface="Arial"/>
            </a:endParaRPr>
          </a:p>
        </p:txBody>
      </p:sp>
      <p:sp>
        <p:nvSpPr>
          <p:cNvPr id="442" name="Text 19"/>
          <p:cNvSpPr/>
          <p:nvPr/>
        </p:nvSpPr>
        <p:spPr>
          <a:xfrm>
            <a:off x="1527120" y="4160520"/>
            <a:ext cx="36572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1" u="none" strike="noStrike">
                <a:solidFill>
                  <a:srgbClr val="0F172A"/>
                </a:solidFill>
                <a:effectLst/>
                <a:uFillTx/>
                <a:latin typeface="Aptos"/>
              </a:rPr>
              <a:t>Offener Punkt</a:t>
            </a:r>
            <a:endParaRPr lang="de-DE" sz="1350" b="0" u="none" strike="noStrike">
              <a:solidFill>
                <a:srgbClr val="000000"/>
              </a:solidFill>
              <a:effectLst/>
              <a:uFillTx/>
              <a:latin typeface="Arial"/>
            </a:endParaRPr>
          </a:p>
        </p:txBody>
      </p:sp>
      <p:sp>
        <p:nvSpPr>
          <p:cNvPr id="443" name="Text 20"/>
          <p:cNvSpPr/>
          <p:nvPr/>
        </p:nvSpPr>
        <p:spPr>
          <a:xfrm>
            <a:off x="1069920" y="4636080"/>
            <a:ext cx="4077720" cy="411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lnSpcReduction="9999"/>
          </a:bodyPr>
          <a:lstStyle/>
          <a:p>
            <a:pPr defTabSz="914400">
              <a:lnSpc>
                <a:spcPct val="100000"/>
              </a:lnSpc>
              <a:tabLst>
                <a:tab pos="0" algn="l"/>
              </a:tabLst>
            </a:pPr>
            <a:r>
              <a:rPr lang="en-US" sz="960" b="0" u="none" strike="noStrike">
                <a:solidFill>
                  <a:srgbClr val="334155"/>
                </a:solidFill>
                <a:effectLst/>
                <a:uFillTx/>
                <a:latin typeface="Aptos"/>
              </a:rPr>
              <a:t>Die Datenbank könnte mit historischen Daten erweitert werden, um z. B. ein früheres Gehalt oder einen früheren Kontostand speichern zu können.</a:t>
            </a:r>
            <a:endParaRPr lang="de-DE" sz="960" b="0" u="none" strike="noStrike">
              <a:solidFill>
                <a:srgbClr val="000000"/>
              </a:solidFill>
              <a:effectLst/>
              <a:uFillTx/>
              <a:latin typeface="Arial"/>
            </a:endParaRPr>
          </a:p>
        </p:txBody>
      </p:sp>
      <p:sp>
        <p:nvSpPr>
          <p:cNvPr id="444" name="Shape 21"/>
          <p:cNvSpPr/>
          <p:nvPr/>
        </p:nvSpPr>
        <p:spPr>
          <a:xfrm>
            <a:off x="5806440" y="3977640"/>
            <a:ext cx="4480200" cy="1234080"/>
          </a:xfrm>
          <a:prstGeom prst="roundRect">
            <a:avLst>
              <a:gd name="adj" fmla="val 5926"/>
            </a:avLst>
          </a:prstGeom>
          <a:solidFill>
            <a:srgbClr val="FFFFFF"/>
          </a:solidFill>
          <a:ln w="8890">
            <a:solidFill>
              <a:srgbClr val="CBD5E1">
                <a:alpha val="70000"/>
              </a:srgbClr>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rgbClr val="000000"/>
              </a:solidFill>
              <a:effectLst/>
              <a:uFillTx/>
              <a:latin typeface="Arial"/>
            </a:endParaRPr>
          </a:p>
        </p:txBody>
      </p:sp>
      <p:sp>
        <p:nvSpPr>
          <p:cNvPr id="445" name="Text 22"/>
          <p:cNvSpPr/>
          <p:nvPr/>
        </p:nvSpPr>
        <p:spPr>
          <a:xfrm>
            <a:off x="5970960" y="4142160"/>
            <a:ext cx="41112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0" u="none" strike="noStrike">
                <a:solidFill>
                  <a:srgbClr val="2563EB"/>
                </a:solidFill>
                <a:effectLst/>
                <a:uFillTx/>
                <a:latin typeface="Aptos"/>
              </a:rPr>
              <a:t>→</a:t>
            </a:r>
            <a:endParaRPr lang="de-DE" sz="1800" b="0" u="none" strike="noStrike">
              <a:solidFill>
                <a:srgbClr val="000000"/>
              </a:solidFill>
              <a:effectLst/>
              <a:uFillTx/>
              <a:latin typeface="Arial"/>
            </a:endParaRPr>
          </a:p>
        </p:txBody>
      </p:sp>
      <p:sp>
        <p:nvSpPr>
          <p:cNvPr id="446" name="Text 23"/>
          <p:cNvSpPr/>
          <p:nvPr/>
        </p:nvSpPr>
        <p:spPr>
          <a:xfrm>
            <a:off x="6464880" y="4160520"/>
            <a:ext cx="36572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50" b="1" u="none" strike="noStrike">
                <a:solidFill>
                  <a:srgbClr val="0F172A"/>
                </a:solidFill>
                <a:effectLst/>
                <a:uFillTx/>
                <a:latin typeface="Aptos"/>
              </a:rPr>
              <a:t>Übergabe an Frontend</a:t>
            </a:r>
            <a:endParaRPr lang="de-DE" sz="1350" b="0" u="none" strike="noStrike">
              <a:solidFill>
                <a:srgbClr val="000000"/>
              </a:solidFill>
              <a:effectLst/>
              <a:uFillTx/>
              <a:latin typeface="Arial"/>
            </a:endParaRPr>
          </a:p>
        </p:txBody>
      </p:sp>
      <p:sp>
        <p:nvSpPr>
          <p:cNvPr id="447" name="Text 24"/>
          <p:cNvSpPr/>
          <p:nvPr/>
        </p:nvSpPr>
        <p:spPr>
          <a:xfrm>
            <a:off x="6007680" y="4636080"/>
            <a:ext cx="4077720" cy="411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960" b="0" u="none" strike="noStrike">
                <a:solidFill>
                  <a:srgbClr val="334155"/>
                </a:solidFill>
                <a:effectLst/>
                <a:uFillTx/>
                <a:latin typeface="Aptos"/>
              </a:rPr>
              <a:t>Die Datenbankstruktur bestimmt, welche Funktionen die Oberfläche gezielt anbieten kann.</a:t>
            </a:r>
            <a:endParaRPr lang="de-DE" sz="960" b="0" u="none" strike="noStrike">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387</Words>
  <Application>Microsoft Office PowerPoint</Application>
  <PresentationFormat>Breitbild</PresentationFormat>
  <Paragraphs>88</Paragraphs>
  <Slides>6</Slides>
  <Notes>5</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6</vt:i4>
      </vt:variant>
    </vt:vector>
  </HeadingPairs>
  <TitlesOfParts>
    <vt:vector size="13" baseType="lpstr">
      <vt:lpstr>Aptos</vt:lpstr>
      <vt:lpstr>Aptos Display</vt:lpstr>
      <vt:lpstr>Arial</vt:lpstr>
      <vt:lpstr>Symbol</vt:lpstr>
      <vt:lpstr>Times New Roman</vt:lpstr>
      <vt:lpstr>Wingdings</vt:lpstr>
      <vt:lpstr>Office Theme</vt:lpstr>
      <vt:lpstr>PowerPoint-Präsentation</vt:lpstr>
      <vt:lpstr>PowerPoint-Präsentation</vt:lpstr>
      <vt:lpstr>PowerPoint-Präsentation</vt:lpstr>
      <vt:lpstr>PowerPoint-Präsentation</vt:lpstr>
      <vt:lpstr>PowerPoint-Präsentation</vt:lpstr>
      <vt:lpstr>PowerPoint-Präsentation</vt:lpstr>
    </vt:vector>
  </TitlesOfParts>
  <Company>Hochschulprojekt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Lebens-Finanzplaner – Projektpräsentation</dc:title>
  <dc:subject>Präsentation Lebens-Finanzplaner</dc:subject>
  <dc:creator>Lebens-Finanzplaner Projektteam</dc:creator>
  <dc:description/>
  <cp:lastModifiedBy>Unzner, Grit</cp:lastModifiedBy>
  <cp:revision>23</cp:revision>
  <dcterms:created xsi:type="dcterms:W3CDTF">2026-07-13T13:39:48Z</dcterms:created>
  <dcterms:modified xsi:type="dcterms:W3CDTF">2026-07-20T14:48:17Z</dcterms:modified>
  <dc:language>de-DE</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0x010100C3574396489F2A408CA3654B3BFD8422</vt:lpwstr>
  </property>
  <property fmtid="{D5CDD505-2E9C-101B-9397-08002B2CF9AE}" pid="3" name="MediaServiceImageTags">
    <vt:lpwstr/>
  </property>
  <property fmtid="{D5CDD505-2E9C-101B-9397-08002B2CF9AE}" pid="4" name="Notes">
    <vt:i4>39</vt:i4>
  </property>
  <property fmtid="{D5CDD505-2E9C-101B-9397-08002B2CF9AE}" pid="5" name="PresentationFormat">
    <vt:lpwstr>Breitbild</vt:lpwstr>
  </property>
  <property fmtid="{D5CDD505-2E9C-101B-9397-08002B2CF9AE}" pid="6" name="Slides">
    <vt:i4>40</vt:i4>
  </property>
</Properties>
</file>