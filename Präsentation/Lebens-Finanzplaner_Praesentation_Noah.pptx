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65" r:id="rId5"/>
    <p:sldId id="266" r:id="rId6"/>
    <p:sldId id="267" r:id="rId7"/>
    <p:sldId id="268" r:id="rId8"/>
    <p:sldId id="298" r:id="rId9"/>
    <p:sldId id="269" r:id="rId10"/>
    <p:sldId id="270" r:id="rId11"/>
    <p:sldId id="297" r:id="rId12"/>
    <p:sldId id="271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A4F91B-700F-F20B-0E99-94333FE7839E}" v="4" dt="2026-07-13T15:59:34.3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65"/>
    <p:restoredTop sz="94610"/>
  </p:normalViewPr>
  <p:slideViewPr>
    <p:cSldViewPr snapToGrid="0" snapToObjects="1">
      <p:cViewPr varScale="1">
        <p:scale>
          <a:sx n="227" d="100"/>
          <a:sy n="2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it Unzner" userId="S::grit.unzner@iu-study.org::eb886a79-0b3d-4215-b4c4-62d94d0eb27e" providerId="AD" clId="Web-{EBA4F91B-700F-F20B-0E99-94333FE7839E}"/>
    <pc:docChg chg="modSld">
      <pc:chgData name="Grit Unzner" userId="S::grit.unzner@iu-study.org::eb886a79-0b3d-4215-b4c4-62d94d0eb27e" providerId="AD" clId="Web-{EBA4F91B-700F-F20B-0E99-94333FE7839E}" dt="2026-07-13T15:59:33.959" v="1"/>
      <pc:docMkLst>
        <pc:docMk/>
      </pc:docMkLst>
      <pc:sldChg chg="addSp delSp modSp">
        <pc:chgData name="Grit Unzner" userId="S::grit.unzner@iu-study.org::eb886a79-0b3d-4215-b4c4-62d94d0eb27e" providerId="AD" clId="Web-{EBA4F91B-700F-F20B-0E99-94333FE7839E}" dt="2026-07-13T15:59:33.959" v="1"/>
        <pc:sldMkLst>
          <pc:docMk/>
          <pc:sldMk cId="1524982618" sldId="295"/>
        </pc:sldMkLst>
        <pc:picChg chg="add mod">
          <ac:chgData name="Grit Unzner" userId="S::grit.unzner@iu-study.org::eb886a79-0b3d-4215-b4c4-62d94d0eb27e" providerId="AD" clId="Web-{EBA4F91B-700F-F20B-0E99-94333FE7839E}" dt="2026-07-13T15:59:33.959" v="1"/>
          <ac:picMkLst>
            <pc:docMk/>
            <pc:sldMk cId="1524982618" sldId="295"/>
            <ac:picMk id="2" creationId="{E4093DAA-A61E-0A08-CFAC-785083B908EF}"/>
          </ac:picMkLst>
        </pc:picChg>
        <pc:picChg chg="del">
          <ac:chgData name="Grit Unzner" userId="S::grit.unzner@iu-study.org::eb886a79-0b3d-4215-b4c4-62d94d0eb27e" providerId="AD" clId="Web-{EBA4F91B-700F-F20B-0E99-94333FE7839E}" dt="2026-07-13T15:59:15.364" v="0"/>
          <ac:picMkLst>
            <pc:docMk/>
            <pc:sldMk cId="1524982618" sldId="295"/>
            <ac:picMk id="9" creationId="{FAC612F5-3D9A-BC39-54A0-AC4F19ABB2F4}"/>
          </ac:picMkLst>
        </pc:picChg>
      </pc:sldChg>
    </pc:docChg>
  </pc:docChgLst>
  <pc:docChgLst>
    <pc:chgData clId="Web-{EBA4F91B-700F-F20B-0E99-94333FE7839E}"/>
    <pc:docChg chg="addSld">
      <pc:chgData name="" userId="" providerId="" clId="Web-{EBA4F91B-700F-F20B-0E99-94333FE7839E}" dt="2026-07-13T15:38:58.566" v="0"/>
      <pc:docMkLst>
        <pc:docMk/>
      </pc:docMkLst>
      <pc:sldChg chg="add">
        <pc:chgData name="" userId="" providerId="" clId="Web-{EBA4F91B-700F-F20B-0E99-94333FE7839E}" dt="2026-07-13T15:38:58.566" v="0"/>
        <pc:sldMkLst>
          <pc:docMk/>
          <pc:sldMk cId="1524982618" sldId="2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193F97-08C5-42B2-9CF9-1A3B97CFDE7B}" type="datetimeFigureOut">
              <a:t>23.07.26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DFF7C5-2E21-4417-8606-0071A5D16CB9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6697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Technologieblock: nicht jede Library nennen, sondern Architekturentscheidungen erklären.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in einfacher Sprache erklären. Schwerpunkt: Warum diese Bausteine zusammenpassen.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Architekturdiagramm erklären: Frontend spricht Backend an, Backend spricht Datenbank und E-Mail-Service 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Betonen, dass diese Struktur Wartbarkeit verbessert: Änderungen bleiben lokal in einem Modul.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92794-ABD2-AB2B-2306-C06C27CD8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2E6375-6284-FA9E-8844-88A1D1FEC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35A3DF-5A3C-C1D8-6B20-56DBD85ACA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Betonen, dass diese Struktur Wartbarkeit verbessert: Änderungen bleiben lokal in einem Modul.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D54F2-8021-16AD-E635-180ADCDA9D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58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CORS einfach erklären: wegen unterschiedlicher Ports in der Entwicklung notwendig.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Befehl nennen: docker compose up --build. Vorteil: weniger Setup-Probleme im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Überleitung an Person 3: Die Architektur wird besonders beim Datenbankwechsel relevant.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145855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Teil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Technologie &amp; Architektur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1762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Noah Roosen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35440" y="118872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dirty="0">
                <a:solidFill>
                  <a:srgbClr val="2563EB"/>
                </a:solidFill>
              </a:rPr>
              <a:t>🏗</a:t>
            </a:r>
            <a:endParaRPr lang="en-US" sz="5800" dirty="0"/>
          </a:p>
        </p:txBody>
      </p:sp>
      <p:sp>
        <p:nvSpPr>
          <p:cNvPr id="8" name="Shape 6"/>
          <p:cNvSpPr/>
          <p:nvPr/>
        </p:nvSpPr>
        <p:spPr>
          <a:xfrm>
            <a:off x="713232" y="2816352"/>
            <a:ext cx="106070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49808" y="31272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Ziel dieses Abschnitts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3474720"/>
            <a:ext cx="7498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Wie ist das System technisch aufgebaut und wie kommunizieren die Komponenten miteinander?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7396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Technologie-Stack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850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Frontend, Backend, Datenbank und Laufzeitumgebung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66928" y="65196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Teil 2 · Technologie &amp; Architektur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31520" y="1417320"/>
            <a:ext cx="2560320" cy="35204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896112" y="15819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63EB"/>
                </a:solidFill>
              </a:rPr>
              <a:t>⚛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89888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React + Vite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32688" y="2075688"/>
            <a:ext cx="2157984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Komponentenbasierte Oberfläche, schneller Entwicklungsserver auf Port 5173.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3611880" y="1417320"/>
            <a:ext cx="2560320" cy="35204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3776472" y="15819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</a:rPr>
              <a:t>🐍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270248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Flask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813048" y="2075688"/>
            <a:ext cx="2157984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Leichtgewichtiges Python-Backend mit modularen Blueprints.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6492240" y="1417320"/>
            <a:ext cx="2560320" cy="35204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656832" y="15819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9E0B"/>
                </a:solidFill>
              </a:rPr>
              <a:t>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50608" y="1600200"/>
            <a:ext cx="1808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Supabase/PostgreSQL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93408" y="2075688"/>
            <a:ext cx="2157984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Relationale Speicherung der Benutzer- und Finanzdaten.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9372600" y="1417320"/>
            <a:ext cx="2103120" cy="35204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9537192" y="15819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34155"/>
                </a:solidFill>
              </a:rPr>
              <a:t>🐳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30968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Docker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573768" y="2075688"/>
            <a:ext cx="1700784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Reproduzierbarer Start von Frontend und Backend.</a:t>
            </a:r>
            <a:endParaRPr lang="en-US" sz="9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Systemarchitektur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850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Dreischichtige Client-Server-Struktur · gehostet auf Render und Supabase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66928" y="65196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Teil 2 · Technologie &amp; Architektur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91840" y="2743200"/>
            <a:ext cx="164592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6629400" y="2743200"/>
            <a:ext cx="164592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5852160" y="3657600"/>
            <a:ext cx="0" cy="77724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685800" y="201168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850392" y="21762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63EB"/>
                </a:solidFill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44168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React-Frontend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86968" y="2670048"/>
            <a:ext cx="215798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Darstellung, Formulare, Navigation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4617720" y="201168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782312" y="21762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76088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Flask-API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18888" y="2670048"/>
            <a:ext cx="215798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Routen, Validierung, Services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8549640" y="201168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8714232" y="21762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9E0B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08008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PostgreSQL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750808" y="2670048"/>
            <a:ext cx="215798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Persistente Datenhaltung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4434840" y="457200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4599432" y="4736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11D48"/>
                </a:solidFill>
              </a:rPr>
              <a:t>✉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093208" y="4754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E-Mail-Service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636008" y="5230368"/>
            <a:ext cx="252374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Passwort-Reset-Link versenden</a:t>
            </a:r>
            <a:endParaRPr lang="en-US" sz="9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Backend-Modularisierung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850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Flask-Blueprints trennen fachliche Bereiche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66928" y="65196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Teil 2 · Technologie &amp; Architektur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31520" y="1325880"/>
            <a:ext cx="4663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932688" y="150876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auth_routes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32688" y="1984248"/>
            <a:ext cx="42611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Registrierung, Login, Logout, Reset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6126480" y="1325880"/>
            <a:ext cx="4663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327648" y="150876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financial_profile_routes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27648" y="1984248"/>
            <a:ext cx="42611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Finanzprofil speichern und laden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731520" y="2834640"/>
            <a:ext cx="4663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932688" y="301752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user_routes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32688" y="3493008"/>
            <a:ext cx="42611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Nutzerdaten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126480" y="2834640"/>
            <a:ext cx="4663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6327648" y="301752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prognosen_routes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27648" y="3493008"/>
            <a:ext cx="42611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Berechnungen und Szenarien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31520" y="4343400"/>
            <a:ext cx="4663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932688" y="452628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chat_routes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2688" y="5001768"/>
            <a:ext cx="42611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KI-/Assistenzfunktion</a:t>
            </a:r>
            <a:endParaRPr lang="en-US" sz="9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9D422-3590-ED8A-C802-D761CA21D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9C001BF4-DC53-89CC-8155-CA7639B4ACA5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D05F815-73B8-A188-118D-3FADC5727441}"/>
              </a:ext>
            </a:extLst>
          </p:cNvPr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D88CC11-9827-B69E-9785-5F0A7F154499}"/>
              </a:ext>
            </a:extLst>
          </p:cNvPr>
          <p:cNvSpPr/>
          <p:nvPr/>
        </p:nvSpPr>
        <p:spPr>
          <a:xfrm>
            <a:off x="566928" y="65196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Teil 2 · Technologie &amp; Architektur</a:t>
            </a:r>
            <a:endParaRPr lang="en-US" sz="7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2CBFB6A-AD44-3310-3825-CC7946306EBA}"/>
              </a:ext>
            </a:extLst>
          </p:cNvPr>
          <p:cNvSpPr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50" dirty="0"/>
          </a:p>
        </p:txBody>
      </p:sp>
      <p:pic>
        <p:nvPicPr>
          <p:cNvPr id="24" name="UML Klassendiagramm" descr="UML-Klassendiagramm des Backends: Routen, Services, Finanzlogik und Datenbanktabellen.">
            <a:extLst>
              <a:ext uri="{FF2B5EF4-FFF2-40B4-BE49-F238E27FC236}">
                <a16:creationId xmlns:a16="http://schemas.microsoft.com/office/drawing/2014/main" id="{D6C041C9-CA10-438B-8A4A-2B3D31B93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477" y="0"/>
            <a:ext cx="83390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792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Kommunikation zwischen Frontend und Backend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850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JSON-Daten, Cookies und CORS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66928" y="65196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Teil 2 · Technologie &amp; Architektur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31520" y="1572768"/>
            <a:ext cx="1630680" cy="73152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804672" y="1783080"/>
            <a:ext cx="1484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Formular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526792" y="1572768"/>
            <a:ext cx="1630680" cy="7315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2709672" y="1783080"/>
            <a:ext cx="1484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F172A"/>
                </a:solidFill>
              </a:rPr>
              <a:t>HTTP Request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322064" y="1572768"/>
            <a:ext cx="1630680" cy="7315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395216" y="1783080"/>
            <a:ext cx="1484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F172A"/>
                </a:solidFill>
              </a:rPr>
              <a:t>Flask Route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117336" y="1572768"/>
            <a:ext cx="1630680" cy="7315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190488" y="1783080"/>
            <a:ext cx="1484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F172A"/>
                </a:solidFill>
              </a:rPr>
              <a:t>Service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912608" y="1572768"/>
            <a:ext cx="1630680" cy="7315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7985760" y="1783080"/>
            <a:ext cx="1484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F172A"/>
                </a:solidFill>
              </a:rPr>
              <a:t>DB Antwort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9707880" y="1572768"/>
            <a:ext cx="1630680" cy="7315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9781032" y="1783080"/>
            <a:ext cx="1484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F172A"/>
                </a:solidFill>
              </a:rPr>
              <a:t>UI Update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868680" y="30632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1033272" y="32278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63EB"/>
                </a:solidFill>
              </a:rPr>
              <a:t>{}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27048" y="32461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JSON als Austauschformat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69848" y="3721608"/>
            <a:ext cx="293522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Eingaben und Antworten werden strukturiert übertragen.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4434840" y="30632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599432" y="32278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</a:rPr>
              <a:t>🍪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093208" y="32461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Session-Cookie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636008" y="3721608"/>
            <a:ext cx="293522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Nach dem Login ordnet das Backend Anfragen dem Nutzer zu.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8001000" y="30632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8165592" y="32278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9E0B"/>
                </a:solidFill>
              </a:rPr>
              <a:t>↔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659368" y="32461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CORS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202168" y="3721608"/>
            <a:ext cx="293522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Erlaubt lokale Frontend-Ports und überträgt Credentials.</a:t>
            </a:r>
            <a:endParaRPr lang="en-US" sz="9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Docker-Setup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850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Zwei Services für einen reproduzierbaren Start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66928" y="65196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Teil 2 · Technologie &amp; Architektur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31520" y="1371600"/>
            <a:ext cx="51206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932688" y="155448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Backend-Service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87552" y="1993392"/>
            <a:ext cx="4617720" cy="3429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334155"/>
                </a:solidFill>
              </a:rPr>
              <a:t>Build aus backend/Dockerfile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Port 5000 nach außen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liest .env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Debug-Modus in der Entwicklung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Volume für schnellen Codewechsel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51206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510528" y="155448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Frontend-Service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65392" y="1993392"/>
            <a:ext cx="4617720" cy="3429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334155"/>
                </a:solidFill>
              </a:rPr>
              <a:t>Build aus frontend/Dockerfile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Port 5173 nach außen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abhängig vom Backend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Node-Modules im Container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Start über Docker Compose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Hosting auf Render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850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Getrennte Services: statisches Frontend, dynamisches Backend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66928" y="65196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Teil 2 · Technologie &amp; Architektur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31520" y="1371600"/>
            <a:ext cx="51206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932688" y="155448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Backend · Web Service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87552" y="1993392"/>
            <a:ext cx="4617720" cy="3429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334155"/>
                </a:solidFill>
              </a:rPr>
              <a:t>Flask läuft als dynamischer Serverprozess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Health-Check-Route für Render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Secrets über Environment-Variablen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CORS erlaubt die Frontend-Domain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Cookies: SameSite=None und Secure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51206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510528" y="155448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Frontend · Static Site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65392" y="1993392"/>
            <a:ext cx="4617720" cy="3429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334155"/>
                </a:solidFill>
              </a:rPr>
              <a:t>Vite-Build erzeugt statische Dateien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Auslieferung ohne eigenen Serverprozess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SPA-Routing über _redirects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VITE_API_URL zeigt auf das Backend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Deploy aus GitHub · Supabase bleibt externe Datenbank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Architektur: Stärken &amp; Grenzen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850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Einordnung für den Prototyp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66928" y="65196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Teil 2 · Technologie &amp; Architektur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31520" y="1371600"/>
            <a:ext cx="51206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932688" y="155448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Stärken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87552" y="1993392"/>
            <a:ext cx="4617720" cy="3429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334155"/>
                </a:solidFill>
              </a:rPr>
              <a:t>Klare Trennung von UI, API und Datenbank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Modulare Routenstruktur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Reproduzierbare lokale Entwicklung mit Docker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Öffentlich erreichbar durch Render-Deployment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51206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510528" y="155448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Grenzen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65392" y="1993392"/>
            <a:ext cx="4617720" cy="3429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334155"/>
                </a:solidFill>
              </a:rPr>
              <a:t>Free-Tier-Hosting mit Kaltstarts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Sicherheits-Hardening ausbaufähig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Keine vollständige API-Spezifikation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Kein Monitoring und zentrales Logging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3574396489F2A408CA3654B3BFD8422" ma:contentTypeVersion="10" ma:contentTypeDescription="Ein neues Dokument erstellen." ma:contentTypeScope="" ma:versionID="969204ac11472e36d23f9bf858dc86b1">
  <xsd:schema xmlns:xsd="http://www.w3.org/2001/XMLSchema" xmlns:xs="http://www.w3.org/2001/XMLSchema" xmlns:p="http://schemas.microsoft.com/office/2006/metadata/properties" xmlns:ns2="ee027e5d-e3f7-4a15-8562-b3d3cde3991d" xmlns:ns3="1dacdcdf-d4df-4960-8c37-34aeefdb918c" targetNamespace="http://schemas.microsoft.com/office/2006/metadata/properties" ma:root="true" ma:fieldsID="4bfbc37b80d867521b2692f88b3f4205" ns2:_="" ns3:_="">
    <xsd:import namespace="ee027e5d-e3f7-4a15-8562-b3d3cde3991d"/>
    <xsd:import namespace="1dacdcdf-d4df-4960-8c37-34aeefdb918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027e5d-e3f7-4a15-8562-b3d3cde399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e9e705d6-38b3-4b97-b0df-0b3ae6773d9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acdcdf-d4df-4960-8c37-34aeefdb918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b87afd1-52cb-466b-91df-8b174df1b189}" ma:internalName="TaxCatchAll" ma:showField="CatchAllData" ma:web="1dacdcdf-d4df-4960-8c37-34aeefdb91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dacdcdf-d4df-4960-8c37-34aeefdb918c" xsi:nil="true"/>
    <lcf76f155ced4ddcb4097134ff3c332f xmlns="ee027e5d-e3f7-4a15-8562-b3d3cde3991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8483088-420C-434E-A469-1CAD36F60A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e027e5d-e3f7-4a15-8562-b3d3cde3991d"/>
    <ds:schemaRef ds:uri="1dacdcdf-d4df-4960-8c37-34aeefdb918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6E29F4F-ED04-4711-AB4E-50CE9F380A9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0A790B-9C07-4D26-90BF-175C92DB0386}">
  <ds:schemaRefs>
    <ds:schemaRef ds:uri="http://schemas.microsoft.com/office/2006/metadata/properties"/>
    <ds:schemaRef ds:uri="http://schemas.microsoft.com/office/infopath/2007/PartnerControls"/>
    <ds:schemaRef ds:uri="1dacdcdf-d4df-4960-8c37-34aeefdb918c"/>
    <ds:schemaRef ds:uri="ee027e5d-e3f7-4a15-8562-b3d3cde3991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532</Words>
  <Application>Microsoft Macintosh PowerPoint</Application>
  <PresentationFormat>Breitbild</PresentationFormat>
  <Paragraphs>135</Paragraphs>
  <Slides>9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Hochschulprojekt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Lebens-Finanzplaner – Projektpräsentation</dc:title>
  <dc:subject>Präsentation Lebens-Finanzplaner</dc:subject>
  <dc:creator>Lebens-Finanzplaner Projektteam</dc:creator>
  <cp:lastModifiedBy>Thomas Relovsky</cp:lastModifiedBy>
  <cp:revision>8</cp:revision>
  <dcterms:created xsi:type="dcterms:W3CDTF">2026-07-13T13:39:48Z</dcterms:created>
  <dcterms:modified xsi:type="dcterms:W3CDTF">2026-07-23T19:46:17Z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0x010100C3574396489F2A408CA3654B3BFD8422</vt:lpwstr>
  </property>
  <property fmtid="{D5CDD505-2E9C-101B-9397-08002B2CF9AE}" pid="3" name="MediaServiceImageTags">
    <vt:lpwstr/>
  </property>
</Properties>
</file>