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90" r:id="rId14"/>
    <p:sldId id="291" r:id="rId15"/>
    <p:sldId id="292" r:id="rId16"/>
    <p:sldId id="293" r:id="rId17"/>
    <p:sldId id="294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A4F91B-700F-F20B-0E99-94333FE7839E}" v="4" dt="2026-07-13T15:59:34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49"/>
    <p:restoredTop sz="94610"/>
  </p:normalViewPr>
  <p:slideViewPr>
    <p:cSldViewPr snapToGrid="0" snapToObjects="1">
      <p:cViewPr>
        <p:scale>
          <a:sx n="210" d="100"/>
          <a:sy n="210" d="100"/>
        </p:scale>
        <p:origin x="117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it Unzner" userId="S::grit.unzner@iu-study.org::eb886a79-0b3d-4215-b4c4-62d94d0eb27e" providerId="AD" clId="Web-{EBA4F91B-700F-F20B-0E99-94333FE7839E}"/>
    <pc:docChg chg="modSld">
      <pc:chgData name="Grit Unzner" userId="S::grit.unzner@iu-study.org::eb886a79-0b3d-4215-b4c4-62d94d0eb27e" providerId="AD" clId="Web-{EBA4F91B-700F-F20B-0E99-94333FE7839E}" dt="2026-07-13T15:59:33.959" v="1"/>
      <pc:docMkLst>
        <pc:docMk/>
      </pc:docMkLst>
      <pc:sldChg chg="addSp delSp modSp">
        <pc:chgData name="Grit Unzner" userId="S::grit.unzner@iu-study.org::eb886a79-0b3d-4215-b4c4-62d94d0eb27e" providerId="AD" clId="Web-{EBA4F91B-700F-F20B-0E99-94333FE7839E}" dt="2026-07-13T15:59:33.959" v="1"/>
        <pc:sldMkLst>
          <pc:docMk/>
          <pc:sldMk cId="1524982618" sldId="295"/>
        </pc:sldMkLst>
        <pc:picChg chg="add mod">
          <ac:chgData name="Grit Unzner" userId="S::grit.unzner@iu-study.org::eb886a79-0b3d-4215-b4c4-62d94d0eb27e" providerId="AD" clId="Web-{EBA4F91B-700F-F20B-0E99-94333FE7839E}" dt="2026-07-13T15:59:33.959" v="1"/>
          <ac:picMkLst>
            <pc:docMk/>
            <pc:sldMk cId="1524982618" sldId="295"/>
            <ac:picMk id="2" creationId="{E4093DAA-A61E-0A08-CFAC-785083B908EF}"/>
          </ac:picMkLst>
        </pc:picChg>
        <pc:picChg chg="del">
          <ac:chgData name="Grit Unzner" userId="S::grit.unzner@iu-study.org::eb886a79-0b3d-4215-b4c4-62d94d0eb27e" providerId="AD" clId="Web-{EBA4F91B-700F-F20B-0E99-94333FE7839E}" dt="2026-07-13T15:59:15.364" v="0"/>
          <ac:picMkLst>
            <pc:docMk/>
            <pc:sldMk cId="1524982618" sldId="295"/>
            <ac:picMk id="9" creationId="{FAC612F5-3D9A-BC39-54A0-AC4F19ABB2F4}"/>
          </ac:picMkLst>
        </pc:picChg>
      </pc:sldChg>
    </pc:docChg>
  </pc:docChgLst>
  <pc:docChgLst>
    <pc:chgData clId="Web-{EBA4F91B-700F-F20B-0E99-94333FE7839E}"/>
    <pc:docChg chg="addSld">
      <pc:chgData name="" userId="" providerId="" clId="Web-{EBA4F91B-700F-F20B-0E99-94333FE7839E}" dt="2026-07-13T15:38:58.566" v="0"/>
      <pc:docMkLst>
        <pc:docMk/>
      </pc:docMkLst>
      <pc:sldChg chg="add">
        <pc:chgData name="" userId="" providerId="" clId="Web-{EBA4F91B-700F-F20B-0E99-94333FE7839E}" dt="2026-07-13T15:38:58.566" v="0"/>
        <pc:sldMkLst>
          <pc:docMk/>
          <pc:sldMk cId="1524982618" sldId="2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193F97-08C5-42B2-9CF9-1A3B97CFDE7B}" type="datetimeFigureOut">
              <a:t>23.07.26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DFF7C5-2E21-4417-8606-0071A5D16CB9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6697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Einstieg: Projektname nennen, kurz einordnen, dass die Präsentation auf fünf Personen verteilt ist und Person 1 zusätzlich den Schluss übernimmt.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die geänderte Aufteilung transparent machen: Person 1 beginnt mit Idee/Anforderungen und beendet die Präsentation mit Fazit.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 erklären: Die Präsentation ist kein reiner Code-Durchlauf, sondern zeigt Motivation, technische Entscheidungen, Umsetzung und Bewertung.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Abschnitt eröffnen: Warum existiert das Projekt und was sollte erreicht werden?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Nicht zu technisch starten. Den Bedarf aus Nutzersicht darstellen.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Projektabgrenzung nennen: Prototyp, keine echte Finanzberatung.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nur die wichtigsten Anforderungen nennen; Details kommen später.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Nutzerreise als Übergang in die technischen Abschnitte nutzen.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 einem klaren Satz an Person 2 übergeben: Jetzt geht es darum, wie diese Anforderungen technisch umgesetzt wurden.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 1 nimmt den Faden vom Einstieg wieder auf: Was war die Idee, was wurde erreicht?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Keine neue Technik einführen, nur die wichtigsten Learnings zusammenführen.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Erfolge nicht zu klein machen: Es ist kein reines Frontend, sondern ein Gesamtprojekt.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Ausblick als realistische Weiterentwicklung, nicht als Rechtfertigung.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 mit einem klaren Satz. Danach Fragen eröffnen.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170034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Lebens-Finanzplaner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CBD5E1"/>
                </a:solidFill>
              </a:rPr>
              <a:t>Projektpräsentation</a:t>
            </a:r>
            <a:endParaRPr lang="en-US" sz="1400" dirty="0">
              <a:solidFill>
                <a:srgbClr val="CBD5E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Grit </a:t>
            </a:r>
            <a:r>
              <a:rPr lang="en-US" sz="1400" dirty="0" err="1">
                <a:solidFill>
                  <a:srgbClr val="CBD5E1"/>
                </a:solidFill>
              </a:rPr>
              <a:t>Unzner</a:t>
            </a:r>
            <a:r>
              <a:rPr lang="en-US" sz="1400" dirty="0">
                <a:solidFill>
                  <a:srgbClr val="CBD5E1"/>
                </a:solidFill>
              </a:rPr>
              <a:t>, Noah Roosen, Justas </a:t>
            </a:r>
            <a:r>
              <a:rPr lang="en-US" sz="1400" dirty="0" err="1">
                <a:solidFill>
                  <a:srgbClr val="CBD5E1"/>
                </a:solidFill>
              </a:rPr>
              <a:t>Vaicekauskas</a:t>
            </a:r>
            <a:r>
              <a:rPr lang="en-US" sz="1400" dirty="0">
                <a:solidFill>
                  <a:srgbClr val="CBD5E1"/>
                </a:solidFill>
              </a:rPr>
              <a:t>, Asal </a:t>
            </a:r>
            <a:r>
              <a:rPr lang="en-US" sz="1400" dirty="0" err="1">
                <a:solidFill>
                  <a:srgbClr val="CBD5E1"/>
                </a:solidFill>
              </a:rPr>
              <a:t>Ghabeljoo</a:t>
            </a:r>
            <a:r>
              <a:rPr lang="en-US" sz="1400" dirty="0">
                <a:solidFill>
                  <a:srgbClr val="CBD5E1"/>
                </a:solidFill>
              </a:rPr>
              <a:t>, Thomas Relovsky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1078992" y="306324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Webbasierte Anwendung zur persönlichen Finanzplanung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3401568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React · Flask · Supabase/PostgreSQL · Docker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235440" y="109728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dirty="0">
                <a:solidFill>
                  <a:srgbClr val="10B981"/>
                </a:solidFill>
              </a:rPr>
              <a:t>💶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8503920" y="320040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2563EB"/>
                </a:solidFill>
              </a:rPr>
              <a:t>📊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966960" y="365760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F59E0B"/>
                </a:solidFill>
              </a:rPr>
              <a:t>🔐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117396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Rollenverteilung &amp; Sprechzeit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66928" y="65196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Überblick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31520" y="1371600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960120" y="1490472"/>
            <a:ext cx="384048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1033272" y="1559052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536192" y="151790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Projektidee &amp; Anforderungen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15179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Thomas Relovsky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084832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960120" y="2203704"/>
            <a:ext cx="384048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1033272" y="2272284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536192" y="223113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Technologie &amp; Architektur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0" y="22311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Noah Roosen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2798064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960120" y="2916936"/>
            <a:ext cx="38404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1033272" y="2985516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536192" y="29443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Datenbank &amp; Migration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0" y="29443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Grit </a:t>
            </a:r>
            <a:r>
              <a:rPr lang="en-US" sz="1100" dirty="0" err="1">
                <a:solidFill>
                  <a:srgbClr val="334155"/>
                </a:solidFill>
              </a:rPr>
              <a:t>Unzner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3511296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960120" y="3630168"/>
            <a:ext cx="384048" cy="292608"/>
          </a:xfrm>
          <a:prstGeom prst="roundRect">
            <a:avLst>
              <a:gd name="adj" fmla="val 25000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1033272" y="3698748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536192" y="36576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Frontend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0" y="3657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Asal </a:t>
            </a:r>
            <a:r>
              <a:rPr lang="en-US" sz="1100" dirty="0" err="1">
                <a:solidFill>
                  <a:srgbClr val="334155"/>
                </a:solidFill>
              </a:rPr>
              <a:t>Ghabeljoo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4224528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960120" y="4343400"/>
            <a:ext cx="384048" cy="292608"/>
          </a:xfrm>
          <a:prstGeom prst="roundRect">
            <a:avLst>
              <a:gd name="adj" fmla="val 25000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1033272" y="4411980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536192" y="43708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Implementierung &amp; Sicherheit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400800" y="4370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Justas </a:t>
            </a:r>
            <a:r>
              <a:rPr lang="en-US" sz="1100" dirty="0" err="1">
                <a:solidFill>
                  <a:srgbClr val="334155"/>
                </a:solidFill>
              </a:rPr>
              <a:t>Vaicekauskas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1520" y="4937760"/>
            <a:ext cx="106070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Shape 38"/>
          <p:cNvSpPr/>
          <p:nvPr/>
        </p:nvSpPr>
        <p:spPr>
          <a:xfrm>
            <a:off x="960120" y="5056632"/>
            <a:ext cx="384048" cy="292608"/>
          </a:xfrm>
          <a:prstGeom prst="roundRect">
            <a:avLst>
              <a:gd name="adj" fmla="val 25000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1033272" y="5125212"/>
            <a:ext cx="237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536192" y="508406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Schlussteil &amp; Fazit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400800" y="50840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Thomas Relovsky 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 rote Faden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850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Von der Problemstellung bis zum bewerteten Prototyp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66928" y="65196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Überblick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1661160" cy="731520"/>
          </a:xfrm>
          <a:prstGeom prst="chevron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758952" y="2130552"/>
            <a:ext cx="1514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Problem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511552" y="1920240"/>
            <a:ext cx="166116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2584704" y="2130552"/>
            <a:ext cx="1514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172A"/>
                </a:solidFill>
              </a:rPr>
              <a:t>Lösungsidee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337304" y="1920240"/>
            <a:ext cx="166116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410456" y="2130552"/>
            <a:ext cx="1514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172A"/>
                </a:solidFill>
              </a:rPr>
              <a:t>Architektur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163056" y="1920240"/>
            <a:ext cx="166116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236208" y="2130552"/>
            <a:ext cx="1514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172A"/>
                </a:solidFill>
              </a:rPr>
              <a:t>Datenmodell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988808" y="1920240"/>
            <a:ext cx="166116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061960" y="2130552"/>
            <a:ext cx="1514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172A"/>
                </a:solidFill>
              </a:rPr>
              <a:t>Umsetzung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9814560" y="1920240"/>
            <a:ext cx="166116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9887712" y="2130552"/>
            <a:ext cx="1514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172A"/>
                </a:solidFill>
              </a:rPr>
              <a:t>Bewertung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7315200" y="34290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7479792" y="3593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↗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973568" y="3611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Präsentationslogik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516368" y="4087368"/>
            <a:ext cx="307238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Jeder Abschnitt beantwortet eine Leitfrage. Die Inhalte bauen bewusst aufeinander auf und vermeiden Dopplungen.</a:t>
            </a:r>
            <a:endParaRPr lang="en-US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5856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Teil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Projektidee &amp; Anforderungen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1762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Thomas Relovsky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0" y="118872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10B981"/>
                </a:solidFill>
              </a:rPr>
              <a:t>💡</a:t>
            </a:r>
            <a:endParaRPr lang="en-US" sz="5800" dirty="0"/>
          </a:p>
        </p:txBody>
      </p:sp>
      <p:sp>
        <p:nvSpPr>
          <p:cNvPr id="8" name="Shape 6"/>
          <p:cNvSpPr/>
          <p:nvPr/>
        </p:nvSpPr>
        <p:spPr>
          <a:xfrm>
            <a:off x="713232" y="2816352"/>
            <a:ext cx="106070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49808" y="31272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Ziel dieses Abschnitts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3474720"/>
            <a:ext cx="7498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Warum wurde der Lebens-Finanzplaner entwickelt und welche Anforderungen sollte der Prototyp erfüllen?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7396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Ausgangsproblem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850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Private Finanzplanung ist oft verteilt und schwer nachvollziehbar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66928" y="65196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 1 · Projektidee &amp; Anforderungen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850392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11D48"/>
                </a:solidFill>
              </a:rPr>
              <a:t>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44168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Zersplitterte Daten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86968" y="2075688"/>
            <a:ext cx="2889504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Einnahmen, Ausgaben, Sparziele und Ereignisse liegen häufig in Apps, Tabellen oder Notizen verteilt.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4434840" y="141732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599432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9E0B"/>
                </a:solidFill>
              </a:rPr>
              <a:t>⏳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93208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Fehlende Perspektive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36008" y="2075688"/>
            <a:ext cx="2889504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Monatswerte erklären selten, wie sich Entscheidungen langfristig auswirken.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183880" y="141732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348472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</a:rPr>
              <a:t>🧭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42248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Hohe Einstiegshürde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85048" y="2075688"/>
            <a:ext cx="2889504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Finanzplanung wirkt schnell komplex, obwohl viele Personen nur eine verständliche Übersicht benötigen.</a:t>
            </a:r>
            <a:endParaRPr lang="en-US" sz="9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Projektidee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850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Ein zentraler Finanzplaner als Planungs- und Lernwerkzeug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66928" y="65196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 1 · Projektidee &amp; Anforderungen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31520" y="137160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932688" y="155448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Was die Anwendung leisten soll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87552" y="1993392"/>
            <a:ext cx="4617720" cy="3429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334155"/>
                </a:solidFill>
              </a:rPr>
              <a:t>Finanzielle Ausgangslage strukturiert erfassen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Ziele und Lebensereignisse abbilden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Szenarien und Prognosen verständlich machen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FAQ und Assistent als Hilfestellung anbieten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510528" y="155448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Was bewusst nicht Ziel ist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65392" y="1993392"/>
            <a:ext cx="4617720" cy="3429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334155"/>
                </a:solidFill>
              </a:rPr>
              <a:t>Keine Bankanbindung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Keine Zahlungsfunktion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Keine verbindliche Finanz- oder Steuerberatung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</a:rPr>
              <a:t>Kein produktives Identitäts- oder Risikoprofiling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Zentrale Anforderungen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850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Funktionen, die den Prototyp tragen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66928" y="65196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 1 · Projektidee &amp; Anforderungen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896112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89888" y="1600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Registrierung &amp; Login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32688" y="2075688"/>
            <a:ext cx="28437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Benutzerkonto anlegen, anmelden und abmelden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4480560" y="14173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645152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</a:rPr>
              <a:t>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38928" y="1600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Finanzprofil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81728" y="2075688"/>
            <a:ext cx="28437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Eingabewerte dauerhaft und nutzerbezogen speichern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229600" y="14173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394192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9E0B"/>
                </a:solidFill>
              </a:rPr>
              <a:t>🎯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87968" y="1600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Ziele &amp; Ereignisse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30768" y="2075688"/>
            <a:ext cx="28437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Planbare finanzielle Entwicklungen abbilden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" y="329184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896112" y="34564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11D48"/>
                </a:solidFill>
              </a:rPr>
              <a:t>✉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89888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Passwort vergessen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32688" y="3950208"/>
            <a:ext cx="28437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Reset-Link per E-Mail, zeitlich begrenzt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4480560" y="329184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645152" y="34564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4155"/>
                </a:solidFill>
              </a:rPr>
              <a:t>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38928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FAQ &amp; Demo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81728" y="3950208"/>
            <a:ext cx="284378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Orientierung, Fragen und Präsentationsfähigkeit</a:t>
            </a:r>
            <a:endParaRPr lang="en-US" sz="9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Nutzerreise im Prototyp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850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Der typische Ablauf aus Sicht einer Nutzerin oder eines Nutzers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66928" y="65196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 1 · Projektidee &amp; Anforderungen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1676400" cy="731520"/>
          </a:xfrm>
          <a:prstGeom prst="chevron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713232" y="2039112"/>
            <a:ext cx="153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</a:rPr>
              <a:t>Registrieren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481072" y="1828800"/>
            <a:ext cx="167640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2554224" y="2039112"/>
            <a:ext cx="153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172A"/>
                </a:solidFill>
              </a:rPr>
              <a:t>Einloggen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322064" y="1828800"/>
            <a:ext cx="167640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546608" y="2039112"/>
            <a:ext cx="153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172A"/>
                </a:solidFill>
              </a:rPr>
              <a:t>Finanzdaten erfassen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163056" y="1828800"/>
            <a:ext cx="167640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236208" y="2039112"/>
            <a:ext cx="153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172A"/>
                </a:solidFill>
              </a:rPr>
              <a:t>Ziele planen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004048" y="1828800"/>
            <a:ext cx="167640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216484" y="2039112"/>
            <a:ext cx="153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172A"/>
                </a:solidFill>
              </a:rPr>
              <a:t>Prognose ansehen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9845040" y="1828800"/>
            <a:ext cx="1676400" cy="73152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9918192" y="2039112"/>
            <a:ext cx="153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F172A"/>
                </a:solidFill>
              </a:rPr>
              <a:t>Hilfe nutzen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914400" y="342900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1078992" y="3593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72768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Leitgedanke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15568" y="4087368"/>
            <a:ext cx="32552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Die Anwendung soll nicht nur Daten speichern, sondern Entscheidungen verständlicher machen.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4937760" y="342900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5102352" y="35935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</a:rPr>
              <a:t>👁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96128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Anforderung an UX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38928" y="4087368"/>
            <a:ext cx="32552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Jeder Schritt muss ohne technisches Vorwissen nachvollziehbar sein.</a:t>
            </a:r>
            <a:endParaRPr lang="en-US" sz="9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Abnahmekriterien für den Prototyp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850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Woran das Team erkennt, dass der Kern funktioniert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66928" y="65196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 1 · Projektidee &amp; Anforderungen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8680" y="1508760"/>
            <a:ext cx="585216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20" dirty="0">
                <a:solidFill>
                  <a:srgbClr val="334155"/>
                </a:solidFill>
              </a:rPr>
              <a:t>Registrierung und Login funktionieren reproduzierbar</a:t>
            </a:r>
            <a:endParaRPr lang="en-US" sz="1320" dirty="0"/>
          </a:p>
          <a:p>
            <a:r>
              <a:rPr lang="en-US" sz="1320" dirty="0">
                <a:solidFill>
                  <a:srgbClr val="334155"/>
                </a:solidFill>
              </a:rPr>
              <a:t>Finanzdaten werden nach dem Speichern erneut angezeigt</a:t>
            </a:r>
            <a:endParaRPr lang="en-US" sz="1320" dirty="0"/>
          </a:p>
          <a:p>
            <a:r>
              <a:rPr lang="en-US" sz="1320" dirty="0">
                <a:solidFill>
                  <a:srgbClr val="334155"/>
                </a:solidFill>
              </a:rPr>
              <a:t>Passwort-Reset erzeugt gültigen Link und aktualisiert das Passwort</a:t>
            </a:r>
            <a:endParaRPr lang="en-US" sz="1320" dirty="0"/>
          </a:p>
          <a:p>
            <a:r>
              <a:rPr lang="en-US" sz="1320" dirty="0">
                <a:solidFill>
                  <a:srgbClr val="334155"/>
                </a:solidFill>
              </a:rPr>
              <a:t>FAQ-Seite ist erreichbar und bietet erste Orientierung</a:t>
            </a:r>
            <a:endParaRPr lang="en-US" sz="1320" dirty="0"/>
          </a:p>
          <a:p>
            <a:r>
              <a:rPr lang="en-US" sz="1320" dirty="0">
                <a:solidFill>
                  <a:srgbClr val="334155"/>
                </a:solidFill>
              </a:rPr>
              <a:t>System lässt sich lokal mit Docker starten</a:t>
            </a:r>
            <a:endParaRPr lang="en-US" sz="1320" dirty="0"/>
          </a:p>
          <a:p>
            <a:r>
              <a:rPr lang="en-US" sz="1320" dirty="0">
                <a:solidFill>
                  <a:srgbClr val="334155"/>
                </a:solidFill>
              </a:rPr>
              <a:t>Demo-Ablauf ist ohne kritische Fehler durchführbar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315200" y="16002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7479792" y="17647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73568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Übergabe an Noah Roosen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516368" y="2258568"/>
            <a:ext cx="2980944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Aus diesen Anforderungen ergibt sich die technische Architektur: Frontend, Backend, Datenbank und Services.</a:t>
            </a:r>
            <a:endParaRPr lang="en-US" sz="9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Teil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Schlussteil &amp; Fazit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1762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Thomas Relovsky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0" y="118872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334155"/>
                </a:solidFill>
              </a:rPr>
              <a:t>🎯</a:t>
            </a:r>
            <a:endParaRPr lang="en-US" sz="5800" dirty="0"/>
          </a:p>
        </p:txBody>
      </p:sp>
      <p:sp>
        <p:nvSpPr>
          <p:cNvPr id="8" name="Shape 6"/>
          <p:cNvSpPr/>
          <p:nvPr/>
        </p:nvSpPr>
        <p:spPr>
          <a:xfrm>
            <a:off x="713232" y="2816352"/>
            <a:ext cx="106070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49808" y="31272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Ziel dieses Abschnitts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3474720"/>
            <a:ext cx="7498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Was wurde erreicht, welche Grenzen bestehen und wie kann das Projekt weiterentwickelt werden?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73968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</a:rPr>
              <a:t>35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Zentrale Herausforderungen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850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Was im Projekt besonders anspruchsvoll war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66928" y="65196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 6 · Schlussteil &amp; Fazit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896112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9E0B"/>
                </a:solidFill>
              </a:rPr>
              <a:t>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89888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Datenbankwechsel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32688" y="2075688"/>
            <a:ext cx="2889504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Von Cosmos DB / JSON zu Supabase/PostgreSQL mit relationalem Modell.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4434840" y="141732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599432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</a:rPr>
              <a:t>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93208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Integration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36008" y="2075688"/>
            <a:ext cx="2889504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Frontend, Backend, Datenbank, E-Mail und Docker mussten zusammenspielen.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138160" y="141732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302752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96528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Sicherheit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39328" y="2075688"/>
            <a:ext cx="2889504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Login, Sessions und Passwort-Reset mussten korrekt und nachvollziehbar umgesetzt werden.</a:t>
            </a:r>
            <a:endParaRPr lang="en-US" sz="9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Was wurde erreicht?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850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Bewertung anhand der Projektziele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66928" y="65196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 6 · Schlussteil &amp; Fazit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8680" y="1371600"/>
            <a:ext cx="667512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334155"/>
                </a:solidFill>
              </a:rPr>
              <a:t>Lauffähiger Prototyp mit React-Frontend und Flask-Backend</a:t>
            </a:r>
            <a:endParaRPr lang="en-US" sz="1300" dirty="0"/>
          </a:p>
          <a:p>
            <a:r>
              <a:rPr lang="en-US" sz="1300" dirty="0">
                <a:solidFill>
                  <a:srgbClr val="334155"/>
                </a:solidFill>
              </a:rPr>
              <a:t>Benutzerverwaltung mit Registrierung, Login und Logout</a:t>
            </a:r>
            <a:endParaRPr lang="en-US" sz="1300" dirty="0"/>
          </a:p>
          <a:p>
            <a:r>
              <a:rPr lang="en-US" sz="1300" dirty="0">
                <a:solidFill>
                  <a:srgbClr val="334155"/>
                </a:solidFill>
              </a:rPr>
              <a:t>Finanzprofil und nutzerbezogene Speicherung der Eingabewerte</a:t>
            </a:r>
            <a:endParaRPr lang="en-US" sz="1300" dirty="0"/>
          </a:p>
          <a:p>
            <a:r>
              <a:rPr lang="en-US" sz="1300" dirty="0">
                <a:solidFill>
                  <a:srgbClr val="334155"/>
                </a:solidFill>
              </a:rPr>
              <a:t>Datenbankmodell nach Umstieg auf PostgreSQL überarbeitet</a:t>
            </a:r>
            <a:endParaRPr lang="en-US" sz="1300" dirty="0"/>
          </a:p>
          <a:p>
            <a:r>
              <a:rPr lang="en-US" sz="1300" dirty="0">
                <a:solidFill>
                  <a:srgbClr val="334155"/>
                </a:solidFill>
              </a:rPr>
              <a:t>Passwort-vergessen-Funktion mit E-Mail-Link umgesetzt</a:t>
            </a:r>
            <a:endParaRPr lang="en-US" sz="1300" dirty="0"/>
          </a:p>
          <a:p>
            <a:r>
              <a:rPr lang="en-US" sz="1300" dirty="0">
                <a:solidFill>
                  <a:srgbClr val="334155"/>
                </a:solidFill>
              </a:rPr>
              <a:t>FAQ-Seite und Demo-Vorbereitung integriert</a:t>
            </a:r>
            <a:endParaRPr lang="en-US" sz="1300" dirty="0"/>
          </a:p>
          <a:p>
            <a:r>
              <a:rPr lang="en-US" sz="1300" dirty="0">
                <a:solidFill>
                  <a:srgbClr val="334155"/>
                </a:solidFill>
              </a:rPr>
              <a:t>Docker-Setup für lokale Inbetriebnahme vorhanden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9659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8302752" y="21305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796528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Kernbotschaft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339328" y="2624328"/>
            <a:ext cx="2249424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Der Prototyp verbindet mehrere reale Webentwicklungsbausteine zu einem funktionierenden Gesamtsystem.</a:t>
            </a:r>
            <a:endParaRPr lang="en-US" sz="9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Ausblick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850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Wie der Lebens-Finanzplaner weiterentwickelt werden kann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66928" y="65196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 6 · Schlussteil &amp; Fazit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33375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941832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</a:rPr>
              <a:t>⚙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35608" y="1600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Technisch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" y="2075688"/>
            <a:ext cx="2935224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CI-Pipeline, API-Dokumentation, Migrationstool, HTTPS-Deployment, Monitoring.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4434840" y="1417320"/>
            <a:ext cx="33375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599432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93208" y="1600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Fachlich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36008" y="2075688"/>
            <a:ext cx="2935224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Mehr Szenarien, Inflation, Exporte, detaillierte Berechnungen und verständlichere Erklärungen.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092440" y="1417320"/>
            <a:ext cx="33375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8257032" y="15819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11D48"/>
                </a:solidFill>
              </a:rPr>
              <a:t>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50808" y="1600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Sicherheit &amp; Recht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93608" y="2075688"/>
            <a:ext cx="2935224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Security Review, Datenschutzkonzept, Rate Limiting, klare Abgrenzung von Finanzberatung.</a:t>
            </a:r>
            <a:endParaRPr lang="en-US" sz="9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Fazit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8503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Vom Planungsproblem zum technischen Prototyp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762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66928" y="65196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Teil 6 · Schlussteil &amp; Fazit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01400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99669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Der Lebens-Finanzplaner zeigt, wie persönliche Finanzplanung als moderne Webanwendung umgesetzt werden kann.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14400" y="2743200"/>
            <a:ext cx="2926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1078992" y="29077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72768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Projektidee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15568" y="3401568"/>
            <a:ext cx="25237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Finanzdaten zentral und verständlich planen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4617720" y="2743200"/>
            <a:ext cx="2926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782312" y="29077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76088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Umsetzung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18888" y="3401568"/>
            <a:ext cx="25237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React, Flask, PostgreSQL und Docker integriert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8321040" y="2743200"/>
            <a:ext cx="2926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CBD5E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8485632" y="290779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9E0B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79408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Lerneffekt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522208" y="3401568"/>
            <a:ext cx="25237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</a:rPr>
              <a:t>Datenmodell, Sicherheit und Teamarbeit real erlebt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352044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</a:rPr>
              <a:t>Vielen Dank · Fragen?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3574396489F2A408CA3654B3BFD8422" ma:contentTypeVersion="10" ma:contentTypeDescription="Ein neues Dokument erstellen." ma:contentTypeScope="" ma:versionID="969204ac11472e36d23f9bf858dc86b1">
  <xsd:schema xmlns:xsd="http://www.w3.org/2001/XMLSchema" xmlns:xs="http://www.w3.org/2001/XMLSchema" xmlns:p="http://schemas.microsoft.com/office/2006/metadata/properties" xmlns:ns2="ee027e5d-e3f7-4a15-8562-b3d3cde3991d" xmlns:ns3="1dacdcdf-d4df-4960-8c37-34aeefdb918c" targetNamespace="http://schemas.microsoft.com/office/2006/metadata/properties" ma:root="true" ma:fieldsID="4bfbc37b80d867521b2692f88b3f4205" ns2:_="" ns3:_="">
    <xsd:import namespace="ee027e5d-e3f7-4a15-8562-b3d3cde3991d"/>
    <xsd:import namespace="1dacdcdf-d4df-4960-8c37-34aeefdb91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027e5d-e3f7-4a15-8562-b3d3cde399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e9e705d6-38b3-4b97-b0df-0b3ae6773d9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acdcdf-d4df-4960-8c37-34aeefdb918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b87afd1-52cb-466b-91df-8b174df1b189}" ma:internalName="TaxCatchAll" ma:showField="CatchAllData" ma:web="1dacdcdf-d4df-4960-8c37-34aeefdb91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dacdcdf-d4df-4960-8c37-34aeefdb918c" xsi:nil="true"/>
    <lcf76f155ced4ddcb4097134ff3c332f xmlns="ee027e5d-e3f7-4a15-8562-b3d3cde3991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8483088-420C-434E-A469-1CAD36F60A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027e5d-e3f7-4a15-8562-b3d3cde3991d"/>
    <ds:schemaRef ds:uri="1dacdcdf-d4df-4960-8c37-34aeefdb91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60A790B-9C07-4D26-90BF-175C92DB0386}">
  <ds:schemaRefs>
    <ds:schemaRef ds:uri="http://schemas.microsoft.com/office/2006/metadata/properties"/>
    <ds:schemaRef ds:uri="http://schemas.microsoft.com/office/infopath/2007/PartnerControls"/>
    <ds:schemaRef ds:uri="1dacdcdf-d4df-4960-8c37-34aeefdb918c"/>
    <ds:schemaRef ds:uri="ee027e5d-e3f7-4a15-8562-b3d3cde3991d"/>
  </ds:schemaRefs>
</ds:datastoreItem>
</file>

<file path=customXml/itemProps3.xml><?xml version="1.0" encoding="utf-8"?>
<ds:datastoreItem xmlns:ds="http://schemas.openxmlformats.org/officeDocument/2006/customXml" ds:itemID="{96E29F4F-ED04-4711-AB4E-50CE9F380A9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944</Words>
  <Application>Microsoft Macintosh PowerPoint</Application>
  <PresentationFormat>Breitbild</PresentationFormat>
  <Paragraphs>215</Paragraphs>
  <Slides>14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Hochschulprojekt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Lebens-Finanzplaner – Projektpräsentation</dc:title>
  <dc:subject>Präsentation Lebens-Finanzplaner</dc:subject>
  <dc:creator>Lebens-Finanzplaner Projektteam</dc:creator>
  <cp:lastModifiedBy>Thomas Relovsky</cp:lastModifiedBy>
  <cp:revision>7</cp:revision>
  <dcterms:created xsi:type="dcterms:W3CDTF">2026-07-13T13:39:48Z</dcterms:created>
  <dcterms:modified xsi:type="dcterms:W3CDTF">2026-07-23T19:19:32Z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0x010100C3574396489F2A408CA3654B3BFD8422</vt:lpwstr>
  </property>
  <property fmtid="{D5CDD505-2E9C-101B-9397-08002B2CF9AE}" pid="3" name="MediaServiceImageTags">
    <vt:lpwstr/>
  </property>
</Properties>
</file>