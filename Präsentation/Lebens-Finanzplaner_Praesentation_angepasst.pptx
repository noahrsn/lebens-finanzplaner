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95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A4F91B-700F-F20B-0E99-94333FE7839E}" v="4" dt="2026-07-13T15:59:34.3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microsoft.com/office/2015/10/relationships/revisionInfo" Target="revisionInfo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it Unzner" userId="S::grit.unzner@iu-study.org::eb886a79-0b3d-4215-b4c4-62d94d0eb27e" providerId="AD" clId="Web-{EBA4F91B-700F-F20B-0E99-94333FE7839E}"/>
    <pc:docChg chg="modSld">
      <pc:chgData name="Grit Unzner" userId="S::grit.unzner@iu-study.org::eb886a79-0b3d-4215-b4c4-62d94d0eb27e" providerId="AD" clId="Web-{EBA4F91B-700F-F20B-0E99-94333FE7839E}" dt="2026-07-13T15:59:33.959" v="1"/>
      <pc:docMkLst>
        <pc:docMk/>
      </pc:docMkLst>
      <pc:sldChg chg="addSp delSp modSp">
        <pc:chgData name="Grit Unzner" userId="S::grit.unzner@iu-study.org::eb886a79-0b3d-4215-b4c4-62d94d0eb27e" providerId="AD" clId="Web-{EBA4F91B-700F-F20B-0E99-94333FE7839E}" dt="2026-07-13T15:59:33.959" v="1"/>
        <pc:sldMkLst>
          <pc:docMk/>
          <pc:sldMk cId="1524982618" sldId="295"/>
        </pc:sldMkLst>
        <pc:picChg chg="add mod">
          <ac:chgData name="Grit Unzner" userId="S::grit.unzner@iu-study.org::eb886a79-0b3d-4215-b4c4-62d94d0eb27e" providerId="AD" clId="Web-{EBA4F91B-700F-F20B-0E99-94333FE7839E}" dt="2026-07-13T15:59:33.959" v="1"/>
          <ac:picMkLst>
            <pc:docMk/>
            <pc:sldMk cId="1524982618" sldId="295"/>
            <ac:picMk id="2" creationId="{E4093DAA-A61E-0A08-CFAC-785083B908EF}"/>
          </ac:picMkLst>
        </pc:picChg>
        <pc:picChg chg="del">
          <ac:chgData name="Grit Unzner" userId="S::grit.unzner@iu-study.org::eb886a79-0b3d-4215-b4c4-62d94d0eb27e" providerId="AD" clId="Web-{EBA4F91B-700F-F20B-0E99-94333FE7839E}" dt="2026-07-13T15:59:15.364" v="0"/>
          <ac:picMkLst>
            <pc:docMk/>
            <pc:sldMk cId="1524982618" sldId="295"/>
            <ac:picMk id="9" creationId="{FAC612F5-3D9A-BC39-54A0-AC4F19ABB2F4}"/>
          </ac:picMkLst>
        </pc:picChg>
      </pc:sldChg>
    </pc:docChg>
  </pc:docChgLst>
  <pc:docChgLst>
    <pc:chgData clId="Web-{EBA4F91B-700F-F20B-0E99-94333FE7839E}"/>
    <pc:docChg chg="addSld">
      <pc:chgData name="" userId="" providerId="" clId="Web-{EBA4F91B-700F-F20B-0E99-94333FE7839E}" dt="2026-07-13T15:38:58.566" v="0"/>
      <pc:docMkLst>
        <pc:docMk/>
      </pc:docMkLst>
      <pc:sldChg chg="add">
        <pc:chgData name="" userId="" providerId="" clId="Web-{EBA4F91B-700F-F20B-0E99-94333FE7839E}" dt="2026-07-13T15:38:58.566" v="0"/>
        <pc:sldMkLst>
          <pc:docMk/>
          <pc:sldMk cId="1524982618" sldId="29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193F97-08C5-42B2-9CF9-1A3B97CFDE7B}" type="datetimeFigureOut">
              <a:t>13.07.2026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DFF7C5-2E21-4417-8606-0071A5D16CB9}" type="slidenum"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6697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Einstieg: Projektname nennen, kurz einordnen, dass die Präsentation auf fünf Personen verteilt ist und Person 1 zusätzlich den Schluss übernimmt.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 die geänderte Aufteilung transparent machen: Person 1 beginnt mit Idee/Anforderungen und beendet die Präsentation mit Fazit.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erklären: Die Präsentation ist kein reiner Code-Durchlauf, sondern zeigt Motivation, technische Entscheidungen, Umsetzung und Bewertung.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Abschnitt eröffnen: Warum existiert das Projekt und was sollte erreicht werden?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Nicht zu technisch starten. Den Bedarf aus Nutzersicht darstellen.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Projektabgrenzung nennen: Prototyp, keine echte Finanzberatung.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 nur die wichtigsten Anforderungen nennen; Details kommen später.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Nutzerreise als Übergang in die technischen Abschnitte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 einem klaren Satz an Person 2 übergeben: Jetzt geht es darum, wie diese Anforderungen technisch umgesetzt wurden.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Technologieblock: nicht jede Library nennen, sondern Architekturentscheidungen erklären.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 in einfacher Sprache erklären. Schwerpunkt: Warum diese Bausteine zusammenpassen.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Architekturdiagramm erklären: Frontend spricht Backend an, Backend spricht Datenbank und E-Mail-Service 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Betonen, dass diese Struktur Wartbarkeit verbessert: Änderungen bleiben lokal in einem Modul.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CORS einfach erklären: wegen unterschiedlicher Ports in der Entwicklung notwendig.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Befehl nennen: docker compose up --build. Vorteil: weniger Setup-Probleme im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 an Person 3: Die Architektur wird besonders beim Datenbankwechsel relevant.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Datenbankabschnitt: Kern ist der Wechsel von JSON/NoSQL zu relationaler Struktur.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erklären: NoSQL war nicht falsch, aber für die benötigten relationalen Bearbeitungen weniger passend.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ER-Modell erklären. Besonders: Ziele und Ereignisse sind nicht mehr versteckt in einem JSON-Feld.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Nicht in Details verlieren; zentrale Begründung ist gezielte Änderbarkeit und Konsistenz.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ist einer der technisch stärksten Punkte der Doku: Änderungsdruck und Lösung erklären.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 Frontend überleiten: Die Oberfläche profitiert, weil einzelne Ziele/Events gezielt darstellbar und bearbeitbar sind.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Frontend nicht als Screenshot-Ersatz, sondern als Nutzerführung erklären.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 Frontend-Abschnitt als Nutzerperspektive positionieren.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Unterscheidung zwischen öffentlichen und geschützten Seiten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Erklären, dass Frontend-Validierung Komfort ist, Backend-Validierung aber Pflicht bleibt.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als Qualitätsmerkmal darstellen, nicht als Nebenfunktion.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Zum Ende die Grenze nennen: UX ist im Prototyp gut, aber noch nicht vollständig produktionsreif getestet.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Kernblock: Implementierung und Sicherheit zusammen erklären, ohne zu tief in Code zu gehen.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Trennung als Qualitätsmerkmal herausstellen.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Nicht jeden Codepfad aufzählen; Statuscodes und Sicherheitslogik betonen.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ist der stärkste Sicherheitsablauf. Langsam und logisch erklären.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 bleiben: Grundschutz vorhanden, aber produktive Sicherheit ist mehr.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Manuelle Tests und erste Unit-Tests einordnen; Abschluss an Person 1 übergeben.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 1 nimmt den Faden vom Einstieg wieder auf: Was war die Idee, was wurde erreicht?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Keine neue Technik einführen, nur die wichtigsten Learnings zusammenführen.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Erfolge nicht zu klein machen: Es ist kein reines Frontend, sondern ein Gesamtprojekt.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Ausblick als realistische Weiterentwicklung, nicht als Rechtfertigung.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 mit einem klaren Satz. Danach Fragen eröffnen.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2344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Lebens-Finanzplaner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</a:rPr>
              <a:t>Projektpräsentation · 5 Personen · angepasste Rollenverteilung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17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" y="306324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Webbasierte Anwendung zur persönlichen Finanzplanung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8992" y="3401568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</a:rPr>
              <a:t>React · Flask · Supabase/PostgreSQL · Docker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235440" y="109728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0" dirty="0">
                <a:solidFill>
                  <a:srgbClr val="10B981"/>
                </a:solidFill>
              </a:rPr>
              <a:t>💶</a:t>
            </a:r>
            <a:endParaRPr lang="en-US" sz="6200" dirty="0"/>
          </a:p>
        </p:txBody>
      </p:sp>
      <p:sp>
        <p:nvSpPr>
          <p:cNvPr id="10" name="Text 8"/>
          <p:cNvSpPr/>
          <p:nvPr/>
        </p:nvSpPr>
        <p:spPr>
          <a:xfrm>
            <a:off x="8503920" y="320040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2563EB"/>
                </a:solidFill>
              </a:rPr>
              <a:t>📊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966960" y="365760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F59E0B"/>
                </a:solidFill>
              </a:rPr>
              <a:t>🔐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117396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4A3B8"/>
                </a:solidFill>
              </a:rPr>
              <a:t>01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Rollenverteilung &amp; Sprechzeit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Neue Aufteilung: 6 Themenblöcke, aber weiterhin 5 Vortragende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Überblick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1490472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1559052"/>
            <a:ext cx="2377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536192" y="151790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Projektidee &amp; Anforderungen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0" y="1517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Person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26880" y="15179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</a:rPr>
              <a:t>ca. 7 Min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2084832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2203704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33272" y="2272284"/>
            <a:ext cx="2377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536192" y="223113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Technologie &amp; Architektur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0" y="22311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Person 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26880" y="223113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</a:rPr>
              <a:t>ca. 10 Min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1520" y="2798064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0120" y="2916936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3272" y="2985516"/>
            <a:ext cx="2377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536192" y="294436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Datenbank &amp; Migration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0" y="29443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Person 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26880" y="294436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</a:rPr>
              <a:t>ca. 10 Min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" y="3511296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0120" y="3630168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E11D48"/>
          </a:solidFill>
          <a:ln w="12700">
            <a:solidFill>
              <a:srgbClr val="E11D48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33272" y="3698748"/>
            <a:ext cx="2377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536192" y="365760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Frontend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0" y="3657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Person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26880" y="36576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</a:rPr>
              <a:t>ca. 10 Min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31520" y="4224528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120" y="4343400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3272" y="4411980"/>
            <a:ext cx="2377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5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536192" y="437083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Implementierung &amp; Sicherheit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400800" y="43708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Person 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26880" y="437083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</a:rPr>
              <a:t>ca. 10 Min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31520" y="4937760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0120" y="5056632"/>
            <a:ext cx="384048" cy="292608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33272" y="5125212"/>
            <a:ext cx="2377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6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536192" y="508406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Schlussteil &amp; Fazit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400800" y="508406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Person 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326880" y="50840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</a:rPr>
              <a:t>ca. 3–5 Min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Der rote Faden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Von der Problemstellung bis zum bewerteten Prototyp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Überblick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85800" y="1920240"/>
            <a:ext cx="1661160" cy="731520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1305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</a:rPr>
              <a:t>Problem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511552" y="19202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84704" y="21305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Lösungsidee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4337304" y="19202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10456" y="21305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Architektur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163056" y="19202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36208" y="21305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Datenmodell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988808" y="19202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61960" y="21305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Umsetzung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9814560" y="19202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87712" y="21305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Bewertung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1005840" y="365760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0B981"/>
                </a:solidFill>
              </a:rPr>
              <a:t>5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868680" y="43708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Vortragende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017520" y="365760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563EB"/>
                </a:solidFill>
              </a:rPr>
              <a:t>6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2880360" y="43708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Themenblöcke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29200" y="365760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59E0B"/>
                </a:solidFill>
              </a:rPr>
              <a:t>~50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4892040" y="43708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Minuten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315200" y="342900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79792" y="35935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↗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973568" y="3611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Präsentationslogik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516368" y="4087368"/>
            <a:ext cx="3072384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Jeder Abschnitt beantwortet eine Leitfrage. Die Inhalte bauen bewusst aufeinander auf und vermeiden Dopplungen.</a:t>
            </a:r>
            <a:endParaRPr lang="en-US" sz="9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</a:rPr>
              <a:t>Teil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325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Projektidee &amp; Anforderungen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</a:rPr>
              <a:t>Person 1 · ca. 7 Minuten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35440" y="118872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dirty="0">
                <a:solidFill>
                  <a:srgbClr val="10B981"/>
                </a:solidFill>
              </a:rPr>
              <a:t>💡</a:t>
            </a:r>
            <a:endParaRPr lang="en-US" sz="5800" dirty="0"/>
          </a:p>
        </p:txBody>
      </p:sp>
      <p:sp>
        <p:nvSpPr>
          <p:cNvPr id="8" name="Shape 6"/>
          <p:cNvSpPr/>
          <p:nvPr/>
        </p:nvSpPr>
        <p:spPr>
          <a:xfrm>
            <a:off x="713232" y="2816352"/>
            <a:ext cx="106070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Ziel dieses Abschnitts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3474720"/>
            <a:ext cx="74980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</a:rPr>
              <a:t>Warum wurde der Lebens-Finanzplaner entwickelt und welche Anforderungen sollte der Prototyp erfüllen?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7396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4A3B8"/>
                </a:solidFill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Ausgangsproblem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Private Finanzplanung ist oft verteilt und schwer nachvollziehbar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1 · Projektidee &amp; Anforderungen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85800" y="141732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11D48"/>
                </a:solidFill>
              </a:rPr>
              <a:t>⚠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44168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Zersplitterte Daten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2075688"/>
            <a:ext cx="2889504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Einnahmen, Ausgaben, Sparziele und Ereignisse liegen häufig in Apps, Tabellen oder Notizen verteilt.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⏳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93208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Fehlende Perspektive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36008" y="2075688"/>
            <a:ext cx="2889504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Monatswerte erklären selten, wie sich Entscheidungen langfristig auswirken.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8183880" y="141732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4847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🧭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42248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Hohe Einstiegshürde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85048" y="2075688"/>
            <a:ext cx="2889504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Finanzplanung wirkt schnell komplex, obwohl viele Personen nur eine verständliche Übersicht benötigen.</a:t>
            </a:r>
            <a:endParaRPr lang="en-US" sz="9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Projektidee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Ein zentraler Finanzplaner als Planungs- und Lernwerkzeug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1 · Projektidee &amp; Anforderungen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Was die Anwendung leisten soll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8755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Finanzielle Ausgangslage strukturiert erfassen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Ziele und Lebensereignisse abbilden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Szenarien und Prognosen verständlich machen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FAQ und Assistent als Hilfestellung anbieten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Was bewusst nicht Ziel ist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6539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Keine Bankanbindung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Keine Zahlungsfunktion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Keine verbindliche Finanz- oder Steuerberatung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Kein produktives Identitäts- oder Risikoprofiling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Zentrale Anforderungen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Funktionen, die den Prototyp tragen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1 · Projektidee &amp; Anforderungen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417320"/>
            <a:ext cx="32461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👤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89888" y="16002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Registrierung &amp; Login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32688" y="2075688"/>
            <a:ext cx="284378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Benutzerkonto anlegen, anmelden und abmelden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4480560" y="1417320"/>
            <a:ext cx="32461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138928" y="16002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Finanzprofil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81728" y="2075688"/>
            <a:ext cx="284378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Eingabewerte dauerhaft und nutzerbezogen speichern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8229600" y="1417320"/>
            <a:ext cx="32461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9419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87968" y="16002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Ziele &amp; Ereignisse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430768" y="2075688"/>
            <a:ext cx="284378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Planbare finanzielle Entwicklungen abbilden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" y="3291840"/>
            <a:ext cx="32461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34564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11D48"/>
                </a:solidFill>
              </a:rPr>
              <a:t>✉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34747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Passwort vergessen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32688" y="3950208"/>
            <a:ext cx="284378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Reset-Link per E-Mail, zeitlich begrenzt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4480560" y="3291840"/>
            <a:ext cx="32461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45152" y="34564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</a:rPr>
              <a:t>❓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38928" y="34747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FAQ &amp; Demo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681728" y="3950208"/>
            <a:ext cx="284378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Orientierung, Fragen und Präsentationsfähigkeit</a:t>
            </a:r>
            <a:endParaRPr lang="en-US" sz="9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Nutzerreise im Prototyp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Der typische Ablauf aus Sicht einer Nutzerin oder eines Nutzers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1 · Projektidee &amp; Anforderungen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1676400" cy="731520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039112"/>
            <a:ext cx="153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</a:rPr>
              <a:t>Registrieren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481072" y="1828800"/>
            <a:ext cx="167640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54224" y="2039112"/>
            <a:ext cx="153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Einloggen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4322064" y="1828800"/>
            <a:ext cx="167640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95216" y="2039112"/>
            <a:ext cx="153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Finanzdaten erfassen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163056" y="1828800"/>
            <a:ext cx="167640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36208" y="2039112"/>
            <a:ext cx="153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Ziele planen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8004048" y="1828800"/>
            <a:ext cx="167640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77200" y="2039112"/>
            <a:ext cx="153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Prognose ansehen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9845040" y="1828800"/>
            <a:ext cx="167640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18192" y="2039112"/>
            <a:ext cx="153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Hilfe nutzen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914400" y="3429000"/>
            <a:ext cx="36576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8992" y="35935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72768" y="3611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Leitgedanke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15568" y="4087368"/>
            <a:ext cx="325526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Die Anwendung soll nicht nur Daten speichern, sondern Entscheidungen verständlicher machen.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4937760" y="3429000"/>
            <a:ext cx="36576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02352" y="35935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👁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596128" y="3611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Anforderung an UX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138928" y="4087368"/>
            <a:ext cx="325526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Jeder Schritt muss ohne technisches Vorwissen nachvollziehbar sein.</a:t>
            </a:r>
            <a:endParaRPr lang="en-US" sz="9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Abnahmekriterien für den Prototyp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Woran das Team erkennt, dass der Kern funktioniert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1 · Projektidee &amp; Anforderungen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68680" y="1508760"/>
            <a:ext cx="5852160" cy="4206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320" dirty="0">
                <a:solidFill>
                  <a:srgbClr val="334155"/>
                </a:solidFill>
              </a:rPr>
              <a:t>Registrierung und Login funktionieren reproduzierbar</a:t>
            </a:r>
            <a:endParaRPr lang="en-US" sz="1320" dirty="0"/>
          </a:p>
          <a:p>
            <a:r>
              <a:rPr lang="en-US" sz="1320" dirty="0">
                <a:solidFill>
                  <a:srgbClr val="334155"/>
                </a:solidFill>
              </a:rPr>
              <a:t>Finanzdaten werden nach dem Speichern erneut angezeigt</a:t>
            </a:r>
            <a:endParaRPr lang="en-US" sz="1320" dirty="0"/>
          </a:p>
          <a:p>
            <a:r>
              <a:rPr lang="en-US" sz="1320" dirty="0">
                <a:solidFill>
                  <a:srgbClr val="334155"/>
                </a:solidFill>
              </a:rPr>
              <a:t>Passwort-Reset erzeugt gültigen Link und aktualisiert das Passwort</a:t>
            </a:r>
            <a:endParaRPr lang="en-US" sz="1320" dirty="0"/>
          </a:p>
          <a:p>
            <a:r>
              <a:rPr lang="en-US" sz="1320" dirty="0">
                <a:solidFill>
                  <a:srgbClr val="334155"/>
                </a:solidFill>
              </a:rPr>
              <a:t>FAQ-Seite ist erreichbar und bietet erste Orientierung</a:t>
            </a:r>
            <a:endParaRPr lang="en-US" sz="1320" dirty="0"/>
          </a:p>
          <a:p>
            <a:r>
              <a:rPr lang="en-US" sz="1320" dirty="0">
                <a:solidFill>
                  <a:srgbClr val="334155"/>
                </a:solidFill>
              </a:rPr>
              <a:t>System lässt sich lokal mit Docker starten</a:t>
            </a:r>
            <a:endParaRPr lang="en-US" sz="1320" dirty="0"/>
          </a:p>
          <a:p>
            <a:r>
              <a:rPr lang="en-US" sz="1320" dirty="0">
                <a:solidFill>
                  <a:srgbClr val="334155"/>
                </a:solidFill>
              </a:rPr>
              <a:t>Demo-Ablauf ist ohne kritische Fehler durchführbar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731520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79792" y="17647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973568" y="1783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Übergabe an Person 2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516368" y="2258568"/>
            <a:ext cx="2980944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Aus diesen Anforderungen ergibt sich die technische Architektur: Frontend, Backend, Datenbank und Services.</a:t>
            </a:r>
            <a:endParaRPr lang="en-US" sz="9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</a:rPr>
              <a:t>Teil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325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Technologie &amp; Architektur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</a:rPr>
              <a:t>Person 2 · ca. 10 Minuten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35440" y="118872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dirty="0">
                <a:solidFill>
                  <a:srgbClr val="2563EB"/>
                </a:solidFill>
              </a:rPr>
              <a:t>🏗</a:t>
            </a:r>
            <a:endParaRPr lang="en-US" sz="5800" dirty="0"/>
          </a:p>
        </p:txBody>
      </p:sp>
      <p:sp>
        <p:nvSpPr>
          <p:cNvPr id="8" name="Shape 6"/>
          <p:cNvSpPr/>
          <p:nvPr/>
        </p:nvSpPr>
        <p:spPr>
          <a:xfrm>
            <a:off x="713232" y="2816352"/>
            <a:ext cx="106070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Ziel dieses Abschnitts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3474720"/>
            <a:ext cx="74980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</a:rPr>
              <a:t>Wie ist das System technisch aufgebaut und wie kommunizieren die Komponenten miteinander?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7396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4A3B8"/>
                </a:solidFill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Technologie-Stack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Frontend, Backend, Datenbank und Laufzeitumgebung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2 · Technologie &amp; Architektur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417320"/>
            <a:ext cx="2560320" cy="35204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89888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React + Vite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32688" y="2075688"/>
            <a:ext cx="2157984" cy="2697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Komponentenbasierte Oberfläche, schneller Entwicklungsserver auf Port 5173.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3611880" y="1417320"/>
            <a:ext cx="2560320" cy="35204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7647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270248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Flask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813048" y="2075688"/>
            <a:ext cx="2157984" cy="2697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Leichtgewichtiges Python-Backend mit modularen Blueprints.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6492240" y="1417320"/>
            <a:ext cx="2560320" cy="35204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5683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50608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Supabase/PostgreSQL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693408" y="2075688"/>
            <a:ext cx="2157984" cy="2697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Relationale Speicherung der Benutzer- und Finanzdaten.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9372600" y="1417320"/>
            <a:ext cx="2103120" cy="35204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3719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</a:rPr>
              <a:t>🐳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030968" y="1600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Docker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573768" y="2075688"/>
            <a:ext cx="1700784" cy="2697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Reproduzierbarer Start von Frontend und Backend.</a:t>
            </a:r>
            <a:endParaRPr lang="en-US" sz="9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Systemarchitektur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Dreischichtige Client-Server-Struktur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2 · Technologie &amp; Architektur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291840" y="2743200"/>
            <a:ext cx="164592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629400" y="2743200"/>
            <a:ext cx="164592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852160" y="3657600"/>
            <a:ext cx="0" cy="77724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" y="20116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21762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4168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React-Frontend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86968" y="2670048"/>
            <a:ext cx="2157984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Darstellung, Formulare, Navigation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4617720" y="20116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82312" y="21762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76088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Flask-API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818888" y="2670048"/>
            <a:ext cx="2157984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Routen, Validierung, Services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8549640" y="20116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14232" y="21762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08008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PostgreSQL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750808" y="2670048"/>
            <a:ext cx="2157984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Persistente Datenhaltung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4434840" y="45720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9432" y="47365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11D48"/>
                </a:solidFill>
              </a:rPr>
              <a:t>✉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093208" y="4754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E-Mail-Service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636008" y="5230368"/>
            <a:ext cx="252374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Passwort-Reset-Link versenden</a:t>
            </a:r>
            <a:endParaRPr lang="en-US" sz="9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Backend-Modularisierung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Flask-Blueprints trennen fachliche Bereiche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2 · Technologie &amp; Architektur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325880"/>
            <a:ext cx="4663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508760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auth_routes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32688" y="1984248"/>
            <a:ext cx="426110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Registrierung, Login, Logout, Reset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6126480" y="1325880"/>
            <a:ext cx="4663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508760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financial_profile_routes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27648" y="1984248"/>
            <a:ext cx="426110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Finanzprofil speichern und laden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731520" y="2834640"/>
            <a:ext cx="4663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017520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user_routes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32688" y="3493008"/>
            <a:ext cx="426110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Nutzerdaten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126480" y="2834640"/>
            <a:ext cx="4663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7648" y="3017520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prognosen_routes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27648" y="3493008"/>
            <a:ext cx="426110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Berechnungen und Szenarien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" y="4343400"/>
            <a:ext cx="46634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4526280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chat_routes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32688" y="5001768"/>
            <a:ext cx="426110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KI-/Assistenzfunktion</a:t>
            </a:r>
            <a:endParaRPr lang="en-US" sz="9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Kommunikation zwischen Frontend und Backend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JSON-Daten, Cookies und CORS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2 · Technologie &amp; Architektur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572768"/>
            <a:ext cx="1630680" cy="731520"/>
          </a:xfrm>
          <a:prstGeom prst="chevron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1783080"/>
            <a:ext cx="1484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</a:rPr>
              <a:t>Formular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526792" y="1572768"/>
            <a:ext cx="163068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99944" y="1783080"/>
            <a:ext cx="1484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HTTP Request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4322064" y="1572768"/>
            <a:ext cx="163068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95216" y="1783080"/>
            <a:ext cx="1484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Flask Route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117336" y="1572768"/>
            <a:ext cx="163068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783080"/>
            <a:ext cx="1484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Service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912608" y="1572768"/>
            <a:ext cx="163068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85760" y="1783080"/>
            <a:ext cx="1484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DB Antwort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9707880" y="1572768"/>
            <a:ext cx="163068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81032" y="1783080"/>
            <a:ext cx="1484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UI Update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868680" y="306324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3272" y="32278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{}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27048" y="32461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JSON als Austauschformat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69848" y="3721608"/>
            <a:ext cx="2935224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Eingaben und Antworten werden strukturiert übertragen.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4434840" y="306324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9432" y="32278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🍪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093208" y="32461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Session-Cookie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636008" y="3721608"/>
            <a:ext cx="2935224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Nach dem Login ordnet das Backend Anfragen dem Nutzer zu.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8001000" y="306324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65592" y="32278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↔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659368" y="32461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CORS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202168" y="3721608"/>
            <a:ext cx="2935224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Erlaubt lokale Frontend-Ports und überträgt Credentials.</a:t>
            </a:r>
            <a:endParaRPr lang="en-US" sz="9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Docker-Setup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Zwei Services für einen reproduzierbaren Start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2 · Technologie &amp; Architektur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Backend-Service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8755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Build aus backend/Dockerfile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Port 5000 nach außen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liest .env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Debug-Modus in der Entwicklung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Volume für schnellen Codewechsel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Frontend-Service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6539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Build aus frontend/Dockerfile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Port 5173 nach außen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abhängig vom Backend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Node-Modules im Container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Start über Docker Compose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Architektur: Stärken &amp; Grenzen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Einordnung für den Prototyp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2 · Technologie &amp; Architektur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Stärken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8755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Klare Trennung von UI, API und Datenbank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Modulare Routenstruktur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Schnelle lokale Entwicklung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Gute Grundlage für Erweiterungen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Grenzen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6539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Noch kein produktiver Betrieb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Sicherheits-Hardening ausbaufähig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Keine vollständige API-Spezifikation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Deployment über Docker erst lokal beschrieben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</a:rPr>
              <a:t>Teil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325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Datenbank &amp; Migration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</a:rPr>
              <a:t>Person 3 · ca. 10 Minuten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35440" y="118872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dirty="0">
                <a:solidFill>
                  <a:srgbClr val="F59E0B"/>
                </a:solidFill>
              </a:rPr>
              <a:t>🗄</a:t>
            </a:r>
            <a:endParaRPr lang="en-US" sz="5800" dirty="0"/>
          </a:p>
        </p:txBody>
      </p:sp>
      <p:sp>
        <p:nvSpPr>
          <p:cNvPr id="8" name="Shape 6"/>
          <p:cNvSpPr/>
          <p:nvPr/>
        </p:nvSpPr>
        <p:spPr>
          <a:xfrm>
            <a:off x="713232" y="2816352"/>
            <a:ext cx="106070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Ziel dieses Abschnitts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3474720"/>
            <a:ext cx="74980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</a:rPr>
              <a:t>Warum wurde das Datenmodell umgestellt und wie wurden JSON-Strukturen relational abgebildet?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7396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4A3B8"/>
                </a:solidFill>
              </a:rPr>
              <a:t>17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Ausgangslage der Datenhaltung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Von Azure Cosmos DB / JSON zur relationalen Datenbank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3 · Datenbank &amp; Migration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Ursprünglicher Ansatz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8755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Dokumentenorientierte Speicherung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Finanzprofil als größeres JSON-Objekt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Ziele und Lebensereignisse als eingebettete Arrays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Flexibel, aber schwerer gezielt zu ändern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Neuer Ansatz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6539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Supabase mit PostgreSQL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Relationale Tabellen und Beziehungen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Gezielte CRUD-Operationen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Bessere Konsistenz und Abfragen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042424E2-BE46-1296-98E0-943CF9818396}"/>
              </a:ext>
            </a:extLst>
          </p:cNvPr>
          <p:cNvSpPr txBox="1"/>
          <p:nvPr/>
        </p:nvSpPr>
        <p:spPr>
          <a:xfrm>
            <a:off x="3048693" y="3244334"/>
            <a:ext cx="6097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648C25F-1A76-F56D-653D-60E65124EC89}"/>
              </a:ext>
            </a:extLst>
          </p:cNvPr>
          <p:cNvSpPr txBox="1"/>
          <p:nvPr/>
        </p:nvSpPr>
        <p:spPr>
          <a:xfrm>
            <a:off x="3048693" y="3244334"/>
            <a:ext cx="6097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1651A99-6741-9893-14A2-A6F0FCAAA848}"/>
              </a:ext>
            </a:extLst>
          </p:cNvPr>
          <p:cNvSpPr txBox="1"/>
          <p:nvPr/>
        </p:nvSpPr>
        <p:spPr>
          <a:xfrm>
            <a:off x="3048693" y="3244334"/>
            <a:ext cx="6097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/>
          </a:p>
        </p:txBody>
      </p:sp>
      <p:pic>
        <p:nvPicPr>
          <p:cNvPr id="2" name="Grafik 1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E4093DAA-A61E-0A08-CFAC-785083B908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2562"/>
            <a:ext cx="12192000" cy="649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9826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Relationales Datenmodell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Nutzer, Profil, Ziele und Ereignisse werden getrennt gespeichert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3 · Datenbank &amp; Migration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907792" y="2743200"/>
            <a:ext cx="658368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833872" y="2606040"/>
            <a:ext cx="77724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833872" y="2880360"/>
            <a:ext cx="777240" cy="41148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7240" y="224028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24048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👤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35608" y="2423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users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78408" y="2898648"/>
            <a:ext cx="1609344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Konto- und Login-Daten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3703320" y="224028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67912" y="24048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📁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361688" y="2423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financial_profiles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904488" y="2898648"/>
            <a:ext cx="1609344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finanzielle Basisdaten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6766560" y="1645920"/>
            <a:ext cx="2148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31152" y="18105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🎯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24928" y="18288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financial_goals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967728" y="2304288"/>
            <a:ext cx="1746504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Ziele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6766560" y="2834640"/>
            <a:ext cx="2148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31152" y="29992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11D48"/>
                </a:solidFill>
              </a:rPr>
              <a:t>📅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424928" y="3017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life_events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967728" y="3493008"/>
            <a:ext cx="1746504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Lebensereignisse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9464040" y="224028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28632" y="24048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</a:rPr>
              <a:t>🔐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122408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reset fields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665208" y="2898648"/>
            <a:ext cx="1426464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Token-Hash + Ablauf</a:t>
            </a:r>
            <a:endParaRPr lang="en-US" sz="960" dirty="0"/>
          </a:p>
        </p:txBody>
      </p:sp>
      <p:sp>
        <p:nvSpPr>
          <p:cNvPr id="32" name="Text 30"/>
          <p:cNvSpPr/>
          <p:nvPr/>
        </p:nvSpPr>
        <p:spPr>
          <a:xfrm>
            <a:off x="960120" y="4617720"/>
            <a:ext cx="98755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40" dirty="0">
                <a:solidFill>
                  <a:srgbClr val="334155"/>
                </a:solidFill>
              </a:rPr>
              <a:t>Ein Nutzer besitzt ein zugeordnetes Finanzprofil.</a:t>
            </a:r>
            <a:endParaRPr lang="en-US" sz="1240" dirty="0"/>
          </a:p>
          <a:p>
            <a:r>
              <a:rPr lang="en-US" sz="1240" dirty="0">
                <a:solidFill>
                  <a:srgbClr val="334155"/>
                </a:solidFill>
              </a:rPr>
              <a:t>Ziele und Ereignisse werden als eigenständige Datensätze gespeichert.</a:t>
            </a:r>
            <a:endParaRPr lang="en-US" sz="1240" dirty="0"/>
          </a:p>
          <a:p>
            <a:r>
              <a:rPr lang="en-US" sz="1240" dirty="0">
                <a:solidFill>
                  <a:srgbClr val="334155"/>
                </a:solidFill>
              </a:rPr>
              <a:t>Fremdschlüssel sichern die Zuordnung und erleichtern spätere Erweiterungen.</a:t>
            </a:r>
            <a:endParaRPr lang="en-US" sz="124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Warum nicht alles in JSON lassen?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Relationale Tabellen passen besser zu den benötigten Operationen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3 · Datenbank &amp; Migration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914400" y="1417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Kriterium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03320" y="14173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JSON im Profil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0" y="1417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Relationale Tabellen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1810512"/>
            <a:ext cx="1042416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1947672"/>
            <a:ext cx="2423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34155"/>
                </a:solidFill>
              </a:rPr>
              <a:t>Einzelnes Ziel ändern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703320" y="1947672"/>
            <a:ext cx="3063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Profil komplett lesen/schreiben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315200" y="1947672"/>
            <a:ext cx="3291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47857"/>
                </a:solidFill>
              </a:rPr>
              <a:t>gezieltes UPDATE auf Ziel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22960" y="2496312"/>
            <a:ext cx="1042416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2633472"/>
            <a:ext cx="2423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34155"/>
                </a:solidFill>
              </a:rPr>
              <a:t>Abfragen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703320" y="2633472"/>
            <a:ext cx="3063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komplexer über JSON-Struktur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0" y="2633472"/>
            <a:ext cx="3291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47857"/>
                </a:solidFill>
              </a:rPr>
              <a:t>direkt über SQL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" y="3182112"/>
            <a:ext cx="1042416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3319272"/>
            <a:ext cx="2423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34155"/>
                </a:solidFill>
              </a:rPr>
              <a:t>Konsistenz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703320" y="3319272"/>
            <a:ext cx="3063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stärker durch Anwendungscode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15200" y="3319272"/>
            <a:ext cx="3291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47857"/>
                </a:solidFill>
              </a:rPr>
              <a:t>Constraints und Fremdschlüssel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22960" y="3867912"/>
            <a:ext cx="1042416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4005072"/>
            <a:ext cx="2423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34155"/>
                </a:solidFill>
              </a:rPr>
              <a:t>Erweiterbarkeit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703320" y="4005072"/>
            <a:ext cx="3063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</a:rPr>
              <a:t>schnell am Anfang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15200" y="4005072"/>
            <a:ext cx="3291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047857"/>
                </a:solidFill>
              </a:rPr>
              <a:t>stabiler bei wachsendem Modell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14400" y="49834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Entscheidung: JSON war flexibel, relationale Tabellen wurden für den Prototyp langfristig robuster.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Migrationsablauf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Bestehende JSON-Strukturen in Kindtabellen überführen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3 · Datenbank &amp; Migration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85800" y="1645920"/>
            <a:ext cx="2026310" cy="731520"/>
          </a:xfrm>
          <a:prstGeom prst="chevron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856232"/>
            <a:ext cx="18800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</a:rPr>
              <a:t>Tabellen anlegen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876702" y="1645920"/>
            <a:ext cx="202631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9854" y="1856232"/>
            <a:ext cx="18800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Profile lesen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5067605" y="1645920"/>
            <a:ext cx="202631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40757" y="1856232"/>
            <a:ext cx="18800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Arrays extrahieren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7258507" y="1645920"/>
            <a:ext cx="202631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31659" y="1856232"/>
            <a:ext cx="18800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Datensätze einfügen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9449410" y="1645920"/>
            <a:ext cx="202631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22562" y="1856232"/>
            <a:ext cx="18800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Zuordnung prüfen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868680" y="3154680"/>
            <a:ext cx="30175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3272" y="33192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⚙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27048" y="3337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Migrationsskript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69848" y="3813048"/>
            <a:ext cx="2615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migrate_json_to_sql.py überführt Ziele und Lebensereignisse aus JSON in SQL-Tabellen.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4434840" y="3154680"/>
            <a:ext cx="30175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9432" y="33192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✓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93208" y="3337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Kontrolle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636008" y="3813048"/>
            <a:ext cx="2615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Nach der Migration müssen Anzahl und Zuordnung der Datensätze geprüft werden.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8001000" y="3154680"/>
            <a:ext cx="30175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65592" y="33192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11D48"/>
                </a:solidFill>
              </a:rPr>
              <a:t>!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659368" y="3337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Risiko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202168" y="3813048"/>
            <a:ext cx="2615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Teilweise Migrationen können Inkonsistenzen erzeugen; produktiv wären Transaktionen wichtig.</a:t>
            </a:r>
            <a:endParaRPr lang="en-US" sz="96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Datenbankdesign: Bewertung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Was durch die Umstellung gewonnen wurde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3 · Datenbank &amp; Migration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914400" y="160020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0B981"/>
                </a:solidFill>
              </a:rPr>
              <a:t>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777240" y="23134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klare Zuordnung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26080" y="160020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563EB"/>
                </a:solidFill>
              </a:rPr>
              <a:t>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88920" y="23134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bessere Abfragen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160020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59E0B"/>
                </a:solidFill>
              </a:rPr>
              <a:t>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800600" y="231343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saubere CRUDs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23760" y="1463040"/>
            <a:ext cx="34747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88352" y="16276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↗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882128" y="1645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Technischer Gewinn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24928" y="2121408"/>
            <a:ext cx="3072384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Ziele, Ereignisse und Profile können getrennt verändert, validiert und erweitert werden.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868680" y="3977640"/>
            <a:ext cx="4480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3272" y="41422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</a:rPr>
              <a:t>…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270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Offener Punkt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69848" y="4636008"/>
            <a:ext cx="4078224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Migrationen sollten künftig versioniert und automatisiert werden, z. B. über Alembic oder SQL-Migrationsdateien.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5806440" y="3977640"/>
            <a:ext cx="44805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71032" y="41422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6480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Übergabe an Frontend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007608" y="4636008"/>
            <a:ext cx="4078224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Die Datenbankstruktur bestimmt, welche Funktionen die Oberfläche gezielt anbieten kann.</a:t>
            </a:r>
            <a:endParaRPr lang="en-US" sz="9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11D48"/>
                </a:solidFill>
              </a:rPr>
              <a:t>Teil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325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Frontend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</a:rPr>
              <a:t>Person 4 · ca. 10 Minuten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35440" y="118872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dirty="0">
                <a:solidFill>
                  <a:srgbClr val="E11D48"/>
                </a:solidFill>
              </a:rPr>
              <a:t>🖥</a:t>
            </a:r>
            <a:endParaRPr lang="en-US" sz="5800" dirty="0"/>
          </a:p>
        </p:txBody>
      </p:sp>
      <p:sp>
        <p:nvSpPr>
          <p:cNvPr id="8" name="Shape 6"/>
          <p:cNvSpPr/>
          <p:nvPr/>
        </p:nvSpPr>
        <p:spPr>
          <a:xfrm>
            <a:off x="713232" y="2816352"/>
            <a:ext cx="106070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Ziel dieses Abschnitts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3474720"/>
            <a:ext cx="74980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</a:rPr>
              <a:t>Wie führt das Frontend die Nutzenden durch Registrierung, Finanzdaten und Informationsbereiche?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7396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4A3B8"/>
                </a:solidFill>
              </a:rPr>
              <a:t>23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Rolle des Frontends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Das Frontend übersetzt komplexe Finanzdaten in verständliche Schritte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4 · Frontend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41732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89888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Eingaben strukturieren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32688" y="2075688"/>
            <a:ext cx="2889504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Formulare führen durch Konto, Finanzprofil, Ziele und Ereignisse.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💬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93208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Feedback geben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36008" y="2075688"/>
            <a:ext cx="2889504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Erfolgsmeldungen, Fehler und geladene Werte müssen verständlich dargestellt werden.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8138160" y="141732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275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11D48"/>
                </a:solidFill>
              </a:rPr>
              <a:t>🧘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796528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Komplexität reduzieren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39328" y="2075688"/>
            <a:ext cx="2889504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Nutzende sollen ohne Fachwissen erkennen, was die Anwendung mit ihren Daten macht.</a:t>
            </a:r>
            <a:endParaRPr lang="en-US" sz="96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Frontend-Flows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Die wichtigsten Seiten und Übergänge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4 · Frontend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85800" y="1691640"/>
            <a:ext cx="1661160" cy="731520"/>
          </a:xfrm>
          <a:prstGeom prst="chevron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019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</a:rPr>
              <a:t>Start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511552" y="16916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84704" y="19019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Registrierung/Login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4337304" y="16916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10456" y="19019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Dashboard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163056" y="16916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36208" y="19019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Finanzprofil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988808" y="16916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61960" y="19019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Szenarien/Ziele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9814560" y="16916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87712" y="19019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FAQ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914400" y="31546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8992" y="33192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🌐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72768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Öffentliche Bereiche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15568" y="3813048"/>
            <a:ext cx="298094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Start, Registrierung, Login, Passwort vergessen und FAQ.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4526280" y="315468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90872" y="33192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🔒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84648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Geschützte Bereiche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727448" y="3813048"/>
            <a:ext cx="298094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Finanzprofil, Ziele, Prognosen und nutzerspezifische Auswertungen.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8138160" y="3154680"/>
            <a:ext cx="29260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02752" y="33192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↕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796528" y="33375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Statuswechsel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339328" y="3813048"/>
            <a:ext cx="252374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Login und Logout verändern sichtbar die verfügbaren Funktionen.</a:t>
            </a:r>
            <a:endParaRPr lang="en-US" sz="96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Finanzprofil im Frontend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Eingabemaske als Verbindung von Nutzer und Datenbank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4 · Frontend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Eingaben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8755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Einnahmen und Ausgaben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Rücklagen und Vermögen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Verbindlichkeiten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Ziele und Planwerte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Frontend-Aufgaben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6539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lokaler Formularzustand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Plausibilitätsfeedback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API-Aufruf an Backend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Antwort verarbeiten und anzeigen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FAQ und Hilfebereiche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Orientierung direkt innerhalb der Anwendung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4 · Frontend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868680" y="1417320"/>
            <a:ext cx="365760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327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?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1600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FAQ-Seite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69848" y="2075688"/>
            <a:ext cx="3255264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Häufige Fragen werden gebündelt und über die Navigation erreichbar gemacht. Gruppen helfen beim schnellen Finden.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4800600" y="1417320"/>
            <a:ext cx="2743200" cy="30175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519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458968" y="1600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Erklärung statt Fachjargon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001768" y="2075688"/>
            <a:ext cx="2340864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Finanzbegriffe und Bedienlogik sollten so einfach wie möglich erklärt werden.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7818120" y="1417320"/>
            <a:ext cx="2743200" cy="30175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8271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🎤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76488" y="1600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Demo-Fähigkeit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019288" y="2075688"/>
            <a:ext cx="2340864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Eine klare FAQ hilft auch bei der Vorstellung des Projekts und reduziert Rückfragen.</a:t>
            </a:r>
            <a:endParaRPr lang="en-US" sz="96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Frontend-Qualität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Worauf bei UI und Bedienbarkeit geachtet wurde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4 · Frontend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640080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300" dirty="0">
                <a:solidFill>
                  <a:srgbClr val="334155"/>
                </a:solidFill>
              </a:rPr>
              <a:t>Konsistente Sprache und informelle Ansprache der Nutzenden</a:t>
            </a:r>
            <a:endParaRPr lang="en-US" sz="1300" dirty="0"/>
          </a:p>
          <a:p>
            <a:r>
              <a:rPr lang="en-US" sz="1300" dirty="0">
                <a:solidFill>
                  <a:srgbClr val="334155"/>
                </a:solidFill>
              </a:rPr>
              <a:t>Reduzierte Oberfläche statt überladener Finanzsoftware</a:t>
            </a:r>
            <a:endParaRPr lang="en-US" sz="1300" dirty="0"/>
          </a:p>
          <a:p>
            <a:r>
              <a:rPr lang="en-US" sz="1300" dirty="0">
                <a:solidFill>
                  <a:srgbClr val="334155"/>
                </a:solidFill>
              </a:rPr>
              <a:t>Direkte Rückmeldungen bei Login, Registrierung und Speichern</a:t>
            </a:r>
            <a:endParaRPr lang="en-US" sz="1300" dirty="0"/>
          </a:p>
          <a:p>
            <a:r>
              <a:rPr lang="en-US" sz="1300" dirty="0">
                <a:solidFill>
                  <a:srgbClr val="334155"/>
                </a:solidFill>
              </a:rPr>
              <a:t>Navigation zwischen zentralen Funktionsbereichen</a:t>
            </a:r>
            <a:endParaRPr lang="en-US" sz="1300" dirty="0"/>
          </a:p>
          <a:p>
            <a:r>
              <a:rPr lang="en-US" sz="1300" dirty="0">
                <a:solidFill>
                  <a:srgbClr val="334155"/>
                </a:solidFill>
              </a:rPr>
              <a:t>Vorbereitung einer Demo durch manuelle Tests</a:t>
            </a:r>
            <a:endParaRPr lang="en-US" sz="1300" dirty="0"/>
          </a:p>
          <a:p>
            <a:r>
              <a:rPr lang="en-US" sz="1300" dirty="0">
                <a:solidFill>
                  <a:srgbClr val="334155"/>
                </a:solidFill>
              </a:rPr>
              <a:t>Potenzial: Barrierefreiheit, Responsivität und Fehlerzustände systematischer testen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09560" y="1828800"/>
            <a:ext cx="283464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74152" y="19933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11D48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67928" y="2011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Übergabe an Person 5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110728" y="2487168"/>
            <a:ext cx="2432304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Nach der Oberfläche folgt die technische Umsetzung der Kernfunktionen und Sicherheitsmechanismen.</a:t>
            </a:r>
            <a:endParaRPr lang="en-US" sz="96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47857"/>
                </a:solidFill>
              </a:rPr>
              <a:t>Teil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325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Implementierung &amp; Sicherheit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</a:rPr>
              <a:t>Person 5 · ca. 10 Minuten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35440" y="118872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dirty="0">
                <a:solidFill>
                  <a:srgbClr val="047857"/>
                </a:solidFill>
              </a:rPr>
              <a:t>🔐</a:t>
            </a:r>
            <a:endParaRPr lang="en-US" sz="5800" dirty="0"/>
          </a:p>
        </p:txBody>
      </p:sp>
      <p:sp>
        <p:nvSpPr>
          <p:cNvPr id="8" name="Shape 6"/>
          <p:cNvSpPr/>
          <p:nvPr/>
        </p:nvSpPr>
        <p:spPr>
          <a:xfrm>
            <a:off x="713232" y="2816352"/>
            <a:ext cx="106070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Ziel dieses Abschnitts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3474720"/>
            <a:ext cx="74980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</a:rPr>
              <a:t>Wie wurden Kernfunktionen umgesetzt und welche Sicherheitsmaßnahmen sind zentral?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7396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4A3B8"/>
                </a:solidFill>
              </a:rPr>
              <a:t>29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Implementierungsprinzip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Routen nehmen Anfragen an, Services kapseln Fachlogik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5 · Implementierung &amp; Sicherheit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85800" y="1691640"/>
            <a:ext cx="1661160" cy="731520"/>
          </a:xfrm>
          <a:prstGeom prst="chevron">
            <a:avLst/>
          </a:prstGeom>
          <a:solidFill>
            <a:srgbClr val="047857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019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</a:rPr>
              <a:t>Request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511552" y="16916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84704" y="19019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Route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4337304" y="16916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10456" y="19019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Validierung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163056" y="16916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36208" y="19019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Service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988808" y="16916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61960" y="19019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Datenbank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9814560" y="1691640"/>
            <a:ext cx="166116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87712" y="1901952"/>
            <a:ext cx="1514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Response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868680" y="324612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3272" y="34107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API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27048" y="3429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Routen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69848" y="3904488"/>
            <a:ext cx="270662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HTTP-Methoden, Statuscodes und Eingabeprüfung.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4343400" y="324612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07992" y="34107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⚙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001768" y="3429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Services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44568" y="3904488"/>
            <a:ext cx="270662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Datenbankzugriff, E-Mail-Versand und fachliche Operationen.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7818120" y="324612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82712" y="34107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DB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476488" y="3429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Datenbank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019288" y="3904488"/>
            <a:ext cx="270662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Persistenz und Zuordnung zu Nutzerkonten.</a:t>
            </a:r>
            <a:endParaRPr lang="en-US" sz="96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Registrierung und Login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Authentifizierung als zentraler Einstiegspunkt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5 · Implementierung &amp; Sicherheit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Registrierung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8755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Pflichtfelder prüfen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E-Mail normalisieren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Doppelte E-Mail verhindern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Passwort-Hash speichern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Status 201 bei Erfolg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Login / Logout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6539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E-Mail und Passwort prüfen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bcrypt-Vergleich mit Hash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Session-Daten setzen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einheitliche Fehlermeldung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Session beim Logout löschen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Passwort zurücksetzen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Reset-Link mit gehashtem Token und Ablaufzeit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5 · Implementierung &amp; Sicherheit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40080" y="1600200"/>
            <a:ext cx="1676400" cy="731520"/>
          </a:xfrm>
          <a:prstGeom prst="chevron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810512"/>
            <a:ext cx="153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</a:rPr>
              <a:t>E-Mail eingeben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481072" y="1600200"/>
            <a:ext cx="167640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54224" y="1810512"/>
            <a:ext cx="153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Token erzeugen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4322064" y="1600200"/>
            <a:ext cx="167640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95216" y="1810512"/>
            <a:ext cx="153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Hash speichern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163056" y="1600200"/>
            <a:ext cx="167640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36208" y="1810512"/>
            <a:ext cx="153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Link senden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8004048" y="1600200"/>
            <a:ext cx="167640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77200" y="1810512"/>
            <a:ext cx="153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Token prüfen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9845040" y="1600200"/>
            <a:ext cx="1676400" cy="73152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18192" y="1810512"/>
            <a:ext cx="1530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0F172A"/>
                </a:solidFill>
              </a:rPr>
              <a:t>Passwort setzen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868680" y="3200400"/>
            <a:ext cx="33375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3272" y="33649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🛡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527048" y="33832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Schutz gegen Account-Enumeration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69848" y="3858768"/>
            <a:ext cx="293522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Die Antwort ist gleich, egal ob die E-Mail existiert.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4480560" y="3200400"/>
            <a:ext cx="33375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45152" y="33649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#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38928" y="33832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Token nicht im Klartext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681728" y="3858768"/>
            <a:ext cx="293522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In der Datenbank liegt nur der Hash des Reset-Tokens.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8092440" y="3200400"/>
            <a:ext cx="33375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57032" y="33649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11D48"/>
                </a:solidFill>
              </a:rPr>
              <a:t>⏱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750808" y="33832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Zeitlich begrenzt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293608" y="3858768"/>
            <a:ext cx="2935224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Der Link ist 30 Minuten gültig.</a:t>
            </a:r>
            <a:endParaRPr lang="en-US" sz="96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Sicherheitsmaßnahmen im Prototyp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Was bereits umgesetzt ist und was noch fehlt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5 · Implementierung &amp; Sicherheit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Bereits vorhanden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8755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bcrypt für Passwort-Hashes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Sessions für angemeldete Nutzer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CORS mit erlaubten Ursprüngen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Umgebungsvariablen für Secrets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gehashte Reset-Tokens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12064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10528" y="15544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Für Produktion ergänzen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65392" y="1993392"/>
            <a:ext cx="4617720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CSRF-Schutz und Rate Limiting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sichere HTTP-Header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vollständiges Secret-Management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Monitoring und Logging</a:t>
            </a:r>
            <a:endParaRPr lang="en-US" sz="1200" dirty="0"/>
          </a:p>
          <a:p>
            <a:r>
              <a:rPr lang="en-US" sz="1200" dirty="0">
                <a:solidFill>
                  <a:srgbClr val="334155"/>
                </a:solidFill>
              </a:rPr>
              <a:t>Security Review und Datenschutzprüfung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Tests und Demo-Vorbereitung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Qualitätssicherung entlang der wichtigsten Nutzerflüsse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5 · Implementierung &amp; Sicherheit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5361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89888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Register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32688" y="2029968"/>
            <a:ext cx="2752344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neues Konto anlegen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4434840" y="137160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15361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93208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Login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36008" y="2029968"/>
            <a:ext cx="2752344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richtige/falsche Daten prüfen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8138160" y="137160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2752" y="15361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796528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Profil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39328" y="2029968"/>
            <a:ext cx="2752344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Speichern und Neuladen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731520" y="315468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33192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11D48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3337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Reset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32688" y="3813048"/>
            <a:ext cx="2752344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Link und Ablauf prüfen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4434840" y="315468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9432" y="33192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34155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093208" y="3337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FAQ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636008" y="3813048"/>
            <a:ext cx="2752344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Navigation und Inhalte prüfen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8138160" y="315468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02752" y="331927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47857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796528" y="3337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Logout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339328" y="3813048"/>
            <a:ext cx="2752344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Sitzung beenden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3108960" y="5074920"/>
            <a:ext cx="5943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10128" y="5257800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Ziel der Tests: Der Demo-Ablauf soll stabil und nachvollziehbar funktionieren.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3310128" y="5733288"/>
            <a:ext cx="5541264" cy="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10B981</a:t>
            </a:r>
            <a:endParaRPr lang="en-US" sz="96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155"/>
                </a:solidFill>
              </a:rPr>
              <a:t>Teil 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325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Schlussteil &amp; Fazit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</a:rPr>
              <a:t>Person 1 · ca. 3–5 Minuten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35440" y="118872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dirty="0">
                <a:solidFill>
                  <a:srgbClr val="334155"/>
                </a:solidFill>
              </a:rPr>
              <a:t>🎯</a:t>
            </a:r>
            <a:endParaRPr lang="en-US" sz="5800" dirty="0"/>
          </a:p>
        </p:txBody>
      </p:sp>
      <p:sp>
        <p:nvSpPr>
          <p:cNvPr id="8" name="Shape 6"/>
          <p:cNvSpPr/>
          <p:nvPr/>
        </p:nvSpPr>
        <p:spPr>
          <a:xfrm>
            <a:off x="713232" y="2816352"/>
            <a:ext cx="106070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1272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Ziel dieses Abschnitts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3474720"/>
            <a:ext cx="749808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</a:rPr>
              <a:t>Was wurde erreicht, welche Grenzen bestehen und wie kann das Projekt weiterentwickelt werden?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7396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94A3B8"/>
                </a:solidFill>
              </a:rPr>
              <a:t>35</a:t>
            </a:r>
            <a:endParaRPr lang="en-US" sz="7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Zentrale Herausforderungen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Was im Projekt besonders anspruchsvoll war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6 · Schlussteil &amp; Fazit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31520" y="141732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🗄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89888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Datenbankwechsel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32688" y="2075688"/>
            <a:ext cx="2889504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Von Cosmos DB / JSON zu Supabase/PostgreSQL mit relationalem Modell.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🔗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93208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Integration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36008" y="2075688"/>
            <a:ext cx="2889504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Frontend, Backend, Datenbank, E-Mail und Docker mussten zusammenspielen.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8138160" y="141732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275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796528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Sicherheit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39328" y="2075688"/>
            <a:ext cx="2889504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Login, Sessions und Passwort-Reset mussten korrekt und nachvollziehbar umgesetzt werden.</a:t>
            </a:r>
            <a:endParaRPr lang="en-US" sz="96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Was wurde erreicht?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Bewertung anhand der Projektziele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6 · Schlussteil &amp; Fazit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68680" y="1371600"/>
            <a:ext cx="6675120" cy="4389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300" dirty="0">
                <a:solidFill>
                  <a:srgbClr val="334155"/>
                </a:solidFill>
              </a:rPr>
              <a:t>Lauffähiger Prototyp mit React-Frontend und Flask-Backend</a:t>
            </a:r>
            <a:endParaRPr lang="en-US" sz="1300" dirty="0"/>
          </a:p>
          <a:p>
            <a:r>
              <a:rPr lang="en-US" sz="1300" dirty="0">
                <a:solidFill>
                  <a:srgbClr val="334155"/>
                </a:solidFill>
              </a:rPr>
              <a:t>Benutzerverwaltung mit Registrierung, Login und Logout</a:t>
            </a:r>
            <a:endParaRPr lang="en-US" sz="1300" dirty="0"/>
          </a:p>
          <a:p>
            <a:r>
              <a:rPr lang="en-US" sz="1300" dirty="0">
                <a:solidFill>
                  <a:srgbClr val="334155"/>
                </a:solidFill>
              </a:rPr>
              <a:t>Finanzprofil und nutzerbezogene Speicherung der Eingabewerte</a:t>
            </a:r>
            <a:endParaRPr lang="en-US" sz="1300" dirty="0"/>
          </a:p>
          <a:p>
            <a:r>
              <a:rPr lang="en-US" sz="1300" dirty="0">
                <a:solidFill>
                  <a:srgbClr val="334155"/>
                </a:solidFill>
              </a:rPr>
              <a:t>Datenbankmodell nach Umstieg auf PostgreSQL überarbeitet</a:t>
            </a:r>
            <a:endParaRPr lang="en-US" sz="1300" dirty="0"/>
          </a:p>
          <a:p>
            <a:r>
              <a:rPr lang="en-US" sz="1300" dirty="0">
                <a:solidFill>
                  <a:srgbClr val="334155"/>
                </a:solidFill>
              </a:rPr>
              <a:t>Passwort-vergessen-Funktion mit E-Mail-Link umgesetzt</a:t>
            </a:r>
            <a:endParaRPr lang="en-US" sz="1300" dirty="0"/>
          </a:p>
          <a:p>
            <a:r>
              <a:rPr lang="en-US" sz="1300" dirty="0">
                <a:solidFill>
                  <a:srgbClr val="334155"/>
                </a:solidFill>
              </a:rPr>
              <a:t>FAQ-Seite und Demo-Vorbereitung integriert</a:t>
            </a:r>
            <a:endParaRPr lang="en-US" sz="1300" dirty="0"/>
          </a:p>
          <a:p>
            <a:r>
              <a:rPr lang="en-US" sz="1300" dirty="0">
                <a:solidFill>
                  <a:srgbClr val="334155"/>
                </a:solidFill>
              </a:rPr>
              <a:t>Docker-Setup für lokale Inbetriebnahme vorhanden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213055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796528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Kernbotschaft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339328" y="2624328"/>
            <a:ext cx="2249424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Der Prototyp verbindet mehrere reale Webentwicklungsbausteine zu einem funktionierenden Gesamtsystem.</a:t>
            </a:r>
            <a:endParaRPr lang="en-US" sz="96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Ausblick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Wie der Lebens-Finanzplaner weiterentwickelt werden kann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6 · Schlussteil &amp; Fazit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333756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⚙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5608" y="1600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Technisch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" y="2075688"/>
            <a:ext cx="2935224" cy="2468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CI-Pipeline, API-Dokumentation, Migrationstool, HTTPS-Deployment, Monitoring.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4434840" y="1417320"/>
            <a:ext cx="333756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📈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93208" y="1600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Fachlich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36008" y="2075688"/>
            <a:ext cx="2935224" cy="2468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Mehr Szenarien, Inflation, Exporte, detaillierte Berechnungen und verständlichere Erklärungen.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8092440" y="1417320"/>
            <a:ext cx="333756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5819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11D48"/>
                </a:solidFill>
              </a:rPr>
              <a:t>⚖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750808" y="16002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Sicherheit &amp; Recht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293608" y="2075688"/>
            <a:ext cx="2935224" cy="2468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Security Review, Datenschutzkonzept, Rate Limiting, klare Abgrenzung von Finanzberatung.</a:t>
            </a:r>
            <a:endParaRPr lang="en-US" sz="96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84048"/>
            <a:ext cx="9052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Fazit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12648" y="850392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Vom Planungsproblem zum technischen Prototyp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6473952"/>
            <a:ext cx="11201400" cy="0"/>
          </a:xfrm>
          <a:prstGeom prst="line">
            <a:avLst/>
          </a:prstGeom>
          <a:noFill/>
          <a:ln w="762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196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Teil 6 · Schlussteil &amp; Fazit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120140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68680" y="1417320"/>
            <a:ext cx="99669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</a:rPr>
              <a:t>Der Lebens-Finanzplaner zeigt, wie persönliche Finanzplanung als moderne Webanwendung umgesetzt werden kann.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914400" y="2743200"/>
            <a:ext cx="29260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8992" y="29077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72768" y="2926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Projektidee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15568" y="3401568"/>
            <a:ext cx="252374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Finanzdaten zentral und verständlich planen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4617720" y="2743200"/>
            <a:ext cx="29260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82312" y="29077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563EB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276088" y="2926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Umsetzung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818888" y="3401568"/>
            <a:ext cx="252374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React, Flask, PostgreSQL und Docker integriert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8321040" y="2743200"/>
            <a:ext cx="29260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8890">
            <a:solidFill>
              <a:srgbClr val="CBD5E1">
                <a:alpha val="7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5632" y="29077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79408" y="2926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</a:rPr>
              <a:t>Lerneffekt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22208" y="3401568"/>
            <a:ext cx="252374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334155"/>
                </a:solidFill>
              </a:rPr>
              <a:t>Datenmodell, Sicherheit und Teamarbeit real erlebt</a:t>
            </a:r>
            <a:endParaRPr lang="en-US" sz="960" dirty="0"/>
          </a:p>
        </p:txBody>
      </p:sp>
      <p:sp>
        <p:nvSpPr>
          <p:cNvPr id="22" name="Text 20"/>
          <p:cNvSpPr/>
          <p:nvPr/>
        </p:nvSpPr>
        <p:spPr>
          <a:xfrm>
            <a:off x="352044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B981"/>
                </a:solidFill>
              </a:rPr>
              <a:t>Vielen Dank · Fragen?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3574396489F2A408CA3654B3BFD8422" ma:contentTypeVersion="10" ma:contentTypeDescription="Ein neues Dokument erstellen." ma:contentTypeScope="" ma:versionID="969204ac11472e36d23f9bf858dc86b1">
  <xsd:schema xmlns:xsd="http://www.w3.org/2001/XMLSchema" xmlns:xs="http://www.w3.org/2001/XMLSchema" xmlns:p="http://schemas.microsoft.com/office/2006/metadata/properties" xmlns:ns2="ee027e5d-e3f7-4a15-8562-b3d3cde3991d" xmlns:ns3="1dacdcdf-d4df-4960-8c37-34aeefdb918c" targetNamespace="http://schemas.microsoft.com/office/2006/metadata/properties" ma:root="true" ma:fieldsID="4bfbc37b80d867521b2692f88b3f4205" ns2:_="" ns3:_="">
    <xsd:import namespace="ee027e5d-e3f7-4a15-8562-b3d3cde3991d"/>
    <xsd:import namespace="1dacdcdf-d4df-4960-8c37-34aeefdb918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027e5d-e3f7-4a15-8562-b3d3cde3991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e9e705d6-38b3-4b97-b0df-0b3ae6773d9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acdcdf-d4df-4960-8c37-34aeefdb918c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b87afd1-52cb-466b-91df-8b174df1b189}" ma:internalName="TaxCatchAll" ma:showField="CatchAllData" ma:web="1dacdcdf-d4df-4960-8c37-34aeefdb91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dacdcdf-d4df-4960-8c37-34aeefdb918c" xsi:nil="true"/>
    <lcf76f155ced4ddcb4097134ff3c332f xmlns="ee027e5d-e3f7-4a15-8562-b3d3cde3991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6E29F4F-ED04-4711-AB4E-50CE9F380A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8483088-420C-434E-A469-1CAD36F60A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e027e5d-e3f7-4a15-8562-b3d3cde3991d"/>
    <ds:schemaRef ds:uri="1dacdcdf-d4df-4960-8c37-34aeefdb918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60A790B-9C07-4D26-90BF-175C92DB0386}">
  <ds:schemaRefs>
    <ds:schemaRef ds:uri="http://schemas.microsoft.com/office/2006/metadata/properties"/>
    <ds:schemaRef ds:uri="http://schemas.microsoft.com/office/infopath/2007/PartnerControls"/>
    <ds:schemaRef ds:uri="1dacdcdf-d4df-4960-8c37-34aeefdb918c"/>
    <ds:schemaRef ds:uri="ee027e5d-e3f7-4a15-8562-b3d3cde3991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40</Slides>
  <Notes>39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40</vt:i4>
      </vt:variant>
    </vt:vector>
  </HeadingPairs>
  <TitlesOfParts>
    <vt:vector size="41" baseType="lpstr"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Hochschulprojekt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Lebens-Finanzplaner – Projektpräsentation</dc:title>
  <dc:subject>Präsentation Lebens-Finanzplaner</dc:subject>
  <dc:creator>Lebens-Finanzplaner Projektteam</dc:creator>
  <cp:lastModifiedBy>Lebens-Finanzplaner Projektteam</cp:lastModifiedBy>
  <cp:revision>6</cp:revision>
  <dcterms:created xsi:type="dcterms:W3CDTF">2026-07-13T13:39:48Z</dcterms:created>
  <dcterms:modified xsi:type="dcterms:W3CDTF">2026-07-13T15:59:34Z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0x010100C3574396489F2A408CA3654B3BFD8422</vt:lpwstr>
  </property>
  <property fmtid="{D5CDD505-2E9C-101B-9397-08002B2CF9AE}" pid="3" name="MediaServiceImageTags">
    <vt:lpwstr/>
  </property>
</Properties>
</file>