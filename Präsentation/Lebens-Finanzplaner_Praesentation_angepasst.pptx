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theme/theme1.xml" ContentType="application/vnd.openxmlformats-officedocument.theme+xml"/>
  <Override PartName="/ppt/theme/theme2.xml" ContentType="application/vnd.openxmlformats-officedocument.theme+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s/slide18.xml" ContentType="application/vnd.openxmlformats-officedocument.presentationml.slide+xml"/>
  <Override PartName="/ppt/slides/slide1.xml" ContentType="application/vnd.openxmlformats-officedocument.presentationml.slide+xml"/>
  <Override PartName="/ppt/slides/slide20.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23.xml" ContentType="application/vnd.openxmlformats-officedocument.presentationml.slide+xml"/>
  <Override PartName="/ppt/slides/slide6.xml" ContentType="application/vnd.openxmlformats-officedocument.presentationml.slide+xml"/>
  <Override PartName="/ppt/slides/slide24.xml" ContentType="application/vnd.openxmlformats-officedocument.presentationml.slide+xml"/>
  <Override PartName="/ppt/slides/slide7.xml" ContentType="application/vnd.openxmlformats-officedocument.presentationml.slide+xml"/>
  <Override PartName="/ppt/slides/slide25.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comments/comment20.xml" ContentType="application/vnd.openxmlformats-officedocument.presentationml.comments+xml"/>
  <Override PartName="/ppt/comments/comment21.xml" ContentType="application/vnd.openxmlformats-officedocument.presentationml.comment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9.xml" ContentType="application/vnd.openxmlformats-officedocument.presentationml.notesSlide+xml"/>
  <Override PartName="/ppt/notesSlides/notesSlide12.xml" ContentType="application/vnd.openxmlformats-officedocument.presentationml.notesSlide+xml"/>
  <Override PartName="/ppt/notesSlides/notesSlide28.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3.xml" ContentType="application/vnd.openxmlformats-officedocument.presentationml.notesSlide+xml"/>
  <Override PartName="/ppt/notesSlides/notesSlide18.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ommentAuthors.xml" ContentType="application/vnd.openxmlformats-officedocument.presentationml.commentAuthors+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Lst>
  <p:sldSz cx="12192000" cy="6858000"/>
  <p:notesSz cx="6858000" cy="12192000"/>
</p:presentation>
</file>

<file path=ppt/commentAuthors.xml><?xml version="1.0" encoding="utf-8"?>
<p:cmAuthorLst xmlns:p="http://schemas.openxmlformats.org/presentationml/2006/main">
  <p:cmAuthor id="0" name="" initials="" lastIdx="2" clrIdx="0"/>
</p:cmAuthorLst>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presProps" Target="presProps.xml"/><Relationship Id="rId44" Type="http://schemas.openxmlformats.org/officeDocument/2006/relationships/commentAuthors" Target="commentAuthors.xml"/>
</Relationships>
</file>

<file path=ppt/comments/comment20.xml><?xml version="1.0" encoding="utf-8"?>
<p:cmLst xmlns:p="http://schemas.openxmlformats.org/presentationml/2006/main">
  <p:cm authorId="0" dt="2026-07-16T11:59:29.000000000" idx="1">
    <p:pos x="0" y="0"/>
    <p:text>JSON/NoSQL
SQL
Konsistenz wird hauptsächlich durch den Anwendungscode sichergestellt.
Konsistenz wird zusätzlich von der Datenbank selbst überwacht.
Fehlerhafte Verweise oder ungültige Werte können gespeichert werden, wenn die Anwendung nicht prüft.
Fremdschlüssel und Constraints verhindern viele Fehler automatisch.
Mehr Verantwortung für den Entwickler.
Weniger Risiko für inkonsistente Daten durch eingebaute Datenbankregeln.
</p:text>
  </p:cm>
</p:cmLst>
</file>

<file path=ppt/comments/comment21.xml><?xml version="1.0" encoding="utf-8"?>
<p:cmLst xmlns:p="http://schemas.openxmlformats.org/presentationml/2006/main">
  <p:cm authorId="0" dt="2026-07-16T12:08:23.000000000" idx="2">
    <p:pos x="0" y="0"/>
    <p:text>Zunächst gab es nur die Tabellen users und financial_profiles mit id und data: json.</p:text>
  </p:cm>
</p:cmLst>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216000" y="812520"/>
            <a:ext cx="7127280" cy="4008960"/>
          </a:xfrm>
          <a:prstGeom prst="rect">
            <a:avLst/>
          </a:prstGeom>
          <a:noFill/>
          <a:ln w="0">
            <a:noFill/>
          </a:ln>
        </p:spPr>
        <p:txBody>
          <a:bodyPr lIns="0" tIns="0" rIns="0" bIns="0" anchor="ctr">
            <a:noAutofit/>
          </a:bodyPr>
          <a:p>
            <a:r>
              <a:rPr lang="de-DE" sz="1800" b="0" u="none" strike="noStrike">
                <a:solidFill>
                  <a:schemeClr val="dk1"/>
                </a:solidFill>
                <a:effectLst/>
                <a:uFillTx/>
                <a:latin typeface="Aptos"/>
              </a:rPr>
              <a:t>Folie mittels Klicken verschieben</a:t>
            </a:r>
            <a:endParaRPr lang="de-DE" sz="1800" b="0" u="none" strike="noStrike">
              <a:solidFill>
                <a:schemeClr val="dk1"/>
              </a:solidFill>
              <a:effectLst/>
              <a:uFillTx/>
              <a:latin typeface="Aptos"/>
            </a:endParaRPr>
          </a:p>
        </p:txBody>
      </p:sp>
      <p:sp>
        <p:nvSpPr>
          <p:cNvPr id="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de-DE" sz="2000" b="0" u="none" strike="noStrike">
                <a:solidFill>
                  <a:srgbClr val="000000"/>
                </a:solidFill>
                <a:effectLst/>
                <a:uFillTx/>
                <a:latin typeface="Arial"/>
              </a:rPr>
              <a:t>Format der Notizen mittels Klicken bearbeiten</a:t>
            </a:r>
            <a:endParaRPr lang="de-DE" sz="2000" b="0" u="none" strike="noStrike">
              <a:solidFill>
                <a:srgbClr val="000000"/>
              </a:solidFill>
              <a:effectLst/>
              <a:uFillTx/>
              <a:latin typeface="Arial"/>
            </a:endParaRPr>
          </a:p>
        </p:txBody>
      </p:sp>
      <p:sp>
        <p:nvSpPr>
          <p:cNvPr id="6"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de-DE" sz="1400" b="0" u="none" strike="noStrike">
                <a:solidFill>
                  <a:srgbClr val="000000"/>
                </a:solidFill>
                <a:effectLst/>
                <a:uFillTx/>
                <a:latin typeface="Times New Roman"/>
              </a:rPr>
              <a:t> </a:t>
            </a:r>
            <a:endParaRPr lang="de-DE" sz="1400" b="0" u="none" strike="noStrike">
              <a:solidFill>
                <a:srgbClr val="000000"/>
              </a:solidFill>
              <a:effectLst/>
              <a:uFillTx/>
              <a:latin typeface="Times New Roman"/>
            </a:endParaRPr>
          </a:p>
        </p:txBody>
      </p:sp>
      <p:sp>
        <p:nvSpPr>
          <p:cNvPr id="7"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de-DE" sz="1400" b="0" u="none" strike="noStrike">
                <a:solidFill>
                  <a:srgbClr val="000000"/>
                </a:solidFill>
                <a:effectLst/>
                <a:uFillTx/>
                <a:latin typeface="Times New Roman"/>
              </a:defRPr>
            </a:lvl1pPr>
          </a:lstStyle>
          <a:p>
            <a:pPr indent="0" algn="r">
              <a:buNone/>
            </a:pPr>
            <a:r>
              <a:rPr lang="de-DE" sz="1400" b="0" u="none" strike="noStrike">
                <a:solidFill>
                  <a:srgbClr val="000000"/>
                </a:solidFill>
                <a:effectLst/>
                <a:uFillTx/>
                <a:latin typeface="Times New Roman"/>
              </a:rPr>
              <a:t> </a:t>
            </a:r>
            <a:endParaRPr lang="de-DE" sz="1400" b="0" u="none" strike="noStrike">
              <a:solidFill>
                <a:srgbClr val="000000"/>
              </a:solidFill>
              <a:effectLst/>
              <a:uFillTx/>
              <a:latin typeface="Times New Roman"/>
            </a:endParaRPr>
          </a:p>
        </p:txBody>
      </p:sp>
      <p:sp>
        <p:nvSpPr>
          <p:cNvPr id="8"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lgn="l">
              <a:buNone/>
              <a:defRPr lang="de-DE" sz="1400" b="0" u="none" strike="noStrike">
                <a:solidFill>
                  <a:srgbClr val="000000"/>
                </a:solidFill>
                <a:effectLst/>
                <a:uFillTx/>
                <a:latin typeface="Times New Roman"/>
              </a:defRPr>
            </a:lvl1pPr>
          </a:lstStyle>
          <a:p>
            <a:pPr indent="0" algn="l">
              <a:buNone/>
            </a:pPr>
            <a:r>
              <a:rPr lang="de-DE" sz="1400" b="0" u="none" strike="noStrike">
                <a:solidFill>
                  <a:srgbClr val="000000"/>
                </a:solidFill>
                <a:effectLst/>
                <a:uFillTx/>
                <a:latin typeface="Times New Roman"/>
              </a:rPr>
              <a:t> </a:t>
            </a:r>
            <a:endParaRPr lang="de-DE" sz="1400" b="0" u="none" strike="noStrike">
              <a:solidFill>
                <a:srgbClr val="000000"/>
              </a:solidFill>
              <a:effectLst/>
              <a:uFillTx/>
              <a:latin typeface="Times New Roman"/>
            </a:endParaRPr>
          </a:p>
        </p:txBody>
      </p:sp>
      <p:sp>
        <p:nvSpPr>
          <p:cNvPr id="9"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de-DE" sz="1400" b="0" u="none" strike="noStrike">
                <a:solidFill>
                  <a:srgbClr val="000000"/>
                </a:solidFill>
                <a:effectLst/>
                <a:uFillTx/>
                <a:latin typeface="Times New Roman"/>
              </a:defRPr>
            </a:lvl1pPr>
          </a:lstStyle>
          <a:p>
            <a:pPr indent="0" algn="r">
              <a:buNone/>
            </a:pPr>
            <a:fld id="{C2DB4BE8-5F8B-40B8-9A55-8E2C4E193087}" type="slidenum">
              <a:rPr lang="de-DE" sz="1400" b="0" u="none" strike="noStrike">
                <a:solidFill>
                  <a:srgbClr val="000000"/>
                </a:solidFill>
                <a:effectLst/>
                <a:uFillTx/>
                <a:latin typeface="Times New Roman"/>
              </a:rPr>
              <a:t>1</a:t>
            </a:fld>
            <a:endParaRPr lang="de-DE"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5" name="PlaceHolder 1"/>
          <p:cNvSpPr>
            <a:spLocks noGrp="1"/>
          </p:cNvSpPr>
          <p:nvPr>
            <p:ph type="sldImg"/>
          </p:nvPr>
        </p:nvSpPr>
        <p:spPr>
          <a:xfrm>
            <a:off x="-228600" y="1523880"/>
            <a:ext cx="7314840" cy="4114440"/>
          </a:xfrm>
          <a:prstGeom prst="rect">
            <a:avLst/>
          </a:prstGeom>
          <a:ln w="0">
            <a:noFill/>
          </a:ln>
        </p:spPr>
      </p:sp>
      <p:sp>
        <p:nvSpPr>
          <p:cNvPr id="766" name="PlaceHolder 2"/>
          <p:cNvSpPr>
            <a:spLocks noGrp="1"/>
          </p:cNvSpPr>
          <p:nvPr>
            <p:ph type="body"/>
          </p:nvPr>
        </p:nvSpPr>
        <p:spPr>
          <a:xfrm>
            <a:off x="685800" y="5867280"/>
            <a:ext cx="5486040" cy="48002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Einstieg: Projektname nennen, kurz einordnen, dass die Präsentation auf fünf Personen verteilt ist und Person 1 zusätzlich den Schluss übernimmt.</a:t>
            </a:r>
            <a:endParaRPr lang="de-DE" sz="2000" b="0" u="none" strike="noStrike">
              <a:solidFill>
                <a:srgbClr val="000000"/>
              </a:solidFill>
              <a:effectLst/>
              <a:uFillTx/>
              <a:latin typeface="Arial"/>
            </a:endParaRPr>
          </a:p>
        </p:txBody>
      </p:sp>
      <p:sp>
        <p:nvSpPr>
          <p:cNvPr id="767" name="PlaceHolder 3"/>
          <p:cNvSpPr>
            <a:spLocks noGrp="1"/>
          </p:cNvSpPr>
          <p:nvPr>
            <p:ph type="sldNum" idx="4"/>
          </p:nvPr>
        </p:nvSpPr>
        <p:spPr>
          <a:xfrm>
            <a:off x="3884760" y="11580840"/>
            <a:ext cx="2971440" cy="61092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E9A8257-2751-4F40-9CDD-F616F185A7B1}" type="slidenum">
              <a:rPr lang="en-US" sz="1200" b="0" u="none" strike="noStrike">
                <a:solidFill>
                  <a:schemeClr val="dk1"/>
                </a:solidFill>
                <a:effectLst/>
                <a:uFillTx/>
                <a:latin typeface="+mn-lt"/>
                <a:ea typeface="+mn-ea"/>
              </a:rPr>
              <a:t>39</a:t>
            </a:fld>
            <a:endParaRPr lang="de-DE"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8" name="PlaceHolder 1"/>
          <p:cNvSpPr>
            <a:spLocks noGrp="1"/>
          </p:cNvSpPr>
          <p:nvPr>
            <p:ph type="sldImg"/>
          </p:nvPr>
        </p:nvSpPr>
        <p:spPr>
          <a:xfrm>
            <a:off x="-228600" y="1523880"/>
            <a:ext cx="7314840" cy="4114440"/>
          </a:xfrm>
          <a:prstGeom prst="rect">
            <a:avLst/>
          </a:prstGeom>
          <a:ln w="0">
            <a:noFill/>
          </a:ln>
        </p:spPr>
      </p:sp>
      <p:sp>
        <p:nvSpPr>
          <p:cNvPr id="769" name="PlaceHolder 2"/>
          <p:cNvSpPr>
            <a:spLocks noGrp="1"/>
          </p:cNvSpPr>
          <p:nvPr>
            <p:ph type="body"/>
          </p:nvPr>
        </p:nvSpPr>
        <p:spPr>
          <a:xfrm>
            <a:off x="685800" y="5867280"/>
            <a:ext cx="5486040" cy="48002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Hier die geänderte Aufteilung transparent machen: Person 1 beginnt mit Idee/Anforderungen und beendet die Präsentation mit Fazit.</a:t>
            </a:r>
            <a:endParaRPr lang="de-DE" sz="2000" b="0" u="none" strike="noStrike">
              <a:solidFill>
                <a:srgbClr val="000000"/>
              </a:solidFill>
              <a:effectLst/>
              <a:uFillTx/>
              <a:latin typeface="Arial"/>
            </a:endParaRPr>
          </a:p>
        </p:txBody>
      </p:sp>
      <p:sp>
        <p:nvSpPr>
          <p:cNvPr id="770" name="PlaceHolder 3"/>
          <p:cNvSpPr>
            <a:spLocks noGrp="1"/>
          </p:cNvSpPr>
          <p:nvPr>
            <p:ph type="sldNum" idx="5"/>
          </p:nvPr>
        </p:nvSpPr>
        <p:spPr>
          <a:xfrm>
            <a:off x="3884760" y="11580840"/>
            <a:ext cx="2971440" cy="61092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8D4F351-0757-454F-8E5F-A0EE2DD8A243}" type="slidenum">
              <a:rPr lang="en-US" sz="1200" b="0" u="none" strike="noStrike">
                <a:solidFill>
                  <a:schemeClr val="dk1"/>
                </a:solidFill>
                <a:effectLst/>
                <a:uFillTx/>
                <a:latin typeface="+mn-lt"/>
                <a:ea typeface="+mn-ea"/>
              </a:rPr>
              <a:t>39</a:t>
            </a:fld>
            <a:endParaRPr lang="de-DE"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1" name="PlaceHolder 1"/>
          <p:cNvSpPr>
            <a:spLocks noGrp="1"/>
          </p:cNvSpPr>
          <p:nvPr>
            <p:ph type="sldImg"/>
          </p:nvPr>
        </p:nvSpPr>
        <p:spPr>
          <a:xfrm>
            <a:off x="-228600" y="1523880"/>
            <a:ext cx="7314840" cy="4114440"/>
          </a:xfrm>
          <a:prstGeom prst="rect">
            <a:avLst/>
          </a:prstGeom>
          <a:ln w="0">
            <a:noFill/>
          </a:ln>
        </p:spPr>
      </p:sp>
      <p:sp>
        <p:nvSpPr>
          <p:cNvPr id="772" name="PlaceHolder 2"/>
          <p:cNvSpPr>
            <a:spLocks noGrp="1"/>
          </p:cNvSpPr>
          <p:nvPr>
            <p:ph type="body"/>
          </p:nvPr>
        </p:nvSpPr>
        <p:spPr>
          <a:xfrm>
            <a:off x="685800" y="5867280"/>
            <a:ext cx="5486040" cy="48002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Kurz erklären: Die Präsentation ist kein reiner Code-Durchlauf, sondern zeigt Motivation, technische Entscheidungen, Umsetzung und Bewertung.</a:t>
            </a:r>
            <a:endParaRPr lang="de-DE" sz="2000" b="0" u="none" strike="noStrike">
              <a:solidFill>
                <a:srgbClr val="000000"/>
              </a:solidFill>
              <a:effectLst/>
              <a:uFillTx/>
              <a:latin typeface="Arial"/>
            </a:endParaRPr>
          </a:p>
        </p:txBody>
      </p:sp>
      <p:sp>
        <p:nvSpPr>
          <p:cNvPr id="773" name="PlaceHolder 3"/>
          <p:cNvSpPr>
            <a:spLocks noGrp="1"/>
          </p:cNvSpPr>
          <p:nvPr>
            <p:ph type="sldNum" idx="6"/>
          </p:nvPr>
        </p:nvSpPr>
        <p:spPr>
          <a:xfrm>
            <a:off x="3884760" y="11580840"/>
            <a:ext cx="2971440" cy="61092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C2705CA-BD22-4034-A50B-8EA06EA28F34}" type="slidenum">
              <a:rPr lang="en-US" sz="1200" b="0" u="none" strike="noStrike">
                <a:solidFill>
                  <a:schemeClr val="dk1"/>
                </a:solidFill>
                <a:effectLst/>
                <a:uFillTx/>
                <a:latin typeface="+mn-lt"/>
                <a:ea typeface="+mn-ea"/>
              </a:rPr>
              <a:t>39</a:t>
            </a:fld>
            <a:endParaRPr lang="de-DE"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4" name="PlaceHolder 1"/>
          <p:cNvSpPr>
            <a:spLocks noGrp="1"/>
          </p:cNvSpPr>
          <p:nvPr>
            <p:ph type="sldImg"/>
          </p:nvPr>
        </p:nvSpPr>
        <p:spPr>
          <a:xfrm>
            <a:off x="-228600" y="1523880"/>
            <a:ext cx="7314840" cy="4114440"/>
          </a:xfrm>
          <a:prstGeom prst="rect">
            <a:avLst/>
          </a:prstGeom>
          <a:ln w="0">
            <a:noFill/>
          </a:ln>
        </p:spPr>
      </p:sp>
      <p:sp>
        <p:nvSpPr>
          <p:cNvPr id="775" name="PlaceHolder 2"/>
          <p:cNvSpPr>
            <a:spLocks noGrp="1"/>
          </p:cNvSpPr>
          <p:nvPr>
            <p:ph type="body"/>
          </p:nvPr>
        </p:nvSpPr>
        <p:spPr>
          <a:xfrm>
            <a:off x="685800" y="5867280"/>
            <a:ext cx="5486040" cy="48002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Abschnitt eröffnen: Warum existiert das Projekt und was sollte erreicht werden?</a:t>
            </a:r>
            <a:endParaRPr lang="de-DE" sz="2000" b="0" u="none" strike="noStrike">
              <a:solidFill>
                <a:srgbClr val="000000"/>
              </a:solidFill>
              <a:effectLst/>
              <a:uFillTx/>
              <a:latin typeface="Arial"/>
            </a:endParaRPr>
          </a:p>
        </p:txBody>
      </p:sp>
      <p:sp>
        <p:nvSpPr>
          <p:cNvPr id="776" name="PlaceHolder 3"/>
          <p:cNvSpPr>
            <a:spLocks noGrp="1"/>
          </p:cNvSpPr>
          <p:nvPr>
            <p:ph type="sldNum" idx="7"/>
          </p:nvPr>
        </p:nvSpPr>
        <p:spPr>
          <a:xfrm>
            <a:off x="3884760" y="11580840"/>
            <a:ext cx="2971440" cy="61092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F86A85B-BDAF-4CEE-B9BF-324270139058}" type="slidenum">
              <a:rPr lang="en-US" sz="1200" b="0" u="none" strike="noStrike">
                <a:solidFill>
                  <a:schemeClr val="dk1"/>
                </a:solidFill>
                <a:effectLst/>
                <a:uFillTx/>
                <a:latin typeface="+mn-lt"/>
                <a:ea typeface="+mn-ea"/>
              </a:rPr>
              <a:t>39</a:t>
            </a:fld>
            <a:endParaRPr lang="de-DE"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7" name="PlaceHolder 1"/>
          <p:cNvSpPr>
            <a:spLocks noGrp="1"/>
          </p:cNvSpPr>
          <p:nvPr>
            <p:ph type="sldImg"/>
          </p:nvPr>
        </p:nvSpPr>
        <p:spPr>
          <a:xfrm>
            <a:off x="-228600" y="1523880"/>
            <a:ext cx="7314840" cy="4114440"/>
          </a:xfrm>
          <a:prstGeom prst="rect">
            <a:avLst/>
          </a:prstGeom>
          <a:ln w="0">
            <a:noFill/>
          </a:ln>
        </p:spPr>
      </p:sp>
      <p:sp>
        <p:nvSpPr>
          <p:cNvPr id="778" name="PlaceHolder 2"/>
          <p:cNvSpPr>
            <a:spLocks noGrp="1"/>
          </p:cNvSpPr>
          <p:nvPr>
            <p:ph type="body"/>
          </p:nvPr>
        </p:nvSpPr>
        <p:spPr>
          <a:xfrm>
            <a:off x="685800" y="5867280"/>
            <a:ext cx="5486040" cy="48002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Nicht zu technisch starten. Den Bedarf aus Nutzersicht darstellen.</a:t>
            </a:r>
            <a:endParaRPr lang="de-DE" sz="2000" b="0" u="none" strike="noStrike">
              <a:solidFill>
                <a:srgbClr val="000000"/>
              </a:solidFill>
              <a:effectLst/>
              <a:uFillTx/>
              <a:latin typeface="Arial"/>
            </a:endParaRPr>
          </a:p>
        </p:txBody>
      </p:sp>
      <p:sp>
        <p:nvSpPr>
          <p:cNvPr id="779" name="PlaceHolder 3"/>
          <p:cNvSpPr>
            <a:spLocks noGrp="1"/>
          </p:cNvSpPr>
          <p:nvPr>
            <p:ph type="sldNum" idx="8"/>
          </p:nvPr>
        </p:nvSpPr>
        <p:spPr>
          <a:xfrm>
            <a:off x="3884760" y="11580840"/>
            <a:ext cx="2971440" cy="61092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6DD0163-480A-4AE6-8EFF-9F815ECDADBD}" type="slidenum">
              <a:rPr lang="en-US" sz="1200" b="0" u="none" strike="noStrike">
                <a:solidFill>
                  <a:schemeClr val="dk1"/>
                </a:solidFill>
                <a:effectLst/>
                <a:uFillTx/>
                <a:latin typeface="+mn-lt"/>
                <a:ea typeface="+mn-ea"/>
              </a:rPr>
              <a:t>39</a:t>
            </a:fld>
            <a:endParaRPr lang="de-DE"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0" name="PlaceHolder 1"/>
          <p:cNvSpPr>
            <a:spLocks noGrp="1"/>
          </p:cNvSpPr>
          <p:nvPr>
            <p:ph type="sldImg"/>
          </p:nvPr>
        </p:nvSpPr>
        <p:spPr>
          <a:xfrm>
            <a:off x="-228600" y="1523880"/>
            <a:ext cx="7314840" cy="4114440"/>
          </a:xfrm>
          <a:prstGeom prst="rect">
            <a:avLst/>
          </a:prstGeom>
          <a:ln w="0">
            <a:noFill/>
          </a:ln>
        </p:spPr>
      </p:sp>
      <p:sp>
        <p:nvSpPr>
          <p:cNvPr id="781" name="PlaceHolder 2"/>
          <p:cNvSpPr>
            <a:spLocks noGrp="1"/>
          </p:cNvSpPr>
          <p:nvPr>
            <p:ph type="body"/>
          </p:nvPr>
        </p:nvSpPr>
        <p:spPr>
          <a:xfrm>
            <a:off x="685800" y="5867280"/>
            <a:ext cx="5486040" cy="48002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Projektabgrenzung nennen: Prototyp, keine echte Finanzberatung.</a:t>
            </a:r>
            <a:endParaRPr lang="de-DE" sz="2000" b="0" u="none" strike="noStrike">
              <a:solidFill>
                <a:srgbClr val="000000"/>
              </a:solidFill>
              <a:effectLst/>
              <a:uFillTx/>
              <a:latin typeface="Arial"/>
            </a:endParaRPr>
          </a:p>
        </p:txBody>
      </p:sp>
      <p:sp>
        <p:nvSpPr>
          <p:cNvPr id="782" name="PlaceHolder 3"/>
          <p:cNvSpPr>
            <a:spLocks noGrp="1"/>
          </p:cNvSpPr>
          <p:nvPr>
            <p:ph type="sldNum" idx="9"/>
          </p:nvPr>
        </p:nvSpPr>
        <p:spPr>
          <a:xfrm>
            <a:off x="3884760" y="11580840"/>
            <a:ext cx="2971440" cy="61092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62E29EA-44EE-423F-9A2A-D72245F02924}" type="slidenum">
              <a:rPr lang="en-US" sz="1200" b="0" u="none" strike="noStrike">
                <a:solidFill>
                  <a:schemeClr val="dk1"/>
                </a:solidFill>
                <a:effectLst/>
                <a:uFillTx/>
                <a:latin typeface="+mn-lt"/>
                <a:ea typeface="+mn-ea"/>
              </a:rPr>
              <a:t>39</a:t>
            </a:fld>
            <a:endParaRPr lang="de-DE"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3" name="PlaceHolder 1"/>
          <p:cNvSpPr>
            <a:spLocks noGrp="1"/>
          </p:cNvSpPr>
          <p:nvPr>
            <p:ph type="sldImg"/>
          </p:nvPr>
        </p:nvSpPr>
        <p:spPr>
          <a:xfrm>
            <a:off x="-228600" y="1523880"/>
            <a:ext cx="7314840" cy="4114440"/>
          </a:xfrm>
          <a:prstGeom prst="rect">
            <a:avLst/>
          </a:prstGeom>
          <a:ln w="0">
            <a:noFill/>
          </a:ln>
        </p:spPr>
      </p:sp>
      <p:sp>
        <p:nvSpPr>
          <p:cNvPr id="784" name="PlaceHolder 2"/>
          <p:cNvSpPr>
            <a:spLocks noGrp="1"/>
          </p:cNvSpPr>
          <p:nvPr>
            <p:ph type="body"/>
          </p:nvPr>
        </p:nvSpPr>
        <p:spPr>
          <a:xfrm>
            <a:off x="685800" y="5867280"/>
            <a:ext cx="5486040" cy="48002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Hier nur die wichtigsten Anforderungen nennen; Details kommen später.</a:t>
            </a:r>
            <a:endParaRPr lang="de-DE" sz="2000" b="0" u="none" strike="noStrike">
              <a:solidFill>
                <a:srgbClr val="000000"/>
              </a:solidFill>
              <a:effectLst/>
              <a:uFillTx/>
              <a:latin typeface="Arial"/>
            </a:endParaRPr>
          </a:p>
        </p:txBody>
      </p:sp>
      <p:sp>
        <p:nvSpPr>
          <p:cNvPr id="785" name="PlaceHolder 3"/>
          <p:cNvSpPr>
            <a:spLocks noGrp="1"/>
          </p:cNvSpPr>
          <p:nvPr>
            <p:ph type="sldNum" idx="10"/>
          </p:nvPr>
        </p:nvSpPr>
        <p:spPr>
          <a:xfrm>
            <a:off x="3884760" y="11580840"/>
            <a:ext cx="2971440" cy="61092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9FB70AC-4F9E-420B-B2AE-8AF8A61C93E6}" type="slidenum">
              <a:rPr lang="en-US" sz="1200" b="0" u="none" strike="noStrike">
                <a:solidFill>
                  <a:schemeClr val="dk1"/>
                </a:solidFill>
                <a:effectLst/>
                <a:uFillTx/>
                <a:latin typeface="+mn-lt"/>
                <a:ea typeface="+mn-ea"/>
              </a:rPr>
              <a:t>39</a:t>
            </a:fld>
            <a:endParaRPr lang="de-DE"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6" name="PlaceHolder 1"/>
          <p:cNvSpPr>
            <a:spLocks noGrp="1"/>
          </p:cNvSpPr>
          <p:nvPr>
            <p:ph type="sldImg"/>
          </p:nvPr>
        </p:nvSpPr>
        <p:spPr>
          <a:xfrm>
            <a:off x="-228600" y="1523880"/>
            <a:ext cx="7314840" cy="4114440"/>
          </a:xfrm>
          <a:prstGeom prst="rect">
            <a:avLst/>
          </a:prstGeom>
          <a:ln w="0">
            <a:noFill/>
          </a:ln>
        </p:spPr>
      </p:sp>
      <p:sp>
        <p:nvSpPr>
          <p:cNvPr id="787" name="PlaceHolder 2"/>
          <p:cNvSpPr>
            <a:spLocks noGrp="1"/>
          </p:cNvSpPr>
          <p:nvPr>
            <p:ph type="body"/>
          </p:nvPr>
        </p:nvSpPr>
        <p:spPr>
          <a:xfrm>
            <a:off x="685800" y="5867280"/>
            <a:ext cx="5486040" cy="48002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Die Nutzerreise als Übergang in die technischen Abschnitte nutzen.</a:t>
            </a:r>
            <a:endParaRPr lang="de-DE" sz="2000" b="0" u="none" strike="noStrike">
              <a:solidFill>
                <a:srgbClr val="000000"/>
              </a:solidFill>
              <a:effectLst/>
              <a:uFillTx/>
              <a:latin typeface="Arial"/>
            </a:endParaRPr>
          </a:p>
        </p:txBody>
      </p:sp>
      <p:sp>
        <p:nvSpPr>
          <p:cNvPr id="788" name="PlaceHolder 3"/>
          <p:cNvSpPr>
            <a:spLocks noGrp="1"/>
          </p:cNvSpPr>
          <p:nvPr>
            <p:ph type="sldNum" idx="11"/>
          </p:nvPr>
        </p:nvSpPr>
        <p:spPr>
          <a:xfrm>
            <a:off x="3884760" y="11580840"/>
            <a:ext cx="2971440" cy="61092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D3CDED8-E160-4690-8037-09E69A972430}" type="slidenum">
              <a:rPr lang="en-US" sz="1200" b="0" u="none" strike="noStrike">
                <a:solidFill>
                  <a:schemeClr val="dk1"/>
                </a:solidFill>
                <a:effectLst/>
                <a:uFillTx/>
                <a:latin typeface="+mn-lt"/>
                <a:ea typeface="+mn-ea"/>
              </a:rPr>
              <a:t>39</a:t>
            </a:fld>
            <a:endParaRPr lang="de-DE"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9" name="PlaceHolder 1"/>
          <p:cNvSpPr>
            <a:spLocks noGrp="1"/>
          </p:cNvSpPr>
          <p:nvPr>
            <p:ph type="sldImg"/>
          </p:nvPr>
        </p:nvSpPr>
        <p:spPr>
          <a:xfrm>
            <a:off x="-228600" y="1523880"/>
            <a:ext cx="7314840" cy="4114440"/>
          </a:xfrm>
          <a:prstGeom prst="rect">
            <a:avLst/>
          </a:prstGeom>
          <a:ln w="0">
            <a:noFill/>
          </a:ln>
        </p:spPr>
      </p:sp>
      <p:sp>
        <p:nvSpPr>
          <p:cNvPr id="790" name="PlaceHolder 2"/>
          <p:cNvSpPr>
            <a:spLocks noGrp="1"/>
          </p:cNvSpPr>
          <p:nvPr>
            <p:ph type="body"/>
          </p:nvPr>
        </p:nvSpPr>
        <p:spPr>
          <a:xfrm>
            <a:off x="685800" y="5867280"/>
            <a:ext cx="5486040" cy="48002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Mit einem klaren Satz an Person 2 übergeben: Jetzt geht es darum, wie diese Anforderungen technisch umgesetzt wurden.</a:t>
            </a:r>
            <a:endParaRPr lang="de-DE" sz="2000" b="0" u="none" strike="noStrike">
              <a:solidFill>
                <a:srgbClr val="000000"/>
              </a:solidFill>
              <a:effectLst/>
              <a:uFillTx/>
              <a:latin typeface="Arial"/>
            </a:endParaRPr>
          </a:p>
        </p:txBody>
      </p:sp>
      <p:sp>
        <p:nvSpPr>
          <p:cNvPr id="791" name="PlaceHolder 3"/>
          <p:cNvSpPr>
            <a:spLocks noGrp="1"/>
          </p:cNvSpPr>
          <p:nvPr>
            <p:ph type="sldNum" idx="12"/>
          </p:nvPr>
        </p:nvSpPr>
        <p:spPr>
          <a:xfrm>
            <a:off x="3884760" y="11580840"/>
            <a:ext cx="2971440" cy="61092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FB0E7A5-B035-4C68-8863-544DEFDEBD57}" type="slidenum">
              <a:rPr lang="en-US" sz="1200" b="0" u="none" strike="noStrike">
                <a:solidFill>
                  <a:schemeClr val="dk1"/>
                </a:solidFill>
                <a:effectLst/>
                <a:uFillTx/>
                <a:latin typeface="+mn-lt"/>
                <a:ea typeface="+mn-ea"/>
              </a:rPr>
              <a:t>39</a:t>
            </a:fld>
            <a:endParaRPr lang="de-DE"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2" name="PlaceHolder 1"/>
          <p:cNvSpPr>
            <a:spLocks noGrp="1"/>
          </p:cNvSpPr>
          <p:nvPr>
            <p:ph type="sldImg"/>
          </p:nvPr>
        </p:nvSpPr>
        <p:spPr>
          <a:xfrm>
            <a:off x="-228600" y="1523880"/>
            <a:ext cx="7314840" cy="4114440"/>
          </a:xfrm>
          <a:prstGeom prst="rect">
            <a:avLst/>
          </a:prstGeom>
          <a:ln w="0">
            <a:noFill/>
          </a:ln>
        </p:spPr>
      </p:sp>
      <p:sp>
        <p:nvSpPr>
          <p:cNvPr id="793" name="PlaceHolder 2"/>
          <p:cNvSpPr>
            <a:spLocks noGrp="1"/>
          </p:cNvSpPr>
          <p:nvPr>
            <p:ph type="body"/>
          </p:nvPr>
        </p:nvSpPr>
        <p:spPr>
          <a:xfrm>
            <a:off x="685800" y="5867280"/>
            <a:ext cx="5486040" cy="48002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Technologieblock: nicht jede Library nennen, sondern Architekturentscheidungen erklären.</a:t>
            </a:r>
            <a:endParaRPr lang="de-DE" sz="2000" b="0" u="none" strike="noStrike">
              <a:solidFill>
                <a:srgbClr val="000000"/>
              </a:solidFill>
              <a:effectLst/>
              <a:uFillTx/>
              <a:latin typeface="Arial"/>
            </a:endParaRPr>
          </a:p>
        </p:txBody>
      </p:sp>
      <p:sp>
        <p:nvSpPr>
          <p:cNvPr id="794" name="PlaceHolder 3"/>
          <p:cNvSpPr>
            <a:spLocks noGrp="1"/>
          </p:cNvSpPr>
          <p:nvPr>
            <p:ph type="sldNum" idx="13"/>
          </p:nvPr>
        </p:nvSpPr>
        <p:spPr>
          <a:xfrm>
            <a:off x="3884760" y="11580840"/>
            <a:ext cx="2971440" cy="61092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691AEA0-CB22-4FBA-A6BB-7E8661379A04}" type="slidenum">
              <a:rPr lang="en-US" sz="1200" b="0" u="none" strike="noStrike">
                <a:solidFill>
                  <a:schemeClr val="dk1"/>
                </a:solidFill>
                <a:effectLst/>
                <a:uFillTx/>
                <a:latin typeface="+mn-lt"/>
                <a:ea typeface="+mn-ea"/>
              </a:rPr>
              <a:t>39</a:t>
            </a:fld>
            <a:endParaRPr lang="de-DE"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5" name="PlaceHolder 1"/>
          <p:cNvSpPr>
            <a:spLocks noGrp="1"/>
          </p:cNvSpPr>
          <p:nvPr>
            <p:ph type="sldImg"/>
          </p:nvPr>
        </p:nvSpPr>
        <p:spPr>
          <a:xfrm>
            <a:off x="-228600" y="1523880"/>
            <a:ext cx="7314840" cy="4114440"/>
          </a:xfrm>
          <a:prstGeom prst="rect">
            <a:avLst/>
          </a:prstGeom>
          <a:ln w="0">
            <a:noFill/>
          </a:ln>
        </p:spPr>
      </p:sp>
      <p:sp>
        <p:nvSpPr>
          <p:cNvPr id="796" name="PlaceHolder 2"/>
          <p:cNvSpPr>
            <a:spLocks noGrp="1"/>
          </p:cNvSpPr>
          <p:nvPr>
            <p:ph type="body"/>
          </p:nvPr>
        </p:nvSpPr>
        <p:spPr>
          <a:xfrm>
            <a:off x="685800" y="5867280"/>
            <a:ext cx="5486040" cy="48002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Stack in einfacher Sprache erklären. Schwerpunkt: Warum diese Bausteine zusammenpassen.</a:t>
            </a:r>
            <a:endParaRPr lang="de-DE" sz="2000" b="0" u="none" strike="noStrike">
              <a:solidFill>
                <a:srgbClr val="000000"/>
              </a:solidFill>
              <a:effectLst/>
              <a:uFillTx/>
              <a:latin typeface="Arial"/>
            </a:endParaRPr>
          </a:p>
        </p:txBody>
      </p:sp>
      <p:sp>
        <p:nvSpPr>
          <p:cNvPr id="797" name="PlaceHolder 3"/>
          <p:cNvSpPr>
            <a:spLocks noGrp="1"/>
          </p:cNvSpPr>
          <p:nvPr>
            <p:ph type="sldNum" idx="14"/>
          </p:nvPr>
        </p:nvSpPr>
        <p:spPr>
          <a:xfrm>
            <a:off x="3884760" y="11580840"/>
            <a:ext cx="2971440" cy="61092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4EE9BD9-C4CE-4541-B529-EAFCF390760C}" type="slidenum">
              <a:rPr lang="en-US" sz="1200" b="0" u="none" strike="noStrike">
                <a:solidFill>
                  <a:schemeClr val="dk1"/>
                </a:solidFill>
                <a:effectLst/>
                <a:uFillTx/>
                <a:latin typeface="+mn-lt"/>
                <a:ea typeface="+mn-ea"/>
              </a:rPr>
              <a:t>39</a:t>
            </a:fld>
            <a:endParaRPr lang="de-DE"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8" name="PlaceHolder 1"/>
          <p:cNvSpPr>
            <a:spLocks noGrp="1"/>
          </p:cNvSpPr>
          <p:nvPr>
            <p:ph type="sldImg"/>
          </p:nvPr>
        </p:nvSpPr>
        <p:spPr>
          <a:xfrm>
            <a:off x="-228600" y="1523880"/>
            <a:ext cx="7314840" cy="4114440"/>
          </a:xfrm>
          <a:prstGeom prst="rect">
            <a:avLst/>
          </a:prstGeom>
          <a:ln w="0">
            <a:noFill/>
          </a:ln>
        </p:spPr>
      </p:sp>
      <p:sp>
        <p:nvSpPr>
          <p:cNvPr id="799" name="PlaceHolder 2"/>
          <p:cNvSpPr>
            <a:spLocks noGrp="1"/>
          </p:cNvSpPr>
          <p:nvPr>
            <p:ph type="body"/>
          </p:nvPr>
        </p:nvSpPr>
        <p:spPr>
          <a:xfrm>
            <a:off x="685800" y="5867280"/>
            <a:ext cx="5486040" cy="48002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Architekturdiagramm erklären: Frontend spricht Backend an, Backend spricht Datenbank und E-Mail-Service an.</a:t>
            </a:r>
            <a:endParaRPr lang="de-DE" sz="2000" b="0" u="none" strike="noStrike">
              <a:solidFill>
                <a:srgbClr val="000000"/>
              </a:solidFill>
              <a:effectLst/>
              <a:uFillTx/>
              <a:latin typeface="Arial"/>
            </a:endParaRPr>
          </a:p>
        </p:txBody>
      </p:sp>
      <p:sp>
        <p:nvSpPr>
          <p:cNvPr id="800" name="PlaceHolder 3"/>
          <p:cNvSpPr>
            <a:spLocks noGrp="1"/>
          </p:cNvSpPr>
          <p:nvPr>
            <p:ph type="sldNum" idx="15"/>
          </p:nvPr>
        </p:nvSpPr>
        <p:spPr>
          <a:xfrm>
            <a:off x="3884760" y="11580840"/>
            <a:ext cx="2971440" cy="61092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4F94401-A75E-4EAE-880B-D266BC495975}" type="slidenum">
              <a:rPr lang="en-US" sz="1200" b="0" u="none" strike="noStrike">
                <a:solidFill>
                  <a:schemeClr val="dk1"/>
                </a:solidFill>
                <a:effectLst/>
                <a:uFillTx/>
                <a:latin typeface="+mn-lt"/>
                <a:ea typeface="+mn-ea"/>
              </a:rPr>
              <a:t>39</a:t>
            </a:fld>
            <a:endParaRPr lang="de-DE"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1" name="PlaceHolder 1"/>
          <p:cNvSpPr>
            <a:spLocks noGrp="1"/>
          </p:cNvSpPr>
          <p:nvPr>
            <p:ph type="sldImg"/>
          </p:nvPr>
        </p:nvSpPr>
        <p:spPr>
          <a:xfrm>
            <a:off x="-228600" y="1523880"/>
            <a:ext cx="7314840" cy="4114440"/>
          </a:xfrm>
          <a:prstGeom prst="rect">
            <a:avLst/>
          </a:prstGeom>
          <a:ln w="0">
            <a:noFill/>
          </a:ln>
        </p:spPr>
      </p:sp>
      <p:sp>
        <p:nvSpPr>
          <p:cNvPr id="802" name="PlaceHolder 2"/>
          <p:cNvSpPr>
            <a:spLocks noGrp="1"/>
          </p:cNvSpPr>
          <p:nvPr>
            <p:ph type="body"/>
          </p:nvPr>
        </p:nvSpPr>
        <p:spPr>
          <a:xfrm>
            <a:off x="685800" y="5867280"/>
            <a:ext cx="5486040" cy="48002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Betonen, dass diese Struktur Wartbarkeit verbessert: Änderungen bleiben lokal in einem Modul.</a:t>
            </a:r>
            <a:endParaRPr lang="de-DE" sz="2000" b="0" u="none" strike="noStrike">
              <a:solidFill>
                <a:srgbClr val="000000"/>
              </a:solidFill>
              <a:effectLst/>
              <a:uFillTx/>
              <a:latin typeface="Arial"/>
            </a:endParaRPr>
          </a:p>
        </p:txBody>
      </p:sp>
      <p:sp>
        <p:nvSpPr>
          <p:cNvPr id="803" name="PlaceHolder 3"/>
          <p:cNvSpPr>
            <a:spLocks noGrp="1"/>
          </p:cNvSpPr>
          <p:nvPr>
            <p:ph type="sldNum" idx="16"/>
          </p:nvPr>
        </p:nvSpPr>
        <p:spPr>
          <a:xfrm>
            <a:off x="3884760" y="11580840"/>
            <a:ext cx="2971440" cy="61092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D88A8CC-5CCE-42AB-9E8C-4967EFE3001C}" type="slidenum">
              <a:rPr lang="en-US" sz="1200" b="0" u="none" strike="noStrike">
                <a:solidFill>
                  <a:schemeClr val="dk1"/>
                </a:solidFill>
                <a:effectLst/>
                <a:uFillTx/>
                <a:latin typeface="+mn-lt"/>
                <a:ea typeface="+mn-ea"/>
              </a:rPr>
              <a:t>39</a:t>
            </a:fld>
            <a:endParaRPr lang="de-DE"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4" name="PlaceHolder 1"/>
          <p:cNvSpPr>
            <a:spLocks noGrp="1"/>
          </p:cNvSpPr>
          <p:nvPr>
            <p:ph type="sldImg"/>
          </p:nvPr>
        </p:nvSpPr>
        <p:spPr>
          <a:xfrm>
            <a:off x="-228600" y="1523880"/>
            <a:ext cx="7314840" cy="4114440"/>
          </a:xfrm>
          <a:prstGeom prst="rect">
            <a:avLst/>
          </a:prstGeom>
          <a:ln w="0">
            <a:noFill/>
          </a:ln>
        </p:spPr>
      </p:sp>
      <p:sp>
        <p:nvSpPr>
          <p:cNvPr id="805" name="PlaceHolder 2"/>
          <p:cNvSpPr>
            <a:spLocks noGrp="1"/>
          </p:cNvSpPr>
          <p:nvPr>
            <p:ph type="body"/>
          </p:nvPr>
        </p:nvSpPr>
        <p:spPr>
          <a:xfrm>
            <a:off x="685800" y="5867280"/>
            <a:ext cx="5486040" cy="48002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CORS einfach erklären: wegen unterschiedlicher Ports in der Entwicklung notwendig.</a:t>
            </a:r>
            <a:endParaRPr lang="de-DE" sz="2000" b="0" u="none" strike="noStrike">
              <a:solidFill>
                <a:srgbClr val="000000"/>
              </a:solidFill>
              <a:effectLst/>
              <a:uFillTx/>
              <a:latin typeface="Arial"/>
            </a:endParaRPr>
          </a:p>
        </p:txBody>
      </p:sp>
      <p:sp>
        <p:nvSpPr>
          <p:cNvPr id="806" name="PlaceHolder 3"/>
          <p:cNvSpPr>
            <a:spLocks noGrp="1"/>
          </p:cNvSpPr>
          <p:nvPr>
            <p:ph type="sldNum" idx="17"/>
          </p:nvPr>
        </p:nvSpPr>
        <p:spPr>
          <a:xfrm>
            <a:off x="3884760" y="11580840"/>
            <a:ext cx="2971440" cy="61092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7EDD1DD-B597-4F75-9566-78ABFA4509AB}" type="slidenum">
              <a:rPr lang="en-US" sz="1200" b="0" u="none" strike="noStrike">
                <a:solidFill>
                  <a:schemeClr val="dk1"/>
                </a:solidFill>
                <a:effectLst/>
                <a:uFillTx/>
                <a:latin typeface="+mn-lt"/>
                <a:ea typeface="+mn-ea"/>
              </a:rPr>
              <a:t>39</a:t>
            </a:fld>
            <a:endParaRPr lang="de-DE"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7" name="PlaceHolder 1"/>
          <p:cNvSpPr>
            <a:spLocks noGrp="1"/>
          </p:cNvSpPr>
          <p:nvPr>
            <p:ph type="sldImg"/>
          </p:nvPr>
        </p:nvSpPr>
        <p:spPr>
          <a:xfrm>
            <a:off x="-228600" y="1523880"/>
            <a:ext cx="7314840" cy="4114440"/>
          </a:xfrm>
          <a:prstGeom prst="rect">
            <a:avLst/>
          </a:prstGeom>
          <a:ln w="0">
            <a:noFill/>
          </a:ln>
        </p:spPr>
      </p:sp>
      <p:sp>
        <p:nvSpPr>
          <p:cNvPr id="808" name="PlaceHolder 2"/>
          <p:cNvSpPr>
            <a:spLocks noGrp="1"/>
          </p:cNvSpPr>
          <p:nvPr>
            <p:ph type="body"/>
          </p:nvPr>
        </p:nvSpPr>
        <p:spPr>
          <a:xfrm>
            <a:off x="685800" y="5867280"/>
            <a:ext cx="5486040" cy="48002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Befehl nennen: docker compose up --build. Vorteil: weniger Setup-Probleme im Team.</a:t>
            </a:r>
            <a:endParaRPr lang="de-DE" sz="2000" b="0" u="none" strike="noStrike">
              <a:solidFill>
                <a:srgbClr val="000000"/>
              </a:solidFill>
              <a:effectLst/>
              <a:uFillTx/>
              <a:latin typeface="Arial"/>
            </a:endParaRPr>
          </a:p>
        </p:txBody>
      </p:sp>
      <p:sp>
        <p:nvSpPr>
          <p:cNvPr id="809" name="PlaceHolder 3"/>
          <p:cNvSpPr>
            <a:spLocks noGrp="1"/>
          </p:cNvSpPr>
          <p:nvPr>
            <p:ph type="sldNum" idx="18"/>
          </p:nvPr>
        </p:nvSpPr>
        <p:spPr>
          <a:xfrm>
            <a:off x="3884760" y="11580840"/>
            <a:ext cx="2971440" cy="61092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3B370B8-2C05-412A-A3E1-DF0D86A7045C}" type="slidenum">
              <a:rPr lang="en-US" sz="1200" b="0" u="none" strike="noStrike">
                <a:solidFill>
                  <a:schemeClr val="dk1"/>
                </a:solidFill>
                <a:effectLst/>
                <a:uFillTx/>
                <a:latin typeface="+mn-lt"/>
                <a:ea typeface="+mn-ea"/>
              </a:rPr>
              <a:t>39</a:t>
            </a:fld>
            <a:endParaRPr lang="de-DE"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0" name="PlaceHolder 1"/>
          <p:cNvSpPr>
            <a:spLocks noGrp="1"/>
          </p:cNvSpPr>
          <p:nvPr>
            <p:ph type="sldImg"/>
          </p:nvPr>
        </p:nvSpPr>
        <p:spPr>
          <a:xfrm>
            <a:off x="-228600" y="1523880"/>
            <a:ext cx="7314840" cy="4114440"/>
          </a:xfrm>
          <a:prstGeom prst="rect">
            <a:avLst/>
          </a:prstGeom>
          <a:ln w="0">
            <a:noFill/>
          </a:ln>
        </p:spPr>
      </p:sp>
      <p:sp>
        <p:nvSpPr>
          <p:cNvPr id="811" name="PlaceHolder 2"/>
          <p:cNvSpPr>
            <a:spLocks noGrp="1"/>
          </p:cNvSpPr>
          <p:nvPr>
            <p:ph type="body"/>
          </p:nvPr>
        </p:nvSpPr>
        <p:spPr>
          <a:xfrm>
            <a:off x="685800" y="5867280"/>
            <a:ext cx="5486040" cy="48002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Überleitung an Person 3: Die Architektur wird besonders beim Datenbankwechsel relevant.</a:t>
            </a:r>
            <a:endParaRPr lang="de-DE" sz="2000" b="0" u="none" strike="noStrike">
              <a:solidFill>
                <a:srgbClr val="000000"/>
              </a:solidFill>
              <a:effectLst/>
              <a:uFillTx/>
              <a:latin typeface="Arial"/>
            </a:endParaRPr>
          </a:p>
        </p:txBody>
      </p:sp>
      <p:sp>
        <p:nvSpPr>
          <p:cNvPr id="812" name="PlaceHolder 3"/>
          <p:cNvSpPr>
            <a:spLocks noGrp="1"/>
          </p:cNvSpPr>
          <p:nvPr>
            <p:ph type="sldNum" idx="19"/>
          </p:nvPr>
        </p:nvSpPr>
        <p:spPr>
          <a:xfrm>
            <a:off x="3884760" y="11580840"/>
            <a:ext cx="2971440" cy="61092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F531322-A69F-4E9F-BCC7-C7495DDE5BBD}" type="slidenum">
              <a:rPr lang="en-US" sz="1200" b="0" u="none" strike="noStrike">
                <a:solidFill>
                  <a:schemeClr val="dk1"/>
                </a:solidFill>
                <a:effectLst/>
                <a:uFillTx/>
                <a:latin typeface="+mn-lt"/>
                <a:ea typeface="+mn-ea"/>
              </a:rPr>
              <a:t>39</a:t>
            </a:fld>
            <a:endParaRPr lang="de-DE"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3" name="PlaceHolder 1"/>
          <p:cNvSpPr>
            <a:spLocks noGrp="1"/>
          </p:cNvSpPr>
          <p:nvPr>
            <p:ph type="sldImg"/>
          </p:nvPr>
        </p:nvSpPr>
        <p:spPr>
          <a:xfrm>
            <a:off x="-228600" y="1523880"/>
            <a:ext cx="7314840" cy="4114440"/>
          </a:xfrm>
          <a:prstGeom prst="rect">
            <a:avLst/>
          </a:prstGeom>
          <a:ln w="0">
            <a:noFill/>
          </a:ln>
        </p:spPr>
      </p:sp>
      <p:sp>
        <p:nvSpPr>
          <p:cNvPr id="814" name="PlaceHolder 2"/>
          <p:cNvSpPr>
            <a:spLocks noGrp="1"/>
          </p:cNvSpPr>
          <p:nvPr>
            <p:ph type="body"/>
          </p:nvPr>
        </p:nvSpPr>
        <p:spPr>
          <a:xfrm>
            <a:off x="685800" y="5867280"/>
            <a:ext cx="5486040" cy="48002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Datenbankabschnitt: Kern ist der Wechsel von JSON/NoSQL zu relationaler Struktur.</a:t>
            </a:r>
            <a:endParaRPr lang="de-DE" sz="2000" b="0" u="none" strike="noStrike">
              <a:solidFill>
                <a:srgbClr val="000000"/>
              </a:solidFill>
              <a:effectLst/>
              <a:uFillTx/>
              <a:latin typeface="Arial"/>
            </a:endParaRPr>
          </a:p>
        </p:txBody>
      </p:sp>
      <p:sp>
        <p:nvSpPr>
          <p:cNvPr id="815" name="PlaceHolder 3"/>
          <p:cNvSpPr>
            <a:spLocks noGrp="1"/>
          </p:cNvSpPr>
          <p:nvPr>
            <p:ph type="sldNum" idx="20"/>
          </p:nvPr>
        </p:nvSpPr>
        <p:spPr>
          <a:xfrm>
            <a:off x="3884760" y="11580840"/>
            <a:ext cx="2971440" cy="61092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32AA6A2-DD8A-4143-A5E1-2D2AC6F419CB}" type="slidenum">
              <a:rPr lang="en-US" sz="1200" b="0" u="none" strike="noStrike">
                <a:solidFill>
                  <a:schemeClr val="dk1"/>
                </a:solidFill>
                <a:effectLst/>
                <a:uFillTx/>
                <a:latin typeface="+mn-lt"/>
                <a:ea typeface="+mn-ea"/>
              </a:rPr>
              <a:t>39</a:t>
            </a:fld>
            <a:endParaRPr lang="de-DE"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6" name="PlaceHolder 1"/>
          <p:cNvSpPr>
            <a:spLocks noGrp="1"/>
          </p:cNvSpPr>
          <p:nvPr>
            <p:ph type="sldImg"/>
          </p:nvPr>
        </p:nvSpPr>
        <p:spPr>
          <a:xfrm>
            <a:off x="-228600" y="1523880"/>
            <a:ext cx="7314840" cy="4114440"/>
          </a:xfrm>
          <a:prstGeom prst="rect">
            <a:avLst/>
          </a:prstGeom>
          <a:ln w="0">
            <a:noFill/>
          </a:ln>
        </p:spPr>
      </p:sp>
      <p:sp>
        <p:nvSpPr>
          <p:cNvPr id="817" name="PlaceHolder 2"/>
          <p:cNvSpPr>
            <a:spLocks noGrp="1"/>
          </p:cNvSpPr>
          <p:nvPr>
            <p:ph type="body"/>
          </p:nvPr>
        </p:nvSpPr>
        <p:spPr>
          <a:xfrm>
            <a:off x="685800" y="5867280"/>
            <a:ext cx="5486040" cy="48002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Kurz erklären: NoSQL war nicht falsch, aber für die benötigten relationalen Bearbeitungen weniger passend.</a:t>
            </a:r>
            <a:endParaRPr lang="de-DE" sz="2000" b="0" u="none" strike="noStrike">
              <a:solidFill>
                <a:srgbClr val="000000"/>
              </a:solidFill>
              <a:effectLst/>
              <a:uFillTx/>
              <a:latin typeface="Arial"/>
            </a:endParaRPr>
          </a:p>
        </p:txBody>
      </p:sp>
      <p:sp>
        <p:nvSpPr>
          <p:cNvPr id="818" name="PlaceHolder 3"/>
          <p:cNvSpPr>
            <a:spLocks noGrp="1"/>
          </p:cNvSpPr>
          <p:nvPr>
            <p:ph type="sldNum" idx="21"/>
          </p:nvPr>
        </p:nvSpPr>
        <p:spPr>
          <a:xfrm>
            <a:off x="3884760" y="11580840"/>
            <a:ext cx="2971440" cy="61092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367471A-2AF1-4DBA-9F26-DD22B037552F}" type="slidenum">
              <a:rPr lang="en-US" sz="1200" b="0" u="none" strike="noStrike">
                <a:solidFill>
                  <a:schemeClr val="dk1"/>
                </a:solidFill>
                <a:effectLst/>
                <a:uFillTx/>
                <a:latin typeface="+mn-lt"/>
                <a:ea typeface="+mn-ea"/>
              </a:rPr>
              <a:t>39</a:t>
            </a:fld>
            <a:endParaRPr lang="de-DE"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9" name="PlaceHolder 1"/>
          <p:cNvSpPr>
            <a:spLocks noGrp="1"/>
          </p:cNvSpPr>
          <p:nvPr>
            <p:ph type="sldImg"/>
          </p:nvPr>
        </p:nvSpPr>
        <p:spPr>
          <a:xfrm>
            <a:off x="-228600" y="1523880"/>
            <a:ext cx="7314840" cy="4114440"/>
          </a:xfrm>
          <a:prstGeom prst="rect">
            <a:avLst/>
          </a:prstGeom>
          <a:ln w="0">
            <a:noFill/>
          </a:ln>
        </p:spPr>
      </p:sp>
      <p:sp>
        <p:nvSpPr>
          <p:cNvPr id="820" name="PlaceHolder 2"/>
          <p:cNvSpPr>
            <a:spLocks noGrp="1"/>
          </p:cNvSpPr>
          <p:nvPr>
            <p:ph type="body"/>
          </p:nvPr>
        </p:nvSpPr>
        <p:spPr>
          <a:xfrm>
            <a:off x="685800" y="5867280"/>
            <a:ext cx="5486040" cy="48002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Nicht in Details verlieren; zentrale Begründung ist gezielte Änderbarkeit und Konsistenz.</a:t>
            </a:r>
            <a:endParaRPr lang="de-DE" sz="2000" b="0" u="none" strike="noStrike">
              <a:solidFill>
                <a:srgbClr val="000000"/>
              </a:solidFill>
              <a:effectLst/>
              <a:uFillTx/>
              <a:latin typeface="Arial"/>
            </a:endParaRPr>
          </a:p>
        </p:txBody>
      </p:sp>
      <p:sp>
        <p:nvSpPr>
          <p:cNvPr id="821" name="PlaceHolder 3"/>
          <p:cNvSpPr>
            <a:spLocks noGrp="1"/>
          </p:cNvSpPr>
          <p:nvPr>
            <p:ph type="sldNum" idx="22"/>
          </p:nvPr>
        </p:nvSpPr>
        <p:spPr>
          <a:xfrm>
            <a:off x="3884760" y="11580840"/>
            <a:ext cx="2971440" cy="61092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B960999-4F4C-48B1-8545-41A1DF16F9B8}" type="slidenum">
              <a:rPr lang="en-US" sz="1200" b="0" u="none" strike="noStrike">
                <a:solidFill>
                  <a:schemeClr val="dk1"/>
                </a:solidFill>
                <a:effectLst/>
                <a:uFillTx/>
                <a:latin typeface="+mn-lt"/>
                <a:ea typeface="+mn-ea"/>
              </a:rPr>
              <a:t>39</a:t>
            </a:fld>
            <a:endParaRPr lang="de-DE"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2" name="PlaceHolder 1"/>
          <p:cNvSpPr>
            <a:spLocks noGrp="1"/>
          </p:cNvSpPr>
          <p:nvPr>
            <p:ph type="sldImg"/>
          </p:nvPr>
        </p:nvSpPr>
        <p:spPr>
          <a:xfrm>
            <a:off x="-228600" y="1523880"/>
            <a:ext cx="7314840" cy="4114440"/>
          </a:xfrm>
          <a:prstGeom prst="rect">
            <a:avLst/>
          </a:prstGeom>
          <a:ln w="0">
            <a:noFill/>
          </a:ln>
        </p:spPr>
      </p:sp>
      <p:sp>
        <p:nvSpPr>
          <p:cNvPr id="823" name="PlaceHolder 2"/>
          <p:cNvSpPr>
            <a:spLocks noGrp="1"/>
          </p:cNvSpPr>
          <p:nvPr>
            <p:ph type="body"/>
          </p:nvPr>
        </p:nvSpPr>
        <p:spPr>
          <a:xfrm>
            <a:off x="685800" y="5867280"/>
            <a:ext cx="5486040" cy="48002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Das ist einer der technisch stärksten Punkte der Doku: Änderungsdruck und Lösung erklären.</a:t>
            </a:r>
            <a:endParaRPr lang="de-DE" sz="2000" b="0" u="none" strike="noStrike">
              <a:solidFill>
                <a:srgbClr val="000000"/>
              </a:solidFill>
              <a:effectLst/>
              <a:uFillTx/>
              <a:latin typeface="Arial"/>
            </a:endParaRPr>
          </a:p>
        </p:txBody>
      </p:sp>
      <p:sp>
        <p:nvSpPr>
          <p:cNvPr id="824" name="PlaceHolder 3"/>
          <p:cNvSpPr>
            <a:spLocks noGrp="1"/>
          </p:cNvSpPr>
          <p:nvPr>
            <p:ph type="sldNum" idx="23"/>
          </p:nvPr>
        </p:nvSpPr>
        <p:spPr>
          <a:xfrm>
            <a:off x="3884760" y="11580840"/>
            <a:ext cx="2971440" cy="61092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A3494EA-099E-4AA0-B23C-D3C33F9BC26C}" type="slidenum">
              <a:rPr lang="en-US" sz="1200" b="0" u="none" strike="noStrike">
                <a:solidFill>
                  <a:schemeClr val="dk1"/>
                </a:solidFill>
                <a:effectLst/>
                <a:uFillTx/>
                <a:latin typeface="+mn-lt"/>
                <a:ea typeface="+mn-ea"/>
              </a:rPr>
              <a:t>39</a:t>
            </a:fld>
            <a:endParaRPr lang="de-DE"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5" name="PlaceHolder 1"/>
          <p:cNvSpPr>
            <a:spLocks noGrp="1"/>
          </p:cNvSpPr>
          <p:nvPr>
            <p:ph type="sldImg"/>
          </p:nvPr>
        </p:nvSpPr>
        <p:spPr>
          <a:xfrm>
            <a:off x="-228600" y="1523880"/>
            <a:ext cx="7314840" cy="4114440"/>
          </a:xfrm>
          <a:prstGeom prst="rect">
            <a:avLst/>
          </a:prstGeom>
          <a:ln w="0">
            <a:noFill/>
          </a:ln>
        </p:spPr>
      </p:sp>
      <p:sp>
        <p:nvSpPr>
          <p:cNvPr id="826" name="PlaceHolder 2"/>
          <p:cNvSpPr>
            <a:spLocks noGrp="1"/>
          </p:cNvSpPr>
          <p:nvPr>
            <p:ph type="body"/>
          </p:nvPr>
        </p:nvSpPr>
        <p:spPr>
          <a:xfrm>
            <a:off x="685800" y="5867280"/>
            <a:ext cx="5486040" cy="48002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Mit Frontend überleiten: Die Oberfläche profitiert, weil einzelne Ziele/Events gezielt darstellbar und bearbeitbar sind.</a:t>
            </a:r>
            <a:endParaRPr lang="de-DE" sz="2000" b="0" u="none" strike="noStrike">
              <a:solidFill>
                <a:srgbClr val="000000"/>
              </a:solidFill>
              <a:effectLst/>
              <a:uFillTx/>
              <a:latin typeface="Arial"/>
            </a:endParaRPr>
          </a:p>
        </p:txBody>
      </p:sp>
      <p:sp>
        <p:nvSpPr>
          <p:cNvPr id="827" name="PlaceHolder 3"/>
          <p:cNvSpPr>
            <a:spLocks noGrp="1"/>
          </p:cNvSpPr>
          <p:nvPr>
            <p:ph type="sldNum" idx="24"/>
          </p:nvPr>
        </p:nvSpPr>
        <p:spPr>
          <a:xfrm>
            <a:off x="3884760" y="11580840"/>
            <a:ext cx="2971440" cy="61092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60FFA63-3B4B-4AB7-B93C-8BC736D0ABF9}" type="slidenum">
              <a:rPr lang="en-US" sz="1200" b="0" u="none" strike="noStrike">
                <a:solidFill>
                  <a:schemeClr val="dk1"/>
                </a:solidFill>
                <a:effectLst/>
                <a:uFillTx/>
                <a:latin typeface="+mn-lt"/>
                <a:ea typeface="+mn-ea"/>
              </a:rPr>
              <a:t>39</a:t>
            </a:fld>
            <a:endParaRPr lang="de-DE"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8" name="PlaceHolder 1"/>
          <p:cNvSpPr>
            <a:spLocks noGrp="1"/>
          </p:cNvSpPr>
          <p:nvPr>
            <p:ph type="sldImg"/>
          </p:nvPr>
        </p:nvSpPr>
        <p:spPr>
          <a:xfrm>
            <a:off x="-228600" y="1523880"/>
            <a:ext cx="7314840" cy="4114440"/>
          </a:xfrm>
          <a:prstGeom prst="rect">
            <a:avLst/>
          </a:prstGeom>
          <a:ln w="0">
            <a:noFill/>
          </a:ln>
        </p:spPr>
      </p:sp>
      <p:sp>
        <p:nvSpPr>
          <p:cNvPr id="829" name="PlaceHolder 2"/>
          <p:cNvSpPr>
            <a:spLocks noGrp="1"/>
          </p:cNvSpPr>
          <p:nvPr>
            <p:ph type="body"/>
          </p:nvPr>
        </p:nvSpPr>
        <p:spPr>
          <a:xfrm>
            <a:off x="685800" y="5867280"/>
            <a:ext cx="5486040" cy="48002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Frontend nicht als Screenshot-Ersatz, sondern als Nutzerführung erklären.</a:t>
            </a:r>
            <a:endParaRPr lang="de-DE" sz="2000" b="0" u="none" strike="noStrike">
              <a:solidFill>
                <a:srgbClr val="000000"/>
              </a:solidFill>
              <a:effectLst/>
              <a:uFillTx/>
              <a:latin typeface="Arial"/>
            </a:endParaRPr>
          </a:p>
        </p:txBody>
      </p:sp>
      <p:sp>
        <p:nvSpPr>
          <p:cNvPr id="830" name="PlaceHolder 3"/>
          <p:cNvSpPr>
            <a:spLocks noGrp="1"/>
          </p:cNvSpPr>
          <p:nvPr>
            <p:ph type="sldNum" idx="25"/>
          </p:nvPr>
        </p:nvSpPr>
        <p:spPr>
          <a:xfrm>
            <a:off x="3884760" y="11580840"/>
            <a:ext cx="2971440" cy="61092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C284784-0758-49B1-81C9-EC5C9077D2F0}" type="slidenum">
              <a:rPr lang="en-US" sz="1200" b="0" u="none" strike="noStrike">
                <a:solidFill>
                  <a:schemeClr val="dk1"/>
                </a:solidFill>
                <a:effectLst/>
                <a:uFillTx/>
                <a:latin typeface="+mn-lt"/>
                <a:ea typeface="+mn-ea"/>
              </a:rPr>
              <a:t>39</a:t>
            </a:fld>
            <a:endParaRPr lang="de-DE" sz="12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1" name="PlaceHolder 1"/>
          <p:cNvSpPr>
            <a:spLocks noGrp="1"/>
          </p:cNvSpPr>
          <p:nvPr>
            <p:ph type="sldImg"/>
          </p:nvPr>
        </p:nvSpPr>
        <p:spPr>
          <a:xfrm>
            <a:off x="-228600" y="1523880"/>
            <a:ext cx="7314840" cy="4114440"/>
          </a:xfrm>
          <a:prstGeom prst="rect">
            <a:avLst/>
          </a:prstGeom>
          <a:ln w="0">
            <a:noFill/>
          </a:ln>
        </p:spPr>
      </p:sp>
      <p:sp>
        <p:nvSpPr>
          <p:cNvPr id="832" name="PlaceHolder 2"/>
          <p:cNvSpPr>
            <a:spLocks noGrp="1"/>
          </p:cNvSpPr>
          <p:nvPr>
            <p:ph type="body"/>
          </p:nvPr>
        </p:nvSpPr>
        <p:spPr>
          <a:xfrm>
            <a:off x="685800" y="5867280"/>
            <a:ext cx="5486040" cy="48002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Den Frontend-Abschnitt als Nutzerperspektive positionieren.</a:t>
            </a:r>
            <a:endParaRPr lang="de-DE" sz="2000" b="0" u="none" strike="noStrike">
              <a:solidFill>
                <a:srgbClr val="000000"/>
              </a:solidFill>
              <a:effectLst/>
              <a:uFillTx/>
              <a:latin typeface="Arial"/>
            </a:endParaRPr>
          </a:p>
        </p:txBody>
      </p:sp>
      <p:sp>
        <p:nvSpPr>
          <p:cNvPr id="833" name="PlaceHolder 3"/>
          <p:cNvSpPr>
            <a:spLocks noGrp="1"/>
          </p:cNvSpPr>
          <p:nvPr>
            <p:ph type="sldNum" idx="26"/>
          </p:nvPr>
        </p:nvSpPr>
        <p:spPr>
          <a:xfrm>
            <a:off x="3884760" y="11580840"/>
            <a:ext cx="2971440" cy="61092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F73A79B-39B1-4E56-9218-54BB259D5A76}" type="slidenum">
              <a:rPr lang="en-US" sz="1200" b="0" u="none" strike="noStrike">
                <a:solidFill>
                  <a:schemeClr val="dk1"/>
                </a:solidFill>
                <a:effectLst/>
                <a:uFillTx/>
                <a:latin typeface="+mn-lt"/>
                <a:ea typeface="+mn-ea"/>
              </a:rPr>
              <a:t>39</a:t>
            </a:fld>
            <a:endParaRPr lang="de-DE" sz="12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4" name="PlaceHolder 1"/>
          <p:cNvSpPr>
            <a:spLocks noGrp="1"/>
          </p:cNvSpPr>
          <p:nvPr>
            <p:ph type="sldImg"/>
          </p:nvPr>
        </p:nvSpPr>
        <p:spPr>
          <a:xfrm>
            <a:off x="-228600" y="1523880"/>
            <a:ext cx="7314840" cy="4114440"/>
          </a:xfrm>
          <a:prstGeom prst="rect">
            <a:avLst/>
          </a:prstGeom>
          <a:ln w="0">
            <a:noFill/>
          </a:ln>
        </p:spPr>
      </p:sp>
      <p:sp>
        <p:nvSpPr>
          <p:cNvPr id="835" name="PlaceHolder 2"/>
          <p:cNvSpPr>
            <a:spLocks noGrp="1"/>
          </p:cNvSpPr>
          <p:nvPr>
            <p:ph type="body"/>
          </p:nvPr>
        </p:nvSpPr>
        <p:spPr>
          <a:xfrm>
            <a:off x="685800" y="5867280"/>
            <a:ext cx="5486040" cy="48002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Unterscheidung zwischen öffentlichen und geschützten Seiten nennen.</a:t>
            </a:r>
            <a:endParaRPr lang="de-DE" sz="2000" b="0" u="none" strike="noStrike">
              <a:solidFill>
                <a:srgbClr val="000000"/>
              </a:solidFill>
              <a:effectLst/>
              <a:uFillTx/>
              <a:latin typeface="Arial"/>
            </a:endParaRPr>
          </a:p>
        </p:txBody>
      </p:sp>
      <p:sp>
        <p:nvSpPr>
          <p:cNvPr id="836" name="PlaceHolder 3"/>
          <p:cNvSpPr>
            <a:spLocks noGrp="1"/>
          </p:cNvSpPr>
          <p:nvPr>
            <p:ph type="sldNum" idx="27"/>
          </p:nvPr>
        </p:nvSpPr>
        <p:spPr>
          <a:xfrm>
            <a:off x="3884760" y="11580840"/>
            <a:ext cx="2971440" cy="61092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DB79490-3AE8-4C43-AE9C-C635E0B975B7}" type="slidenum">
              <a:rPr lang="en-US" sz="1200" b="0" u="none" strike="noStrike">
                <a:solidFill>
                  <a:schemeClr val="dk1"/>
                </a:solidFill>
                <a:effectLst/>
                <a:uFillTx/>
                <a:latin typeface="+mn-lt"/>
                <a:ea typeface="+mn-ea"/>
              </a:rPr>
              <a:t>39</a:t>
            </a:fld>
            <a:endParaRPr lang="de-DE" sz="12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7" name="PlaceHolder 1"/>
          <p:cNvSpPr>
            <a:spLocks noGrp="1"/>
          </p:cNvSpPr>
          <p:nvPr>
            <p:ph type="sldImg"/>
          </p:nvPr>
        </p:nvSpPr>
        <p:spPr>
          <a:xfrm>
            <a:off x="-228600" y="1523880"/>
            <a:ext cx="7314840" cy="4114440"/>
          </a:xfrm>
          <a:prstGeom prst="rect">
            <a:avLst/>
          </a:prstGeom>
          <a:ln w="0">
            <a:noFill/>
          </a:ln>
        </p:spPr>
      </p:sp>
      <p:sp>
        <p:nvSpPr>
          <p:cNvPr id="838" name="PlaceHolder 2"/>
          <p:cNvSpPr>
            <a:spLocks noGrp="1"/>
          </p:cNvSpPr>
          <p:nvPr>
            <p:ph type="body"/>
          </p:nvPr>
        </p:nvSpPr>
        <p:spPr>
          <a:xfrm>
            <a:off x="685800" y="5867280"/>
            <a:ext cx="5486040" cy="48002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Erklären, dass Frontend-Validierung Komfort ist, Backend-Validierung aber Pflicht bleibt.</a:t>
            </a:r>
            <a:endParaRPr lang="de-DE" sz="2000" b="0" u="none" strike="noStrike">
              <a:solidFill>
                <a:srgbClr val="000000"/>
              </a:solidFill>
              <a:effectLst/>
              <a:uFillTx/>
              <a:latin typeface="Arial"/>
            </a:endParaRPr>
          </a:p>
        </p:txBody>
      </p:sp>
      <p:sp>
        <p:nvSpPr>
          <p:cNvPr id="839" name="PlaceHolder 3"/>
          <p:cNvSpPr>
            <a:spLocks noGrp="1"/>
          </p:cNvSpPr>
          <p:nvPr>
            <p:ph type="sldNum" idx="28"/>
          </p:nvPr>
        </p:nvSpPr>
        <p:spPr>
          <a:xfrm>
            <a:off x="3884760" y="11580840"/>
            <a:ext cx="2971440" cy="61092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D2D00A0-AF80-4DB4-BC11-3488081447B4}" type="slidenum">
              <a:rPr lang="en-US" sz="1200" b="0" u="none" strike="noStrike">
                <a:solidFill>
                  <a:schemeClr val="dk1"/>
                </a:solidFill>
                <a:effectLst/>
                <a:uFillTx/>
                <a:latin typeface="+mn-lt"/>
                <a:ea typeface="+mn-ea"/>
              </a:rPr>
              <a:t>39</a:t>
            </a:fld>
            <a:endParaRPr lang="de-DE" sz="12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0" name="PlaceHolder 1"/>
          <p:cNvSpPr>
            <a:spLocks noGrp="1"/>
          </p:cNvSpPr>
          <p:nvPr>
            <p:ph type="sldImg"/>
          </p:nvPr>
        </p:nvSpPr>
        <p:spPr>
          <a:xfrm>
            <a:off x="-228600" y="1523880"/>
            <a:ext cx="7314840" cy="4114440"/>
          </a:xfrm>
          <a:prstGeom prst="rect">
            <a:avLst/>
          </a:prstGeom>
          <a:ln w="0">
            <a:noFill/>
          </a:ln>
        </p:spPr>
      </p:sp>
      <p:sp>
        <p:nvSpPr>
          <p:cNvPr id="841" name="PlaceHolder 2"/>
          <p:cNvSpPr>
            <a:spLocks noGrp="1"/>
          </p:cNvSpPr>
          <p:nvPr>
            <p:ph type="body"/>
          </p:nvPr>
        </p:nvSpPr>
        <p:spPr>
          <a:xfrm>
            <a:off x="685800" y="5867280"/>
            <a:ext cx="5486040" cy="48002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FAQ als Qualitätsmerkmal darstellen, nicht als Nebenfunktion.</a:t>
            </a:r>
            <a:endParaRPr lang="de-DE" sz="2000" b="0" u="none" strike="noStrike">
              <a:solidFill>
                <a:srgbClr val="000000"/>
              </a:solidFill>
              <a:effectLst/>
              <a:uFillTx/>
              <a:latin typeface="Arial"/>
            </a:endParaRPr>
          </a:p>
        </p:txBody>
      </p:sp>
      <p:sp>
        <p:nvSpPr>
          <p:cNvPr id="842" name="PlaceHolder 3"/>
          <p:cNvSpPr>
            <a:spLocks noGrp="1"/>
          </p:cNvSpPr>
          <p:nvPr>
            <p:ph type="sldNum" idx="29"/>
          </p:nvPr>
        </p:nvSpPr>
        <p:spPr>
          <a:xfrm>
            <a:off x="3884760" y="11580840"/>
            <a:ext cx="2971440" cy="61092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8BCEC39-93AA-44A9-9CAE-EFD866AD1C20}" type="slidenum">
              <a:rPr lang="en-US" sz="1200" b="0" u="none" strike="noStrike">
                <a:solidFill>
                  <a:schemeClr val="dk1"/>
                </a:solidFill>
                <a:effectLst/>
                <a:uFillTx/>
                <a:latin typeface="+mn-lt"/>
                <a:ea typeface="+mn-ea"/>
              </a:rPr>
              <a:t>39</a:t>
            </a:fld>
            <a:endParaRPr lang="de-DE" sz="1200" b="0" u="none" strike="noStrik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3" name="PlaceHolder 1"/>
          <p:cNvSpPr>
            <a:spLocks noGrp="1"/>
          </p:cNvSpPr>
          <p:nvPr>
            <p:ph type="sldImg"/>
          </p:nvPr>
        </p:nvSpPr>
        <p:spPr>
          <a:xfrm>
            <a:off x="-228600" y="1523880"/>
            <a:ext cx="7314840" cy="4114440"/>
          </a:xfrm>
          <a:prstGeom prst="rect">
            <a:avLst/>
          </a:prstGeom>
          <a:ln w="0">
            <a:noFill/>
          </a:ln>
        </p:spPr>
      </p:sp>
      <p:sp>
        <p:nvSpPr>
          <p:cNvPr id="844" name="PlaceHolder 2"/>
          <p:cNvSpPr>
            <a:spLocks noGrp="1"/>
          </p:cNvSpPr>
          <p:nvPr>
            <p:ph type="body"/>
          </p:nvPr>
        </p:nvSpPr>
        <p:spPr>
          <a:xfrm>
            <a:off x="685800" y="5867280"/>
            <a:ext cx="5486040" cy="48002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Zum Ende die Grenze nennen: UX ist im Prototyp gut, aber noch nicht vollständig produktionsreif getestet.</a:t>
            </a:r>
            <a:endParaRPr lang="de-DE" sz="2000" b="0" u="none" strike="noStrike">
              <a:solidFill>
                <a:srgbClr val="000000"/>
              </a:solidFill>
              <a:effectLst/>
              <a:uFillTx/>
              <a:latin typeface="Arial"/>
            </a:endParaRPr>
          </a:p>
        </p:txBody>
      </p:sp>
      <p:sp>
        <p:nvSpPr>
          <p:cNvPr id="845" name="PlaceHolder 3"/>
          <p:cNvSpPr>
            <a:spLocks noGrp="1"/>
          </p:cNvSpPr>
          <p:nvPr>
            <p:ph type="sldNum" idx="30"/>
          </p:nvPr>
        </p:nvSpPr>
        <p:spPr>
          <a:xfrm>
            <a:off x="3884760" y="11580840"/>
            <a:ext cx="2971440" cy="61092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63B1CE1-6557-4C0E-959B-05F03DCA0B9E}" type="slidenum">
              <a:rPr lang="en-US" sz="1200" b="0" u="none" strike="noStrike">
                <a:solidFill>
                  <a:schemeClr val="dk1"/>
                </a:solidFill>
                <a:effectLst/>
                <a:uFillTx/>
                <a:latin typeface="+mn-lt"/>
                <a:ea typeface="+mn-ea"/>
              </a:rPr>
              <a:t>39</a:t>
            </a:fld>
            <a:endParaRPr lang="de-DE" sz="1200" b="0" u="none" strike="noStrik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6" name="PlaceHolder 1"/>
          <p:cNvSpPr>
            <a:spLocks noGrp="1"/>
          </p:cNvSpPr>
          <p:nvPr>
            <p:ph type="sldImg"/>
          </p:nvPr>
        </p:nvSpPr>
        <p:spPr>
          <a:xfrm>
            <a:off x="-228600" y="1523880"/>
            <a:ext cx="7314840" cy="4114440"/>
          </a:xfrm>
          <a:prstGeom prst="rect">
            <a:avLst/>
          </a:prstGeom>
          <a:ln w="0">
            <a:noFill/>
          </a:ln>
        </p:spPr>
      </p:sp>
      <p:sp>
        <p:nvSpPr>
          <p:cNvPr id="847" name="PlaceHolder 2"/>
          <p:cNvSpPr>
            <a:spLocks noGrp="1"/>
          </p:cNvSpPr>
          <p:nvPr>
            <p:ph type="body"/>
          </p:nvPr>
        </p:nvSpPr>
        <p:spPr>
          <a:xfrm>
            <a:off x="685800" y="5867280"/>
            <a:ext cx="5486040" cy="48002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Kernblock: Implementierung und Sicherheit zusammen erklären, ohne zu tief in Code zu gehen.</a:t>
            </a:r>
            <a:endParaRPr lang="de-DE" sz="2000" b="0" u="none" strike="noStrike">
              <a:solidFill>
                <a:srgbClr val="000000"/>
              </a:solidFill>
              <a:effectLst/>
              <a:uFillTx/>
              <a:latin typeface="Arial"/>
            </a:endParaRPr>
          </a:p>
        </p:txBody>
      </p:sp>
      <p:sp>
        <p:nvSpPr>
          <p:cNvPr id="848" name="PlaceHolder 3"/>
          <p:cNvSpPr>
            <a:spLocks noGrp="1"/>
          </p:cNvSpPr>
          <p:nvPr>
            <p:ph type="sldNum" idx="31"/>
          </p:nvPr>
        </p:nvSpPr>
        <p:spPr>
          <a:xfrm>
            <a:off x="3884760" y="11580840"/>
            <a:ext cx="2971440" cy="61092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7006BC7-6B8A-40F7-880D-AAE8386A1F39}" type="slidenum">
              <a:rPr lang="en-US" sz="1200" b="0" u="none" strike="noStrike">
                <a:solidFill>
                  <a:schemeClr val="dk1"/>
                </a:solidFill>
                <a:effectLst/>
                <a:uFillTx/>
                <a:latin typeface="+mn-lt"/>
                <a:ea typeface="+mn-ea"/>
              </a:rPr>
              <a:t>39</a:t>
            </a:fld>
            <a:endParaRPr lang="de-DE" sz="1200" b="0" u="none" strike="noStrik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9" name="PlaceHolder 1"/>
          <p:cNvSpPr>
            <a:spLocks noGrp="1"/>
          </p:cNvSpPr>
          <p:nvPr>
            <p:ph type="sldImg"/>
          </p:nvPr>
        </p:nvSpPr>
        <p:spPr>
          <a:xfrm>
            <a:off x="-228600" y="1523880"/>
            <a:ext cx="7314840" cy="4114440"/>
          </a:xfrm>
          <a:prstGeom prst="rect">
            <a:avLst/>
          </a:prstGeom>
          <a:ln w="0">
            <a:noFill/>
          </a:ln>
        </p:spPr>
      </p:sp>
      <p:sp>
        <p:nvSpPr>
          <p:cNvPr id="850" name="PlaceHolder 2"/>
          <p:cNvSpPr>
            <a:spLocks noGrp="1"/>
          </p:cNvSpPr>
          <p:nvPr>
            <p:ph type="body"/>
          </p:nvPr>
        </p:nvSpPr>
        <p:spPr>
          <a:xfrm>
            <a:off x="685800" y="5867280"/>
            <a:ext cx="5486040" cy="48002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Die Trennung als Qualitätsmerkmal herausstellen.</a:t>
            </a:r>
            <a:endParaRPr lang="de-DE" sz="2000" b="0" u="none" strike="noStrike">
              <a:solidFill>
                <a:srgbClr val="000000"/>
              </a:solidFill>
              <a:effectLst/>
              <a:uFillTx/>
              <a:latin typeface="Arial"/>
            </a:endParaRPr>
          </a:p>
        </p:txBody>
      </p:sp>
      <p:sp>
        <p:nvSpPr>
          <p:cNvPr id="851" name="PlaceHolder 3"/>
          <p:cNvSpPr>
            <a:spLocks noGrp="1"/>
          </p:cNvSpPr>
          <p:nvPr>
            <p:ph type="sldNum" idx="32"/>
          </p:nvPr>
        </p:nvSpPr>
        <p:spPr>
          <a:xfrm>
            <a:off x="3884760" y="11580840"/>
            <a:ext cx="2971440" cy="61092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DA48299-59D6-44A2-B71B-AFF13AA4692C}" type="slidenum">
              <a:rPr lang="en-US" sz="1200" b="0" u="none" strike="noStrike">
                <a:solidFill>
                  <a:schemeClr val="dk1"/>
                </a:solidFill>
                <a:effectLst/>
                <a:uFillTx/>
                <a:latin typeface="+mn-lt"/>
                <a:ea typeface="+mn-ea"/>
              </a:rPr>
              <a:t>39</a:t>
            </a:fld>
            <a:endParaRPr lang="de-DE" sz="1200" b="0" u="none" strike="noStrike">
              <a:solidFill>
                <a:srgbClr val="000000"/>
              </a:solidFill>
              <a:effectLst/>
              <a:uFillTx/>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2" name="PlaceHolder 1"/>
          <p:cNvSpPr>
            <a:spLocks noGrp="1"/>
          </p:cNvSpPr>
          <p:nvPr>
            <p:ph type="sldImg"/>
          </p:nvPr>
        </p:nvSpPr>
        <p:spPr>
          <a:xfrm>
            <a:off x="-228600" y="1523880"/>
            <a:ext cx="7314840" cy="4114440"/>
          </a:xfrm>
          <a:prstGeom prst="rect">
            <a:avLst/>
          </a:prstGeom>
          <a:ln w="0">
            <a:noFill/>
          </a:ln>
        </p:spPr>
      </p:sp>
      <p:sp>
        <p:nvSpPr>
          <p:cNvPr id="853" name="PlaceHolder 2"/>
          <p:cNvSpPr>
            <a:spLocks noGrp="1"/>
          </p:cNvSpPr>
          <p:nvPr>
            <p:ph type="body"/>
          </p:nvPr>
        </p:nvSpPr>
        <p:spPr>
          <a:xfrm>
            <a:off x="685800" y="5867280"/>
            <a:ext cx="5486040" cy="48002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Nicht jeden Codepfad aufzählen; Statuscodes und Sicherheitslogik betonen.</a:t>
            </a:r>
            <a:endParaRPr lang="de-DE" sz="2000" b="0" u="none" strike="noStrike">
              <a:solidFill>
                <a:srgbClr val="000000"/>
              </a:solidFill>
              <a:effectLst/>
              <a:uFillTx/>
              <a:latin typeface="Arial"/>
            </a:endParaRPr>
          </a:p>
        </p:txBody>
      </p:sp>
      <p:sp>
        <p:nvSpPr>
          <p:cNvPr id="854" name="PlaceHolder 3"/>
          <p:cNvSpPr>
            <a:spLocks noGrp="1"/>
          </p:cNvSpPr>
          <p:nvPr>
            <p:ph type="sldNum" idx="33"/>
          </p:nvPr>
        </p:nvSpPr>
        <p:spPr>
          <a:xfrm>
            <a:off x="3884760" y="11580840"/>
            <a:ext cx="2971440" cy="61092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C9F03D8-9105-48C2-8B38-A9A53F2C1035}" type="slidenum">
              <a:rPr lang="en-US" sz="1200" b="0" u="none" strike="noStrike">
                <a:solidFill>
                  <a:schemeClr val="dk1"/>
                </a:solidFill>
                <a:effectLst/>
                <a:uFillTx/>
                <a:latin typeface="+mn-lt"/>
                <a:ea typeface="+mn-ea"/>
              </a:rPr>
              <a:t>39</a:t>
            </a:fld>
            <a:endParaRPr lang="de-DE" sz="1200" b="0" u="none" strike="noStrik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5" name="PlaceHolder 1"/>
          <p:cNvSpPr>
            <a:spLocks noGrp="1"/>
          </p:cNvSpPr>
          <p:nvPr>
            <p:ph type="sldImg"/>
          </p:nvPr>
        </p:nvSpPr>
        <p:spPr>
          <a:xfrm>
            <a:off x="-228600" y="1523880"/>
            <a:ext cx="7314840" cy="4114440"/>
          </a:xfrm>
          <a:prstGeom prst="rect">
            <a:avLst/>
          </a:prstGeom>
          <a:ln w="0">
            <a:noFill/>
          </a:ln>
        </p:spPr>
      </p:sp>
      <p:sp>
        <p:nvSpPr>
          <p:cNvPr id="856" name="PlaceHolder 2"/>
          <p:cNvSpPr>
            <a:spLocks noGrp="1"/>
          </p:cNvSpPr>
          <p:nvPr>
            <p:ph type="body"/>
          </p:nvPr>
        </p:nvSpPr>
        <p:spPr>
          <a:xfrm>
            <a:off x="685800" y="5867280"/>
            <a:ext cx="5486040" cy="48002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Das ist der stärkste Sicherheitsablauf. Langsam und logisch erklären.</a:t>
            </a:r>
            <a:endParaRPr lang="de-DE" sz="2000" b="0" u="none" strike="noStrike">
              <a:solidFill>
                <a:srgbClr val="000000"/>
              </a:solidFill>
              <a:effectLst/>
              <a:uFillTx/>
              <a:latin typeface="Arial"/>
            </a:endParaRPr>
          </a:p>
        </p:txBody>
      </p:sp>
      <p:sp>
        <p:nvSpPr>
          <p:cNvPr id="857" name="PlaceHolder 3"/>
          <p:cNvSpPr>
            <a:spLocks noGrp="1"/>
          </p:cNvSpPr>
          <p:nvPr>
            <p:ph type="sldNum" idx="34"/>
          </p:nvPr>
        </p:nvSpPr>
        <p:spPr>
          <a:xfrm>
            <a:off x="3884760" y="11580840"/>
            <a:ext cx="2971440" cy="61092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D233996-75D9-42F9-8E38-BF8E21A4CAFD}" type="slidenum">
              <a:rPr lang="en-US" sz="1200" b="0" u="none" strike="noStrike">
                <a:solidFill>
                  <a:schemeClr val="dk1"/>
                </a:solidFill>
                <a:effectLst/>
                <a:uFillTx/>
                <a:latin typeface="+mn-lt"/>
                <a:ea typeface="+mn-ea"/>
              </a:rPr>
              <a:t>39</a:t>
            </a:fld>
            <a:endParaRPr lang="de-DE" sz="1200" b="0" u="none" strike="noStrike">
              <a:solidFill>
                <a:srgbClr val="000000"/>
              </a:solidFill>
              <a:effectLst/>
              <a:uFillTx/>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8" name="PlaceHolder 1"/>
          <p:cNvSpPr>
            <a:spLocks noGrp="1"/>
          </p:cNvSpPr>
          <p:nvPr>
            <p:ph type="sldImg"/>
          </p:nvPr>
        </p:nvSpPr>
        <p:spPr>
          <a:xfrm>
            <a:off x="-228600" y="1523880"/>
            <a:ext cx="7314840" cy="4114440"/>
          </a:xfrm>
          <a:prstGeom prst="rect">
            <a:avLst/>
          </a:prstGeom>
          <a:ln w="0">
            <a:noFill/>
          </a:ln>
        </p:spPr>
      </p:sp>
      <p:sp>
        <p:nvSpPr>
          <p:cNvPr id="859" name="PlaceHolder 2"/>
          <p:cNvSpPr>
            <a:spLocks noGrp="1"/>
          </p:cNvSpPr>
          <p:nvPr>
            <p:ph type="body"/>
          </p:nvPr>
        </p:nvSpPr>
        <p:spPr>
          <a:xfrm>
            <a:off x="685800" y="5867280"/>
            <a:ext cx="5486040" cy="48002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Fair bleiben: Grundschutz vorhanden, aber produktive Sicherheit ist mehr.</a:t>
            </a:r>
            <a:endParaRPr lang="de-DE" sz="2000" b="0" u="none" strike="noStrike">
              <a:solidFill>
                <a:srgbClr val="000000"/>
              </a:solidFill>
              <a:effectLst/>
              <a:uFillTx/>
              <a:latin typeface="Arial"/>
            </a:endParaRPr>
          </a:p>
        </p:txBody>
      </p:sp>
      <p:sp>
        <p:nvSpPr>
          <p:cNvPr id="860" name="PlaceHolder 3"/>
          <p:cNvSpPr>
            <a:spLocks noGrp="1"/>
          </p:cNvSpPr>
          <p:nvPr>
            <p:ph type="sldNum" idx="35"/>
          </p:nvPr>
        </p:nvSpPr>
        <p:spPr>
          <a:xfrm>
            <a:off x="3884760" y="11580840"/>
            <a:ext cx="2971440" cy="61092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035041C-99BC-4979-8BD4-C96794DCF983}" type="slidenum">
              <a:rPr lang="en-US" sz="1200" b="0" u="none" strike="noStrike">
                <a:solidFill>
                  <a:schemeClr val="dk1"/>
                </a:solidFill>
                <a:effectLst/>
                <a:uFillTx/>
                <a:latin typeface="+mn-lt"/>
                <a:ea typeface="+mn-ea"/>
              </a:rPr>
              <a:t>39</a:t>
            </a:fld>
            <a:endParaRPr lang="de-DE" sz="1200" b="0" u="none" strike="noStrike">
              <a:solidFill>
                <a:srgbClr val="000000"/>
              </a:solidFill>
              <a:effectLst/>
              <a:uFillTx/>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1" name="PlaceHolder 1"/>
          <p:cNvSpPr>
            <a:spLocks noGrp="1"/>
          </p:cNvSpPr>
          <p:nvPr>
            <p:ph type="sldImg"/>
          </p:nvPr>
        </p:nvSpPr>
        <p:spPr>
          <a:xfrm>
            <a:off x="-228600" y="1523880"/>
            <a:ext cx="7314840" cy="4114440"/>
          </a:xfrm>
          <a:prstGeom prst="rect">
            <a:avLst/>
          </a:prstGeom>
          <a:ln w="0">
            <a:noFill/>
          </a:ln>
        </p:spPr>
      </p:sp>
      <p:sp>
        <p:nvSpPr>
          <p:cNvPr id="862" name="PlaceHolder 2"/>
          <p:cNvSpPr>
            <a:spLocks noGrp="1"/>
          </p:cNvSpPr>
          <p:nvPr>
            <p:ph type="body"/>
          </p:nvPr>
        </p:nvSpPr>
        <p:spPr>
          <a:xfrm>
            <a:off x="685800" y="5867280"/>
            <a:ext cx="5486040" cy="48002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Manuelle Tests und erste Unit-Tests einordnen; Abschluss an Person 1 übergeben.</a:t>
            </a:r>
            <a:endParaRPr lang="de-DE" sz="2000" b="0" u="none" strike="noStrike">
              <a:solidFill>
                <a:srgbClr val="000000"/>
              </a:solidFill>
              <a:effectLst/>
              <a:uFillTx/>
              <a:latin typeface="Arial"/>
            </a:endParaRPr>
          </a:p>
        </p:txBody>
      </p:sp>
      <p:sp>
        <p:nvSpPr>
          <p:cNvPr id="863" name="PlaceHolder 3"/>
          <p:cNvSpPr>
            <a:spLocks noGrp="1"/>
          </p:cNvSpPr>
          <p:nvPr>
            <p:ph type="sldNum" idx="36"/>
          </p:nvPr>
        </p:nvSpPr>
        <p:spPr>
          <a:xfrm>
            <a:off x="3884760" y="11580840"/>
            <a:ext cx="2971440" cy="61092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07C969D-D4F9-43C1-B9F1-A1666CDA31BC}" type="slidenum">
              <a:rPr lang="en-US" sz="1200" b="0" u="none" strike="noStrike">
                <a:solidFill>
                  <a:schemeClr val="dk1"/>
                </a:solidFill>
                <a:effectLst/>
                <a:uFillTx/>
                <a:latin typeface="+mn-lt"/>
                <a:ea typeface="+mn-ea"/>
              </a:rPr>
              <a:t>39</a:t>
            </a:fld>
            <a:endParaRPr lang="de-DE" sz="1200" b="0" u="none" strike="noStrike">
              <a:solidFill>
                <a:srgbClr val="000000"/>
              </a:solidFill>
              <a:effectLst/>
              <a:uFillTx/>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4" name="PlaceHolder 1"/>
          <p:cNvSpPr>
            <a:spLocks noGrp="1"/>
          </p:cNvSpPr>
          <p:nvPr>
            <p:ph type="sldImg"/>
          </p:nvPr>
        </p:nvSpPr>
        <p:spPr>
          <a:xfrm>
            <a:off x="-228600" y="1523880"/>
            <a:ext cx="7314840" cy="4114440"/>
          </a:xfrm>
          <a:prstGeom prst="rect">
            <a:avLst/>
          </a:prstGeom>
          <a:ln w="0">
            <a:noFill/>
          </a:ln>
        </p:spPr>
      </p:sp>
      <p:sp>
        <p:nvSpPr>
          <p:cNvPr id="865" name="PlaceHolder 2"/>
          <p:cNvSpPr>
            <a:spLocks noGrp="1"/>
          </p:cNvSpPr>
          <p:nvPr>
            <p:ph type="body"/>
          </p:nvPr>
        </p:nvSpPr>
        <p:spPr>
          <a:xfrm>
            <a:off x="685800" y="5867280"/>
            <a:ext cx="5486040" cy="48002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Person 1 nimmt den Faden vom Einstieg wieder auf: Was war die Idee, was wurde erreicht?</a:t>
            </a:r>
            <a:endParaRPr lang="de-DE" sz="2000" b="0" u="none" strike="noStrike">
              <a:solidFill>
                <a:srgbClr val="000000"/>
              </a:solidFill>
              <a:effectLst/>
              <a:uFillTx/>
              <a:latin typeface="Arial"/>
            </a:endParaRPr>
          </a:p>
        </p:txBody>
      </p:sp>
      <p:sp>
        <p:nvSpPr>
          <p:cNvPr id="866" name="PlaceHolder 3"/>
          <p:cNvSpPr>
            <a:spLocks noGrp="1"/>
          </p:cNvSpPr>
          <p:nvPr>
            <p:ph type="sldNum" idx="37"/>
          </p:nvPr>
        </p:nvSpPr>
        <p:spPr>
          <a:xfrm>
            <a:off x="3884760" y="11580840"/>
            <a:ext cx="2971440" cy="61092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255520D-9593-485D-9F04-18F8750598CC}" type="slidenum">
              <a:rPr lang="en-US" sz="1200" b="0" u="none" strike="noStrike">
                <a:solidFill>
                  <a:schemeClr val="dk1"/>
                </a:solidFill>
                <a:effectLst/>
                <a:uFillTx/>
                <a:latin typeface="+mn-lt"/>
                <a:ea typeface="+mn-ea"/>
              </a:rPr>
              <a:t>39</a:t>
            </a:fld>
            <a:endParaRPr lang="de-DE" sz="1200" b="0" u="none" strike="noStrike">
              <a:solidFill>
                <a:srgbClr val="000000"/>
              </a:solidFill>
              <a:effectLst/>
              <a:uFillTx/>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7" name="PlaceHolder 1"/>
          <p:cNvSpPr>
            <a:spLocks noGrp="1"/>
          </p:cNvSpPr>
          <p:nvPr>
            <p:ph type="sldImg"/>
          </p:nvPr>
        </p:nvSpPr>
        <p:spPr>
          <a:xfrm>
            <a:off x="-228600" y="1523880"/>
            <a:ext cx="7314840" cy="4114440"/>
          </a:xfrm>
          <a:prstGeom prst="rect">
            <a:avLst/>
          </a:prstGeom>
          <a:ln w="0">
            <a:noFill/>
          </a:ln>
        </p:spPr>
      </p:sp>
      <p:sp>
        <p:nvSpPr>
          <p:cNvPr id="868" name="PlaceHolder 2"/>
          <p:cNvSpPr>
            <a:spLocks noGrp="1"/>
          </p:cNvSpPr>
          <p:nvPr>
            <p:ph type="body"/>
          </p:nvPr>
        </p:nvSpPr>
        <p:spPr>
          <a:xfrm>
            <a:off x="685800" y="5867280"/>
            <a:ext cx="5486040" cy="48002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Keine neue Technik einführen, nur die wichtigsten Learnings zusammenführen.</a:t>
            </a:r>
            <a:endParaRPr lang="de-DE" sz="2000" b="0" u="none" strike="noStrike">
              <a:solidFill>
                <a:srgbClr val="000000"/>
              </a:solidFill>
              <a:effectLst/>
              <a:uFillTx/>
              <a:latin typeface="Arial"/>
            </a:endParaRPr>
          </a:p>
        </p:txBody>
      </p:sp>
      <p:sp>
        <p:nvSpPr>
          <p:cNvPr id="869" name="PlaceHolder 3"/>
          <p:cNvSpPr>
            <a:spLocks noGrp="1"/>
          </p:cNvSpPr>
          <p:nvPr>
            <p:ph type="sldNum" idx="38"/>
          </p:nvPr>
        </p:nvSpPr>
        <p:spPr>
          <a:xfrm>
            <a:off x="3884760" y="11580840"/>
            <a:ext cx="2971440" cy="61092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3665E0E-8984-458A-9B30-617ACC1FCB68}" type="slidenum">
              <a:rPr lang="en-US" sz="1200" b="0" u="none" strike="noStrike">
                <a:solidFill>
                  <a:schemeClr val="dk1"/>
                </a:solidFill>
                <a:effectLst/>
                <a:uFillTx/>
                <a:latin typeface="+mn-lt"/>
                <a:ea typeface="+mn-ea"/>
              </a:rPr>
              <a:t>39</a:t>
            </a:fld>
            <a:endParaRPr lang="de-DE" sz="1200" b="0" u="none" strike="noStrike">
              <a:solidFill>
                <a:srgbClr val="000000"/>
              </a:solidFill>
              <a:effectLst/>
              <a:uFillTx/>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0" name="PlaceHolder 1"/>
          <p:cNvSpPr>
            <a:spLocks noGrp="1"/>
          </p:cNvSpPr>
          <p:nvPr>
            <p:ph type="sldImg"/>
          </p:nvPr>
        </p:nvSpPr>
        <p:spPr>
          <a:xfrm>
            <a:off x="-228600" y="1523880"/>
            <a:ext cx="7314840" cy="4114440"/>
          </a:xfrm>
          <a:prstGeom prst="rect">
            <a:avLst/>
          </a:prstGeom>
          <a:ln w="0">
            <a:noFill/>
          </a:ln>
        </p:spPr>
      </p:sp>
      <p:sp>
        <p:nvSpPr>
          <p:cNvPr id="871" name="PlaceHolder 2"/>
          <p:cNvSpPr>
            <a:spLocks noGrp="1"/>
          </p:cNvSpPr>
          <p:nvPr>
            <p:ph type="body"/>
          </p:nvPr>
        </p:nvSpPr>
        <p:spPr>
          <a:xfrm>
            <a:off x="685800" y="5867280"/>
            <a:ext cx="5486040" cy="48002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Die Erfolge nicht zu klein machen: Es ist kein reines Frontend, sondern ein Gesamtprojekt.</a:t>
            </a:r>
            <a:endParaRPr lang="de-DE" sz="2000" b="0" u="none" strike="noStrike">
              <a:solidFill>
                <a:srgbClr val="000000"/>
              </a:solidFill>
              <a:effectLst/>
              <a:uFillTx/>
              <a:latin typeface="Arial"/>
            </a:endParaRPr>
          </a:p>
        </p:txBody>
      </p:sp>
      <p:sp>
        <p:nvSpPr>
          <p:cNvPr id="872" name="PlaceHolder 3"/>
          <p:cNvSpPr>
            <a:spLocks noGrp="1"/>
          </p:cNvSpPr>
          <p:nvPr>
            <p:ph type="sldNum" idx="39"/>
          </p:nvPr>
        </p:nvSpPr>
        <p:spPr>
          <a:xfrm>
            <a:off x="3884760" y="11580840"/>
            <a:ext cx="2971440" cy="61092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0E807A6-5281-4A4F-975E-07223D52D4ED}" type="slidenum">
              <a:rPr lang="en-US" sz="1200" b="0" u="none" strike="noStrike">
                <a:solidFill>
                  <a:schemeClr val="dk1"/>
                </a:solidFill>
                <a:effectLst/>
                <a:uFillTx/>
                <a:latin typeface="+mn-lt"/>
                <a:ea typeface="+mn-ea"/>
              </a:rPr>
              <a:t>39</a:t>
            </a:fld>
            <a:endParaRPr lang="de-DE" sz="1200" b="0" u="none" strike="noStrike">
              <a:solidFill>
                <a:srgbClr val="000000"/>
              </a:solidFill>
              <a:effectLst/>
              <a:uFillTx/>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3" name="PlaceHolder 1"/>
          <p:cNvSpPr>
            <a:spLocks noGrp="1"/>
          </p:cNvSpPr>
          <p:nvPr>
            <p:ph type="sldImg"/>
          </p:nvPr>
        </p:nvSpPr>
        <p:spPr>
          <a:xfrm>
            <a:off x="-228600" y="1523880"/>
            <a:ext cx="7314840" cy="4114440"/>
          </a:xfrm>
          <a:prstGeom prst="rect">
            <a:avLst/>
          </a:prstGeom>
          <a:ln w="0">
            <a:noFill/>
          </a:ln>
        </p:spPr>
      </p:sp>
      <p:sp>
        <p:nvSpPr>
          <p:cNvPr id="874" name="PlaceHolder 2"/>
          <p:cNvSpPr>
            <a:spLocks noGrp="1"/>
          </p:cNvSpPr>
          <p:nvPr>
            <p:ph type="body"/>
          </p:nvPr>
        </p:nvSpPr>
        <p:spPr>
          <a:xfrm>
            <a:off x="685800" y="5867280"/>
            <a:ext cx="5486040" cy="48002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Ausblick als realistische Weiterentwicklung, nicht als Rechtfertigung.</a:t>
            </a:r>
            <a:endParaRPr lang="de-DE" sz="2000" b="0" u="none" strike="noStrike">
              <a:solidFill>
                <a:srgbClr val="000000"/>
              </a:solidFill>
              <a:effectLst/>
              <a:uFillTx/>
              <a:latin typeface="Arial"/>
            </a:endParaRPr>
          </a:p>
        </p:txBody>
      </p:sp>
      <p:sp>
        <p:nvSpPr>
          <p:cNvPr id="875" name="PlaceHolder 3"/>
          <p:cNvSpPr>
            <a:spLocks noGrp="1"/>
          </p:cNvSpPr>
          <p:nvPr>
            <p:ph type="sldNum" idx="40"/>
          </p:nvPr>
        </p:nvSpPr>
        <p:spPr>
          <a:xfrm>
            <a:off x="3884760" y="11580840"/>
            <a:ext cx="2971440" cy="61092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5FE4939-CBB5-4910-B15C-8C8B251D10F1}" type="slidenum">
              <a:rPr lang="en-US" sz="1200" b="0" u="none" strike="noStrike">
                <a:solidFill>
                  <a:schemeClr val="dk1"/>
                </a:solidFill>
                <a:effectLst/>
                <a:uFillTx/>
                <a:latin typeface="+mn-lt"/>
                <a:ea typeface="+mn-ea"/>
              </a:rPr>
              <a:t>39</a:t>
            </a:fld>
            <a:endParaRPr lang="de-DE" sz="1200" b="0" u="none" strike="noStrike">
              <a:solidFill>
                <a:srgbClr val="000000"/>
              </a:solidFill>
              <a:effectLst/>
              <a:uFillTx/>
              <a:latin typeface="Times New Roman"/>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6" name="PlaceHolder 1"/>
          <p:cNvSpPr>
            <a:spLocks noGrp="1"/>
          </p:cNvSpPr>
          <p:nvPr>
            <p:ph type="sldImg"/>
          </p:nvPr>
        </p:nvSpPr>
        <p:spPr>
          <a:xfrm>
            <a:off x="-228600" y="1523880"/>
            <a:ext cx="7314840" cy="4114440"/>
          </a:xfrm>
          <a:prstGeom prst="rect">
            <a:avLst/>
          </a:prstGeom>
          <a:ln w="0">
            <a:noFill/>
          </a:ln>
        </p:spPr>
      </p:sp>
      <p:sp>
        <p:nvSpPr>
          <p:cNvPr id="877" name="PlaceHolder 2"/>
          <p:cNvSpPr>
            <a:spLocks noGrp="1"/>
          </p:cNvSpPr>
          <p:nvPr>
            <p:ph type="body"/>
          </p:nvPr>
        </p:nvSpPr>
        <p:spPr>
          <a:xfrm>
            <a:off x="685800" y="5867280"/>
            <a:ext cx="5486040" cy="48002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Abschluss mit einem klaren Satz. Danach Fragen eröffnen.</a:t>
            </a:r>
            <a:endParaRPr lang="de-DE" sz="2000" b="0" u="none" strike="noStrike">
              <a:solidFill>
                <a:srgbClr val="000000"/>
              </a:solidFill>
              <a:effectLst/>
              <a:uFillTx/>
              <a:latin typeface="Arial"/>
            </a:endParaRPr>
          </a:p>
        </p:txBody>
      </p:sp>
      <p:sp>
        <p:nvSpPr>
          <p:cNvPr id="878" name="PlaceHolder 3"/>
          <p:cNvSpPr>
            <a:spLocks noGrp="1"/>
          </p:cNvSpPr>
          <p:nvPr>
            <p:ph type="sldNum" idx="41"/>
          </p:nvPr>
        </p:nvSpPr>
        <p:spPr>
          <a:xfrm>
            <a:off x="3884760" y="11580840"/>
            <a:ext cx="2971440" cy="61092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2DD328A-B524-4299-9EC0-FD5BAEF49159}" type="slidenum">
              <a:rPr lang="en-US" sz="1200" b="0" u="none" strike="noStrike">
                <a:solidFill>
                  <a:schemeClr val="dk1"/>
                </a:solidFill>
                <a:effectLst/>
                <a:uFillTx/>
                <a:latin typeface="+mn-lt"/>
                <a:ea typeface="+mn-ea"/>
              </a:rPr>
              <a:t>39</a:t>
            </a:fld>
            <a:endParaRPr lang="de-DE"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de-DE" sz="1800" b="0" u="none" strike="noStrike">
                <a:solidFill>
                  <a:schemeClr val="dk1"/>
                </a:solidFill>
                <a:effectLst/>
                <a:uFillTx/>
                <a:latin typeface="Aptos"/>
              </a:defRPr>
            </a:lvl1pPr>
          </a:lstStyle>
          <a:p>
            <a:pPr indent="0" algn="l">
              <a:buNone/>
            </a:pPr>
            <a:r>
              <a:rPr lang="de-DE" sz="1800" b="0" u="none" strike="noStrike">
                <a:solidFill>
                  <a:schemeClr val="dk1"/>
                </a:solidFill>
                <a:effectLst/>
                <a:uFillTx/>
                <a:latin typeface="Aptos"/>
              </a:rPr>
              <a:t>Format des Titeltextes durch Klicken bearbeiten</a:t>
            </a:r>
            <a:endParaRPr lang="de-DE" sz="1800" b="0" u="none" strike="noStrike">
              <a:solidFill>
                <a:schemeClr val="dk1"/>
              </a:solidFill>
              <a:effectLst/>
              <a:uFillTx/>
              <a:latin typeface="Aptos"/>
            </a:endParaRP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de-DE" sz="3200" b="0" u="none" strike="noStrike">
                <a:solidFill>
                  <a:schemeClr val="dk1"/>
                </a:solidFill>
                <a:effectLst/>
                <a:uFillTx/>
                <a:latin typeface="Aptos"/>
              </a:defRPr>
            </a:lvl1pPr>
            <a:lvl2pPr lvl="1" algn="l">
              <a:spcBef>
                <a:spcPts val="1134"/>
              </a:spcBef>
              <a:buClr>
                <a:srgbClr val="000000"/>
              </a:buClr>
              <a:buSzPct val="75000"/>
              <a:buFont typeface="Symbol" charset="2"/>
              <a:buChar char=""/>
              <a:defRPr lang="de-DE" sz="2400" b="0" u="none" strike="noStrike">
                <a:solidFill>
                  <a:schemeClr val="dk1"/>
                </a:solidFill>
                <a:effectLst/>
                <a:uFillTx/>
                <a:latin typeface="Aptos"/>
              </a:defRPr>
            </a:lvl2pPr>
            <a:lvl3pPr lvl="2" algn="l">
              <a:spcBef>
                <a:spcPts val="850"/>
              </a:spcBef>
              <a:buClr>
                <a:srgbClr val="000000"/>
              </a:buClr>
              <a:buSzPct val="45000"/>
              <a:buFont typeface="Wingdings" charset="2"/>
              <a:buChar char=""/>
              <a:defRPr lang="de-DE" sz="2000" b="0" u="none" strike="noStrike">
                <a:solidFill>
                  <a:schemeClr val="dk1"/>
                </a:solidFill>
                <a:effectLst/>
                <a:uFillTx/>
                <a:latin typeface="Aptos"/>
              </a:defRPr>
            </a:lvl3pPr>
            <a:lvl4pPr lvl="3" algn="l">
              <a:spcBef>
                <a:spcPts val="567"/>
              </a:spcBef>
              <a:buClr>
                <a:srgbClr val="000000"/>
              </a:buClr>
              <a:buSzPct val="75000"/>
              <a:buFont typeface="Symbol" charset="2"/>
              <a:buChar char=""/>
              <a:defRPr lang="de-DE" sz="2000" b="0" u="none" strike="noStrike">
                <a:solidFill>
                  <a:schemeClr val="dk1"/>
                </a:solidFill>
                <a:effectLst/>
                <a:uFillTx/>
                <a:latin typeface="Aptos"/>
              </a:defRPr>
            </a:lvl4pPr>
            <a:lvl5pPr lvl="4" algn="l">
              <a:spcBef>
                <a:spcPts val="283"/>
              </a:spcBef>
              <a:buClr>
                <a:srgbClr val="000000"/>
              </a:buClr>
              <a:buSzPct val="45000"/>
              <a:buFont typeface="Wingdings" charset="2"/>
              <a:buChar char=""/>
              <a:defRPr lang="de-DE" sz="2000" b="0" u="none" strike="noStrike">
                <a:solidFill>
                  <a:schemeClr val="dk1"/>
                </a:solidFill>
                <a:effectLst/>
                <a:uFillTx/>
                <a:latin typeface="Aptos"/>
              </a:defRPr>
            </a:lvl5pPr>
            <a:lvl6pPr lvl="5" algn="l">
              <a:spcBef>
                <a:spcPts val="283"/>
              </a:spcBef>
              <a:buClr>
                <a:srgbClr val="000000"/>
              </a:buClr>
              <a:buSzPct val="45000"/>
              <a:buFont typeface="Wingdings" charset="2"/>
              <a:buChar char=""/>
              <a:defRPr lang="de-DE" sz="2000" b="0" u="none" strike="noStrike">
                <a:solidFill>
                  <a:schemeClr val="dk1"/>
                </a:solidFill>
                <a:effectLst/>
                <a:uFillTx/>
                <a:latin typeface="Aptos"/>
              </a:defRPr>
            </a:lvl6pPr>
            <a:lvl7pPr lvl="6" algn="l">
              <a:spcBef>
                <a:spcPts val="283"/>
              </a:spcBef>
              <a:buClr>
                <a:srgbClr val="000000"/>
              </a:buClr>
              <a:buSzPct val="45000"/>
              <a:buFont typeface="Wingdings" charset="2"/>
              <a:buChar char=""/>
              <a:defRPr lang="de-DE" sz="2000" b="0" u="none" strike="noStrike">
                <a:solidFill>
                  <a:schemeClr val="dk1"/>
                </a:solidFill>
                <a:effectLst/>
                <a:uFillTx/>
                <a:latin typeface="Aptos"/>
              </a:defRPr>
            </a:lvl7pPr>
          </a:lstStyle>
          <a:p>
            <a:pPr marL="432000" indent="-324000" algn="l">
              <a:spcBef>
                <a:spcPts val="1417"/>
              </a:spcBef>
              <a:buClr>
                <a:srgbClr val="000000"/>
              </a:buClr>
              <a:buSzPct val="45000"/>
              <a:buFont typeface="Wingdings" charset="2"/>
              <a:buChar char=""/>
            </a:pPr>
            <a:r>
              <a:rPr lang="de-DE" sz="3200" b="0" u="none" strike="noStrike">
                <a:solidFill>
                  <a:schemeClr val="dk1"/>
                </a:solidFill>
                <a:effectLst/>
                <a:uFillTx/>
                <a:latin typeface="Aptos"/>
              </a:rPr>
              <a:t>Format des Gliederungstextes durch Klicken bearbeiten</a:t>
            </a:r>
            <a:endParaRPr lang="de-DE" sz="3200" b="0" u="none" strike="noStrike">
              <a:solidFill>
                <a:schemeClr val="dk1"/>
              </a:solidFill>
              <a:effectLst/>
              <a:uFillTx/>
              <a:latin typeface="Aptos"/>
            </a:endParaRPr>
          </a:p>
          <a:p>
            <a:pPr marL="864000" lvl="1" indent="-324000" algn="l">
              <a:spcBef>
                <a:spcPts val="1134"/>
              </a:spcBef>
              <a:buClr>
                <a:srgbClr val="000000"/>
              </a:buClr>
              <a:buSzPct val="75000"/>
              <a:buFont typeface="Symbol" charset="2"/>
              <a:buChar char=""/>
            </a:pPr>
            <a:r>
              <a:rPr lang="de-DE" sz="2400" b="0" u="none" strike="noStrike">
                <a:solidFill>
                  <a:schemeClr val="dk1"/>
                </a:solidFill>
                <a:effectLst/>
                <a:uFillTx/>
                <a:latin typeface="Aptos"/>
              </a:rPr>
              <a:t>Zweite Gliederungsebene</a:t>
            </a:r>
            <a:endParaRPr lang="de-DE" sz="2400" b="0" u="none" strike="noStrike">
              <a:solidFill>
                <a:schemeClr val="dk1"/>
              </a:solidFill>
              <a:effectLst/>
              <a:uFillTx/>
              <a:latin typeface="Aptos"/>
            </a:endParaRPr>
          </a:p>
          <a:p>
            <a:pPr marL="1296000" lvl="2" indent="-288000" algn="l">
              <a:spcBef>
                <a:spcPts val="850"/>
              </a:spcBef>
              <a:buClr>
                <a:srgbClr val="000000"/>
              </a:buClr>
              <a:buSzPct val="45000"/>
              <a:buFont typeface="Wingdings" charset="2"/>
              <a:buChar char=""/>
            </a:pPr>
            <a:r>
              <a:rPr lang="de-DE" sz="2000" b="0" u="none" strike="noStrike">
                <a:solidFill>
                  <a:schemeClr val="dk1"/>
                </a:solidFill>
                <a:effectLst/>
                <a:uFillTx/>
                <a:latin typeface="Aptos"/>
              </a:rPr>
              <a:t>Dritte Gliederungsebene</a:t>
            </a:r>
            <a:endParaRPr lang="de-DE" sz="2000" b="0" u="none" strike="noStrike">
              <a:solidFill>
                <a:schemeClr val="dk1"/>
              </a:solidFill>
              <a:effectLst/>
              <a:uFillTx/>
              <a:latin typeface="Aptos"/>
            </a:endParaRPr>
          </a:p>
          <a:p>
            <a:pPr marL="1728000" lvl="3" indent="-216000" algn="l">
              <a:spcBef>
                <a:spcPts val="567"/>
              </a:spcBef>
              <a:buClr>
                <a:srgbClr val="000000"/>
              </a:buClr>
              <a:buSzPct val="75000"/>
              <a:buFont typeface="Symbol" charset="2"/>
              <a:buChar char=""/>
            </a:pPr>
            <a:r>
              <a:rPr lang="de-DE" sz="2000" b="0" u="none" strike="noStrike">
                <a:solidFill>
                  <a:schemeClr val="dk1"/>
                </a:solidFill>
                <a:effectLst/>
                <a:uFillTx/>
                <a:latin typeface="Aptos"/>
              </a:rPr>
              <a:t>Vierte Gliederungsebene</a:t>
            </a:r>
            <a:endParaRPr lang="de-DE" sz="2000" b="0" u="none" strike="noStrike">
              <a:solidFill>
                <a:schemeClr val="dk1"/>
              </a:solidFill>
              <a:effectLst/>
              <a:uFillTx/>
              <a:latin typeface="Aptos"/>
            </a:endParaRPr>
          </a:p>
          <a:p>
            <a:pPr marL="2160000" lvl="4" indent="-216000" algn="l">
              <a:spcBef>
                <a:spcPts val="283"/>
              </a:spcBef>
              <a:buClr>
                <a:srgbClr val="000000"/>
              </a:buClr>
              <a:buSzPct val="45000"/>
              <a:buFont typeface="Wingdings" charset="2"/>
              <a:buChar char=""/>
            </a:pPr>
            <a:r>
              <a:rPr lang="de-DE" sz="2000" b="0" u="none" strike="noStrike">
                <a:solidFill>
                  <a:schemeClr val="dk1"/>
                </a:solidFill>
                <a:effectLst/>
                <a:uFillTx/>
                <a:latin typeface="Aptos"/>
              </a:rPr>
              <a:t>Fünfte Gliederungsebene</a:t>
            </a:r>
            <a:endParaRPr lang="de-DE" sz="2000" b="0" u="none" strike="noStrike">
              <a:solidFill>
                <a:schemeClr val="dk1"/>
              </a:solidFill>
              <a:effectLst/>
              <a:uFillTx/>
              <a:latin typeface="Aptos"/>
            </a:endParaRPr>
          </a:p>
          <a:p>
            <a:pPr marL="2592000" lvl="5" indent="-216000" algn="l">
              <a:spcBef>
                <a:spcPts val="283"/>
              </a:spcBef>
              <a:buClr>
                <a:srgbClr val="000000"/>
              </a:buClr>
              <a:buSzPct val="45000"/>
              <a:buFont typeface="Wingdings" charset="2"/>
              <a:buChar char=""/>
            </a:pPr>
            <a:r>
              <a:rPr lang="de-DE" sz="2000" b="0" u="none" strike="noStrike">
                <a:solidFill>
                  <a:schemeClr val="dk1"/>
                </a:solidFill>
                <a:effectLst/>
                <a:uFillTx/>
                <a:latin typeface="Aptos"/>
              </a:rPr>
              <a:t>Sechste Gliederungsebene</a:t>
            </a:r>
            <a:endParaRPr lang="de-DE" sz="2000" b="0" u="none" strike="noStrike">
              <a:solidFill>
                <a:schemeClr val="dk1"/>
              </a:solidFill>
              <a:effectLst/>
              <a:uFillTx/>
              <a:latin typeface="Aptos"/>
            </a:endParaRPr>
          </a:p>
          <a:p>
            <a:pPr marL="3024000" lvl="6" indent="-216000" algn="l">
              <a:spcBef>
                <a:spcPts val="283"/>
              </a:spcBef>
              <a:buClr>
                <a:srgbClr val="000000"/>
              </a:buClr>
              <a:buSzPct val="45000"/>
              <a:buFont typeface="Wingdings" charset="2"/>
              <a:buChar char=""/>
            </a:pPr>
            <a:r>
              <a:rPr lang="de-DE" sz="2000" b="0" u="none" strike="noStrike">
                <a:solidFill>
                  <a:schemeClr val="dk1"/>
                </a:solidFill>
                <a:effectLst/>
                <a:uFillTx/>
                <a:latin typeface="Aptos"/>
              </a:rPr>
              <a:t>Siebte Gliederungsebene</a:t>
            </a:r>
            <a:endParaRPr lang="de-DE" sz="2000" b="0" u="none" strike="noStrike">
              <a:solidFill>
                <a:schemeClr val="dk1"/>
              </a:solidFill>
              <a:effectLst/>
              <a:uFillTx/>
              <a:latin typeface="Aptos"/>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omments" Target="../comments/comment20.xml"/><Relationship Id="rId3"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omments" Target="../comments/comment21.xml"/><Relationship Id="rId3"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10" name="Shape 0"/>
          <p:cNvSpPr/>
          <p:nvPr/>
        </p:nvSpPr>
        <p:spPr>
          <a:xfrm>
            <a:off x="0" y="0"/>
            <a:ext cx="12191400" cy="6857640"/>
          </a:xfrm>
          <a:prstGeom prst="rect">
            <a:avLst/>
          </a:prstGeom>
          <a:solidFill>
            <a:srgbClr val="0F172A"/>
          </a:solidFill>
          <a:ln w="12700">
            <a:solidFill>
              <a:srgbClr val="0F172A"/>
            </a:solidFill>
            <a:round/>
          </a:ln>
        </p:spPr>
        <p:style>
          <a:lnRef idx="0"/>
          <a:fillRef idx="0"/>
          <a:effectRef idx="0"/>
          <a:fontRef idx="minor"/>
        </p:style>
        <p:txBody>
          <a:bodyPr lIns="90000" tIns="45000" rIns="90000" bIns="45000" anchor="t">
            <a:noAutofit/>
          </a:bodyPr>
          <a:p>
            <a:endParaRPr lang="de-DE" sz="1800" b="0" u="none" strike="noStrike">
              <a:solidFill>
                <a:srgbClr val="FFFFFF"/>
              </a:solidFill>
              <a:effectLst/>
              <a:uFillTx/>
              <a:latin typeface="Arial"/>
            </a:endParaRPr>
          </a:p>
        </p:txBody>
      </p:sp>
      <p:sp>
        <p:nvSpPr>
          <p:cNvPr id="11" name="Shape 1"/>
          <p:cNvSpPr/>
          <p:nvPr/>
        </p:nvSpPr>
        <p:spPr>
          <a:xfrm>
            <a:off x="0" y="0"/>
            <a:ext cx="200880" cy="6857640"/>
          </a:xfrm>
          <a:prstGeom prst="rect">
            <a:avLst/>
          </a:prstGeom>
          <a:solidFill>
            <a:srgbClr val="10B981"/>
          </a:solidFill>
          <a:ln w="12700">
            <a:solidFill>
              <a:srgbClr val="10B981"/>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12" name="Text 2"/>
          <p:cNvSpPr/>
          <p:nvPr/>
        </p:nvSpPr>
        <p:spPr>
          <a:xfrm>
            <a:off x="777240" y="1234440"/>
            <a:ext cx="713196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800" b="1" u="none" strike="noStrike">
                <a:solidFill>
                  <a:srgbClr val="FFFFFF"/>
                </a:solidFill>
                <a:effectLst/>
                <a:uFillTx/>
                <a:latin typeface="Aptos"/>
              </a:rPr>
              <a:t>Lebens-Finanzplaner</a:t>
            </a:r>
            <a:endParaRPr lang="de-DE" sz="3800" b="0" u="none" strike="noStrike">
              <a:solidFill>
                <a:srgbClr val="FFFFFF"/>
              </a:solidFill>
              <a:effectLst/>
              <a:uFillTx/>
              <a:latin typeface="Arial"/>
            </a:endParaRPr>
          </a:p>
        </p:txBody>
      </p:sp>
      <p:sp>
        <p:nvSpPr>
          <p:cNvPr id="13" name="Text 3"/>
          <p:cNvSpPr/>
          <p:nvPr/>
        </p:nvSpPr>
        <p:spPr>
          <a:xfrm>
            <a:off x="822960" y="1965960"/>
            <a:ext cx="777204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CBD5E1"/>
                </a:solidFill>
                <a:effectLst/>
                <a:uFillTx/>
                <a:latin typeface="Aptos"/>
              </a:rPr>
              <a:t>Projektpräsentation · 5 Personen · angepasste Rollenverteilung</a:t>
            </a:r>
            <a:endParaRPr lang="de-DE" sz="1400" b="0" u="none" strike="noStrike">
              <a:solidFill>
                <a:srgbClr val="FFFFFF"/>
              </a:solidFill>
              <a:effectLst/>
              <a:uFillTx/>
              <a:latin typeface="Arial"/>
            </a:endParaRPr>
          </a:p>
        </p:txBody>
      </p:sp>
      <p:sp>
        <p:nvSpPr>
          <p:cNvPr id="14" name="Shape 4"/>
          <p:cNvSpPr/>
          <p:nvPr/>
        </p:nvSpPr>
        <p:spPr>
          <a:xfrm>
            <a:off x="822960" y="2788920"/>
            <a:ext cx="5120280" cy="914040"/>
          </a:xfrm>
          <a:prstGeom prst="roundRect">
            <a:avLst>
              <a:gd name="adj" fmla="val 8000"/>
            </a:avLst>
          </a:prstGeom>
          <a:solidFill>
            <a:srgbClr val="172033"/>
          </a:solidFill>
          <a:ln w="12700">
            <a:solidFill>
              <a:srgbClr val="334155"/>
            </a:solidFill>
            <a:round/>
          </a:ln>
        </p:spPr>
        <p:style>
          <a:lnRef idx="0"/>
          <a:fillRef idx="0"/>
          <a:effectRef idx="0"/>
          <a:fontRef idx="minor"/>
        </p:style>
        <p:txBody>
          <a:bodyPr lIns="90000" tIns="45000" rIns="90000" bIns="45000" anchor="t">
            <a:noAutofit/>
          </a:bodyPr>
          <a:p>
            <a:endParaRPr lang="de-DE" sz="1800" b="0" u="none" strike="noStrike">
              <a:solidFill>
                <a:srgbClr val="FFFFFF"/>
              </a:solidFill>
              <a:effectLst/>
              <a:uFillTx/>
              <a:latin typeface="Arial"/>
            </a:endParaRPr>
          </a:p>
        </p:txBody>
      </p:sp>
      <p:sp>
        <p:nvSpPr>
          <p:cNvPr id="15" name="Text 5"/>
          <p:cNvSpPr/>
          <p:nvPr/>
        </p:nvSpPr>
        <p:spPr>
          <a:xfrm>
            <a:off x="1078920" y="3063240"/>
            <a:ext cx="46173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FFFFFF"/>
                </a:solidFill>
                <a:effectLst/>
                <a:uFillTx/>
                <a:latin typeface="Aptos"/>
              </a:rPr>
              <a:t>Webbasierte Anwendung zur persönlichen Finanzplanung</a:t>
            </a:r>
            <a:endParaRPr lang="de-DE" sz="1600" b="0" u="none" strike="noStrike">
              <a:solidFill>
                <a:srgbClr val="FFFFFF"/>
              </a:solidFill>
              <a:effectLst/>
              <a:uFillTx/>
              <a:latin typeface="Arial"/>
            </a:endParaRPr>
          </a:p>
        </p:txBody>
      </p:sp>
      <p:sp>
        <p:nvSpPr>
          <p:cNvPr id="16" name="Text 6"/>
          <p:cNvSpPr/>
          <p:nvPr/>
        </p:nvSpPr>
        <p:spPr>
          <a:xfrm>
            <a:off x="1078920" y="3401640"/>
            <a:ext cx="461736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0" u="none" strike="noStrike">
                <a:solidFill>
                  <a:srgbClr val="94A3B8"/>
                </a:solidFill>
                <a:effectLst/>
                <a:uFillTx/>
                <a:latin typeface="Aptos"/>
              </a:rPr>
              <a:t>React · Flask · Supabase/PostgreSQL · Docker</a:t>
            </a:r>
            <a:endParaRPr lang="de-DE" sz="1050" b="0" u="none" strike="noStrike">
              <a:solidFill>
                <a:srgbClr val="FFFFFF"/>
              </a:solidFill>
              <a:effectLst/>
              <a:uFillTx/>
              <a:latin typeface="Arial"/>
            </a:endParaRPr>
          </a:p>
        </p:txBody>
      </p:sp>
      <p:sp>
        <p:nvSpPr>
          <p:cNvPr id="17" name="Text 7"/>
          <p:cNvSpPr/>
          <p:nvPr/>
        </p:nvSpPr>
        <p:spPr>
          <a:xfrm>
            <a:off x="9235440" y="1097280"/>
            <a:ext cx="1554120" cy="13712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6200" b="0" u="none" strike="noStrike">
                <a:solidFill>
                  <a:srgbClr val="10B981"/>
                </a:solidFill>
                <a:effectLst/>
                <a:uFillTx/>
                <a:latin typeface="Aptos"/>
              </a:rPr>
              <a:t>💶</a:t>
            </a:r>
            <a:endParaRPr lang="de-DE" sz="6200" b="0" u="none" strike="noStrike">
              <a:solidFill>
                <a:srgbClr val="FFFFFF"/>
              </a:solidFill>
              <a:effectLst/>
              <a:uFillTx/>
              <a:latin typeface="Arial"/>
            </a:endParaRPr>
          </a:p>
        </p:txBody>
      </p:sp>
      <p:sp>
        <p:nvSpPr>
          <p:cNvPr id="18" name="Text 8"/>
          <p:cNvSpPr/>
          <p:nvPr/>
        </p:nvSpPr>
        <p:spPr>
          <a:xfrm>
            <a:off x="8503920" y="3200400"/>
            <a:ext cx="1188360" cy="10054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4200" b="0" u="none" strike="noStrike">
                <a:solidFill>
                  <a:srgbClr val="2563EB"/>
                </a:solidFill>
                <a:effectLst/>
                <a:uFillTx/>
                <a:latin typeface="Aptos"/>
              </a:rPr>
              <a:t>📊</a:t>
            </a:r>
            <a:endParaRPr lang="de-DE" sz="4200" b="0" u="none" strike="noStrike">
              <a:solidFill>
                <a:srgbClr val="FFFFFF"/>
              </a:solidFill>
              <a:effectLst/>
              <a:uFillTx/>
              <a:latin typeface="Arial"/>
            </a:endParaRPr>
          </a:p>
        </p:txBody>
      </p:sp>
      <p:sp>
        <p:nvSpPr>
          <p:cNvPr id="19" name="Text 9"/>
          <p:cNvSpPr/>
          <p:nvPr/>
        </p:nvSpPr>
        <p:spPr>
          <a:xfrm>
            <a:off x="9966960" y="3657600"/>
            <a:ext cx="1188360" cy="10054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4200" b="0" u="none" strike="noStrike">
                <a:solidFill>
                  <a:srgbClr val="F59E0B"/>
                </a:solidFill>
                <a:effectLst/>
                <a:uFillTx/>
                <a:latin typeface="Aptos"/>
              </a:rPr>
              <a:t>🔐</a:t>
            </a:r>
            <a:endParaRPr lang="de-DE" sz="4200" b="0" u="none" strike="noStrike">
              <a:solidFill>
                <a:srgbClr val="FFFFFF"/>
              </a:solidFill>
              <a:effectLst/>
              <a:uFillTx/>
              <a:latin typeface="Arial"/>
            </a:endParaRPr>
          </a:p>
        </p:txBody>
      </p:sp>
      <p:sp>
        <p:nvSpPr>
          <p:cNvPr id="20" name="Text 10"/>
          <p:cNvSpPr/>
          <p:nvPr/>
        </p:nvSpPr>
        <p:spPr>
          <a:xfrm>
            <a:off x="11174040" y="6473880"/>
            <a:ext cx="45684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50" b="0" u="none" strike="noStrike">
                <a:solidFill>
                  <a:srgbClr val="94A3B8"/>
                </a:solidFill>
                <a:effectLst/>
                <a:uFillTx/>
                <a:latin typeface="Aptos"/>
              </a:rPr>
              <a:t>01</a:t>
            </a:r>
            <a:endParaRPr lang="de-DE" sz="7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21" name="Shape 0"/>
          <p:cNvSpPr/>
          <p:nvPr/>
        </p:nvSpPr>
        <p:spPr>
          <a:xfrm>
            <a:off x="0" y="0"/>
            <a:ext cx="12191400" cy="6857640"/>
          </a:xfrm>
          <a:prstGeom prst="rect">
            <a:avLst/>
          </a:prstGeom>
          <a:solidFill>
            <a:srgbClr val="F8FAFC"/>
          </a:solidFill>
          <a:ln w="12700">
            <a:solidFill>
              <a:srgbClr val="F8FAFC">
                <a:alpha val="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22" name="Shape 1"/>
          <p:cNvSpPr/>
          <p:nvPr/>
        </p:nvSpPr>
        <p:spPr>
          <a:xfrm>
            <a:off x="0" y="0"/>
            <a:ext cx="109440" cy="6857640"/>
          </a:xfrm>
          <a:prstGeom prst="rect">
            <a:avLst/>
          </a:prstGeom>
          <a:solidFill>
            <a:srgbClr val="10B981"/>
          </a:solidFill>
          <a:ln w="12700">
            <a:solidFill>
              <a:srgbClr val="10B981"/>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23" name="Text 2"/>
          <p:cNvSpPr/>
          <p:nvPr/>
        </p:nvSpPr>
        <p:spPr>
          <a:xfrm>
            <a:off x="594360" y="384120"/>
            <a:ext cx="9052200" cy="438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0F172A"/>
                </a:solidFill>
                <a:effectLst/>
                <a:uFillTx/>
                <a:latin typeface="Aptos Display"/>
                <a:ea typeface="Aptos Display"/>
              </a:rPr>
              <a:t>Rollenverteilung &amp; Sprechzeit</a:t>
            </a:r>
            <a:endParaRPr lang="de-DE" sz="2400" b="0" u="none" strike="noStrike">
              <a:solidFill>
                <a:srgbClr val="000000"/>
              </a:solidFill>
              <a:effectLst/>
              <a:uFillTx/>
              <a:latin typeface="Arial"/>
            </a:endParaRPr>
          </a:p>
        </p:txBody>
      </p:sp>
      <p:sp>
        <p:nvSpPr>
          <p:cNvPr id="24" name="Text 3"/>
          <p:cNvSpPr/>
          <p:nvPr/>
        </p:nvSpPr>
        <p:spPr>
          <a:xfrm>
            <a:off x="612720" y="850320"/>
            <a:ext cx="96008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4748B"/>
                </a:solidFill>
                <a:effectLst/>
                <a:uFillTx/>
                <a:latin typeface="Aptos"/>
              </a:rPr>
              <a:t>Neue Aufteilung: 6 Themenblöcke, aber weiterhin 5 Vortragende</a:t>
            </a:r>
            <a:endParaRPr lang="de-DE" sz="950" b="0" u="none" strike="noStrike">
              <a:solidFill>
                <a:srgbClr val="000000"/>
              </a:solidFill>
              <a:effectLst/>
              <a:uFillTx/>
              <a:latin typeface="Arial"/>
            </a:endParaRPr>
          </a:p>
        </p:txBody>
      </p:sp>
      <p:sp>
        <p:nvSpPr>
          <p:cNvPr id="25" name="Shape 4"/>
          <p:cNvSpPr/>
          <p:nvPr/>
        </p:nvSpPr>
        <p:spPr>
          <a:xfrm>
            <a:off x="502920" y="6473880"/>
            <a:ext cx="11201400" cy="360"/>
          </a:xfrm>
          <a:prstGeom prst="line">
            <a:avLst/>
          </a:prstGeom>
          <a:ln w="7620">
            <a:solidFill>
              <a:srgbClr val="CBD5E1">
                <a:alpha val="70000"/>
              </a:srgbClr>
            </a:solidFill>
            <a:round/>
          </a:ln>
        </p:spPr>
        <p:style>
          <a:lnRef idx="0"/>
          <a:fillRef idx="0"/>
          <a:effectRef idx="0"/>
          <a:fontRef idx="minor"/>
        </p:style>
        <p:txBody>
          <a:bodyPr lIns="90000" tIns="-44640" rIns="90000" bIns="-44640" anchor="t" anchorCtr="1">
            <a:noAutofit/>
          </a:bodyPr>
          <a:p>
            <a:endParaRPr lang="de-DE" sz="1800" b="0" u="none" strike="noStrike">
              <a:solidFill>
                <a:srgbClr val="000000"/>
              </a:solidFill>
              <a:effectLst/>
              <a:uFillTx/>
              <a:latin typeface="Arial"/>
            </a:endParaRPr>
          </a:p>
        </p:txBody>
      </p:sp>
      <p:sp>
        <p:nvSpPr>
          <p:cNvPr id="26" name="Text 5"/>
          <p:cNvSpPr/>
          <p:nvPr/>
        </p:nvSpPr>
        <p:spPr>
          <a:xfrm>
            <a:off x="567000" y="6519600"/>
            <a:ext cx="530316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4748B"/>
                </a:solidFill>
                <a:effectLst/>
                <a:uFillTx/>
                <a:latin typeface="Aptos"/>
                <a:ea typeface="Aptos"/>
              </a:rPr>
              <a:t>Überblick</a:t>
            </a:r>
            <a:endParaRPr lang="de-DE" sz="750" b="0" u="none" strike="noStrike">
              <a:solidFill>
                <a:srgbClr val="000000"/>
              </a:solidFill>
              <a:effectLst/>
              <a:uFillTx/>
              <a:latin typeface="Arial"/>
            </a:endParaRPr>
          </a:p>
        </p:txBody>
      </p:sp>
      <p:sp>
        <p:nvSpPr>
          <p:cNvPr id="27" name="Text 6"/>
          <p:cNvSpPr/>
          <p:nvPr/>
        </p:nvSpPr>
        <p:spPr>
          <a:xfrm>
            <a:off x="11201400" y="6519600"/>
            <a:ext cx="45684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50" b="0" u="none" strike="noStrike">
                <a:solidFill>
                  <a:srgbClr val="64748B"/>
                </a:solidFill>
                <a:effectLst/>
                <a:uFillTx/>
                <a:latin typeface="Aptos"/>
                <a:ea typeface="Aptos"/>
              </a:rPr>
              <a:t>02</a:t>
            </a:r>
            <a:endParaRPr lang="de-DE" sz="750" b="0" u="none" strike="noStrike">
              <a:solidFill>
                <a:srgbClr val="000000"/>
              </a:solidFill>
              <a:effectLst/>
              <a:uFillTx/>
              <a:latin typeface="Arial"/>
            </a:endParaRPr>
          </a:p>
        </p:txBody>
      </p:sp>
      <p:sp>
        <p:nvSpPr>
          <p:cNvPr id="28" name="Shape 7"/>
          <p:cNvSpPr/>
          <p:nvPr/>
        </p:nvSpPr>
        <p:spPr>
          <a:xfrm>
            <a:off x="731520" y="1371600"/>
            <a:ext cx="10606680" cy="529920"/>
          </a:xfrm>
          <a:prstGeom prst="roundRect">
            <a:avLst>
              <a:gd name="adj" fmla="val 8621"/>
            </a:avLst>
          </a:prstGeom>
          <a:solidFill>
            <a:srgbClr val="FFFFFF"/>
          </a:solidFill>
          <a:ln w="7620">
            <a:solidFill>
              <a:srgbClr val="CBD5E1"/>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29" name="Shape 8"/>
          <p:cNvSpPr/>
          <p:nvPr/>
        </p:nvSpPr>
        <p:spPr>
          <a:xfrm>
            <a:off x="960120" y="1490400"/>
            <a:ext cx="383760" cy="292320"/>
          </a:xfrm>
          <a:prstGeom prst="roundRect">
            <a:avLst>
              <a:gd name="adj" fmla="val 25000"/>
            </a:avLst>
          </a:prstGeom>
          <a:solidFill>
            <a:srgbClr val="10B981"/>
          </a:solidFill>
          <a:ln w="12700">
            <a:solidFill>
              <a:srgbClr val="10B981">
                <a:alpha val="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30" name="Text 9"/>
          <p:cNvSpPr/>
          <p:nvPr/>
        </p:nvSpPr>
        <p:spPr>
          <a:xfrm>
            <a:off x="1033200" y="1559160"/>
            <a:ext cx="237240" cy="127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1" u="none" strike="noStrike">
                <a:solidFill>
                  <a:srgbClr val="FFFFFF"/>
                </a:solidFill>
                <a:effectLst/>
                <a:uFillTx/>
                <a:latin typeface="Aptos"/>
              </a:rPr>
              <a:t>1</a:t>
            </a:r>
            <a:endParaRPr lang="de-DE" sz="800" b="0" u="none" strike="noStrike">
              <a:solidFill>
                <a:srgbClr val="000000"/>
              </a:solidFill>
              <a:effectLst/>
              <a:uFillTx/>
              <a:latin typeface="Arial"/>
            </a:endParaRPr>
          </a:p>
        </p:txBody>
      </p:sp>
      <p:sp>
        <p:nvSpPr>
          <p:cNvPr id="31" name="Text 10"/>
          <p:cNvSpPr/>
          <p:nvPr/>
        </p:nvSpPr>
        <p:spPr>
          <a:xfrm>
            <a:off x="1536120" y="1517760"/>
            <a:ext cx="438876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0F172A"/>
                </a:solidFill>
                <a:effectLst/>
                <a:uFillTx/>
                <a:latin typeface="Aptos"/>
              </a:rPr>
              <a:t>Projektidee &amp; Anforderungen</a:t>
            </a:r>
            <a:endParaRPr lang="de-DE" sz="1250" b="0" u="none" strike="noStrike">
              <a:solidFill>
                <a:srgbClr val="000000"/>
              </a:solidFill>
              <a:effectLst/>
              <a:uFillTx/>
              <a:latin typeface="Arial"/>
            </a:endParaRPr>
          </a:p>
        </p:txBody>
      </p:sp>
      <p:sp>
        <p:nvSpPr>
          <p:cNvPr id="32" name="Text 11"/>
          <p:cNvSpPr/>
          <p:nvPr/>
        </p:nvSpPr>
        <p:spPr>
          <a:xfrm>
            <a:off x="6400800" y="1517760"/>
            <a:ext cx="146268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334155"/>
                </a:solidFill>
                <a:effectLst/>
                <a:uFillTx/>
                <a:latin typeface="Aptos"/>
              </a:rPr>
              <a:t>Person 1</a:t>
            </a:r>
            <a:endParaRPr lang="de-DE" sz="1100" b="0" u="none" strike="noStrike">
              <a:solidFill>
                <a:srgbClr val="000000"/>
              </a:solidFill>
              <a:effectLst/>
              <a:uFillTx/>
              <a:latin typeface="Arial"/>
            </a:endParaRPr>
          </a:p>
        </p:txBody>
      </p:sp>
      <p:sp>
        <p:nvSpPr>
          <p:cNvPr id="33" name="Text 12"/>
          <p:cNvSpPr/>
          <p:nvPr/>
        </p:nvSpPr>
        <p:spPr>
          <a:xfrm>
            <a:off x="9326880" y="1517760"/>
            <a:ext cx="1096920" cy="200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50" b="0" u="none" strike="noStrike">
                <a:solidFill>
                  <a:srgbClr val="64748B"/>
                </a:solidFill>
                <a:effectLst/>
                <a:uFillTx/>
                <a:latin typeface="Aptos"/>
              </a:rPr>
              <a:t>ca. 7 Min</a:t>
            </a:r>
            <a:endParaRPr lang="de-DE" sz="1050" b="0" u="none" strike="noStrike">
              <a:solidFill>
                <a:srgbClr val="000000"/>
              </a:solidFill>
              <a:effectLst/>
              <a:uFillTx/>
              <a:latin typeface="Arial"/>
            </a:endParaRPr>
          </a:p>
        </p:txBody>
      </p:sp>
      <p:sp>
        <p:nvSpPr>
          <p:cNvPr id="34" name="Shape 13"/>
          <p:cNvSpPr/>
          <p:nvPr/>
        </p:nvSpPr>
        <p:spPr>
          <a:xfrm>
            <a:off x="731520" y="2084760"/>
            <a:ext cx="10606680" cy="529920"/>
          </a:xfrm>
          <a:prstGeom prst="roundRect">
            <a:avLst>
              <a:gd name="adj" fmla="val 8621"/>
            </a:avLst>
          </a:prstGeom>
          <a:solidFill>
            <a:srgbClr val="FFFFFF"/>
          </a:solidFill>
          <a:ln w="7620">
            <a:solidFill>
              <a:srgbClr val="CBD5E1"/>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35" name="Shape 14"/>
          <p:cNvSpPr/>
          <p:nvPr/>
        </p:nvSpPr>
        <p:spPr>
          <a:xfrm>
            <a:off x="960120" y="2203560"/>
            <a:ext cx="383760" cy="292320"/>
          </a:xfrm>
          <a:prstGeom prst="roundRect">
            <a:avLst>
              <a:gd name="adj" fmla="val 25000"/>
            </a:avLst>
          </a:prstGeom>
          <a:solidFill>
            <a:srgbClr val="2563EB"/>
          </a:solidFill>
          <a:ln w="12700">
            <a:solidFill>
              <a:srgbClr val="2563EB">
                <a:alpha val="0"/>
              </a:srgbClr>
            </a:solidFill>
            <a:round/>
          </a:ln>
        </p:spPr>
        <p:style>
          <a:lnRef idx="0"/>
          <a:fillRef idx="0"/>
          <a:effectRef idx="0"/>
          <a:fontRef idx="minor"/>
        </p:style>
        <p:txBody>
          <a:bodyPr lIns="90000" tIns="45000" rIns="90000" bIns="45000" anchor="t">
            <a:noAutofit/>
          </a:bodyPr>
          <a:p>
            <a:endParaRPr lang="de-DE" sz="1800" b="0" u="none" strike="noStrike">
              <a:solidFill>
                <a:srgbClr val="FFFFFF"/>
              </a:solidFill>
              <a:effectLst/>
              <a:uFillTx/>
              <a:latin typeface="Arial"/>
            </a:endParaRPr>
          </a:p>
        </p:txBody>
      </p:sp>
      <p:sp>
        <p:nvSpPr>
          <p:cNvPr id="36" name="Text 15"/>
          <p:cNvSpPr/>
          <p:nvPr/>
        </p:nvSpPr>
        <p:spPr>
          <a:xfrm>
            <a:off x="1033200" y="2272320"/>
            <a:ext cx="237240" cy="127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1" u="none" strike="noStrike">
                <a:solidFill>
                  <a:srgbClr val="FFFFFF"/>
                </a:solidFill>
                <a:effectLst/>
                <a:uFillTx/>
                <a:latin typeface="Aptos"/>
              </a:rPr>
              <a:t>2</a:t>
            </a:r>
            <a:endParaRPr lang="de-DE" sz="800" b="0" u="none" strike="noStrike">
              <a:solidFill>
                <a:srgbClr val="000000"/>
              </a:solidFill>
              <a:effectLst/>
              <a:uFillTx/>
              <a:latin typeface="Arial"/>
            </a:endParaRPr>
          </a:p>
        </p:txBody>
      </p:sp>
      <p:sp>
        <p:nvSpPr>
          <p:cNvPr id="37" name="Text 16"/>
          <p:cNvSpPr/>
          <p:nvPr/>
        </p:nvSpPr>
        <p:spPr>
          <a:xfrm>
            <a:off x="1536120" y="2231280"/>
            <a:ext cx="438876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0F172A"/>
                </a:solidFill>
                <a:effectLst/>
                <a:uFillTx/>
                <a:latin typeface="Aptos"/>
              </a:rPr>
              <a:t>Technologie &amp; Architektur</a:t>
            </a:r>
            <a:endParaRPr lang="de-DE" sz="1250" b="0" u="none" strike="noStrike">
              <a:solidFill>
                <a:srgbClr val="000000"/>
              </a:solidFill>
              <a:effectLst/>
              <a:uFillTx/>
              <a:latin typeface="Arial"/>
            </a:endParaRPr>
          </a:p>
        </p:txBody>
      </p:sp>
      <p:sp>
        <p:nvSpPr>
          <p:cNvPr id="38" name="Text 17"/>
          <p:cNvSpPr/>
          <p:nvPr/>
        </p:nvSpPr>
        <p:spPr>
          <a:xfrm>
            <a:off x="6400800" y="2231280"/>
            <a:ext cx="146268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334155"/>
                </a:solidFill>
                <a:effectLst/>
                <a:uFillTx/>
                <a:latin typeface="Aptos"/>
              </a:rPr>
              <a:t>Person 2</a:t>
            </a:r>
            <a:endParaRPr lang="de-DE" sz="1100" b="0" u="none" strike="noStrike">
              <a:solidFill>
                <a:srgbClr val="000000"/>
              </a:solidFill>
              <a:effectLst/>
              <a:uFillTx/>
              <a:latin typeface="Arial"/>
            </a:endParaRPr>
          </a:p>
        </p:txBody>
      </p:sp>
      <p:sp>
        <p:nvSpPr>
          <p:cNvPr id="39" name="Text 18"/>
          <p:cNvSpPr/>
          <p:nvPr/>
        </p:nvSpPr>
        <p:spPr>
          <a:xfrm>
            <a:off x="9326880" y="2231280"/>
            <a:ext cx="1096920" cy="200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50" b="0" u="none" strike="noStrike">
                <a:solidFill>
                  <a:srgbClr val="64748B"/>
                </a:solidFill>
                <a:effectLst/>
                <a:uFillTx/>
                <a:latin typeface="Aptos"/>
              </a:rPr>
              <a:t>ca. 10 Min</a:t>
            </a:r>
            <a:endParaRPr lang="de-DE" sz="1050" b="0" u="none" strike="noStrike">
              <a:solidFill>
                <a:srgbClr val="000000"/>
              </a:solidFill>
              <a:effectLst/>
              <a:uFillTx/>
              <a:latin typeface="Arial"/>
            </a:endParaRPr>
          </a:p>
        </p:txBody>
      </p:sp>
      <p:sp>
        <p:nvSpPr>
          <p:cNvPr id="40" name="Shape 19"/>
          <p:cNvSpPr/>
          <p:nvPr/>
        </p:nvSpPr>
        <p:spPr>
          <a:xfrm>
            <a:off x="731520" y="2797920"/>
            <a:ext cx="10606680" cy="529920"/>
          </a:xfrm>
          <a:prstGeom prst="roundRect">
            <a:avLst>
              <a:gd name="adj" fmla="val 8621"/>
            </a:avLst>
          </a:prstGeom>
          <a:solidFill>
            <a:srgbClr val="FFFFFF"/>
          </a:solidFill>
          <a:ln w="7620">
            <a:solidFill>
              <a:srgbClr val="CBD5E1"/>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41" name="Shape 20"/>
          <p:cNvSpPr/>
          <p:nvPr/>
        </p:nvSpPr>
        <p:spPr>
          <a:xfrm>
            <a:off x="960120" y="2917080"/>
            <a:ext cx="383760" cy="292320"/>
          </a:xfrm>
          <a:prstGeom prst="roundRect">
            <a:avLst>
              <a:gd name="adj" fmla="val 25000"/>
            </a:avLst>
          </a:prstGeom>
          <a:solidFill>
            <a:srgbClr val="F59E0B"/>
          </a:solidFill>
          <a:ln w="12700">
            <a:solidFill>
              <a:srgbClr val="F59E0B">
                <a:alpha val="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42" name="Text 21"/>
          <p:cNvSpPr/>
          <p:nvPr/>
        </p:nvSpPr>
        <p:spPr>
          <a:xfrm>
            <a:off x="1033200" y="2985480"/>
            <a:ext cx="237240" cy="127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1" u="none" strike="noStrike">
                <a:solidFill>
                  <a:srgbClr val="FFFFFF"/>
                </a:solidFill>
                <a:effectLst/>
                <a:uFillTx/>
                <a:latin typeface="Aptos"/>
              </a:rPr>
              <a:t>3</a:t>
            </a:r>
            <a:endParaRPr lang="de-DE" sz="800" b="0" u="none" strike="noStrike">
              <a:solidFill>
                <a:srgbClr val="000000"/>
              </a:solidFill>
              <a:effectLst/>
              <a:uFillTx/>
              <a:latin typeface="Arial"/>
            </a:endParaRPr>
          </a:p>
        </p:txBody>
      </p:sp>
      <p:sp>
        <p:nvSpPr>
          <p:cNvPr id="43" name="Text 22"/>
          <p:cNvSpPr/>
          <p:nvPr/>
        </p:nvSpPr>
        <p:spPr>
          <a:xfrm>
            <a:off x="1536120" y="2944440"/>
            <a:ext cx="438876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0F172A"/>
                </a:solidFill>
                <a:effectLst/>
                <a:uFillTx/>
                <a:latin typeface="Aptos"/>
              </a:rPr>
              <a:t>Datenbank &amp; Migration</a:t>
            </a:r>
            <a:endParaRPr lang="de-DE" sz="1250" b="0" u="none" strike="noStrike">
              <a:solidFill>
                <a:srgbClr val="000000"/>
              </a:solidFill>
              <a:effectLst/>
              <a:uFillTx/>
              <a:latin typeface="Arial"/>
            </a:endParaRPr>
          </a:p>
        </p:txBody>
      </p:sp>
      <p:sp>
        <p:nvSpPr>
          <p:cNvPr id="44" name="Text 23"/>
          <p:cNvSpPr/>
          <p:nvPr/>
        </p:nvSpPr>
        <p:spPr>
          <a:xfrm>
            <a:off x="6400800" y="2944440"/>
            <a:ext cx="146268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334155"/>
                </a:solidFill>
                <a:effectLst/>
                <a:uFillTx/>
                <a:latin typeface="Aptos"/>
              </a:rPr>
              <a:t>Person 3</a:t>
            </a:r>
            <a:endParaRPr lang="de-DE" sz="1100" b="0" u="none" strike="noStrike">
              <a:solidFill>
                <a:srgbClr val="000000"/>
              </a:solidFill>
              <a:effectLst/>
              <a:uFillTx/>
              <a:latin typeface="Arial"/>
            </a:endParaRPr>
          </a:p>
        </p:txBody>
      </p:sp>
      <p:sp>
        <p:nvSpPr>
          <p:cNvPr id="45" name="Text 24"/>
          <p:cNvSpPr/>
          <p:nvPr/>
        </p:nvSpPr>
        <p:spPr>
          <a:xfrm>
            <a:off x="9326880" y="2944440"/>
            <a:ext cx="1096920" cy="200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50" b="0" u="none" strike="noStrike">
                <a:solidFill>
                  <a:srgbClr val="64748B"/>
                </a:solidFill>
                <a:effectLst/>
                <a:uFillTx/>
                <a:latin typeface="Aptos"/>
              </a:rPr>
              <a:t>ca. 10 Min</a:t>
            </a:r>
            <a:endParaRPr lang="de-DE" sz="1050" b="0" u="none" strike="noStrike">
              <a:solidFill>
                <a:srgbClr val="000000"/>
              </a:solidFill>
              <a:effectLst/>
              <a:uFillTx/>
              <a:latin typeface="Arial"/>
            </a:endParaRPr>
          </a:p>
        </p:txBody>
      </p:sp>
      <p:sp>
        <p:nvSpPr>
          <p:cNvPr id="46" name="Shape 25"/>
          <p:cNvSpPr/>
          <p:nvPr/>
        </p:nvSpPr>
        <p:spPr>
          <a:xfrm>
            <a:off x="731520" y="3511440"/>
            <a:ext cx="10606680" cy="529920"/>
          </a:xfrm>
          <a:prstGeom prst="roundRect">
            <a:avLst>
              <a:gd name="adj" fmla="val 8621"/>
            </a:avLst>
          </a:prstGeom>
          <a:solidFill>
            <a:srgbClr val="FFFFFF"/>
          </a:solidFill>
          <a:ln w="7620">
            <a:solidFill>
              <a:srgbClr val="CBD5E1"/>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47" name="Shape 26"/>
          <p:cNvSpPr/>
          <p:nvPr/>
        </p:nvSpPr>
        <p:spPr>
          <a:xfrm>
            <a:off x="960120" y="3630240"/>
            <a:ext cx="383760" cy="292320"/>
          </a:xfrm>
          <a:prstGeom prst="roundRect">
            <a:avLst>
              <a:gd name="adj" fmla="val 25000"/>
            </a:avLst>
          </a:prstGeom>
          <a:solidFill>
            <a:srgbClr val="E11D48"/>
          </a:solidFill>
          <a:ln w="12700">
            <a:solidFill>
              <a:srgbClr val="E11D48">
                <a:alpha val="0"/>
              </a:srgbClr>
            </a:solidFill>
            <a:round/>
          </a:ln>
        </p:spPr>
        <p:style>
          <a:lnRef idx="0"/>
          <a:fillRef idx="0"/>
          <a:effectRef idx="0"/>
          <a:fontRef idx="minor"/>
        </p:style>
        <p:txBody>
          <a:bodyPr lIns="90000" tIns="45000" rIns="90000" bIns="45000" anchor="t">
            <a:noAutofit/>
          </a:bodyPr>
          <a:p>
            <a:endParaRPr lang="de-DE" sz="1800" b="0" u="none" strike="noStrike">
              <a:solidFill>
                <a:srgbClr val="FFFFFF"/>
              </a:solidFill>
              <a:effectLst/>
              <a:uFillTx/>
              <a:latin typeface="Arial"/>
            </a:endParaRPr>
          </a:p>
        </p:txBody>
      </p:sp>
      <p:sp>
        <p:nvSpPr>
          <p:cNvPr id="48" name="Text 27"/>
          <p:cNvSpPr/>
          <p:nvPr/>
        </p:nvSpPr>
        <p:spPr>
          <a:xfrm>
            <a:off x="1033200" y="3698640"/>
            <a:ext cx="237240" cy="127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1" u="none" strike="noStrike">
                <a:solidFill>
                  <a:srgbClr val="FFFFFF"/>
                </a:solidFill>
                <a:effectLst/>
                <a:uFillTx/>
                <a:latin typeface="Aptos"/>
              </a:rPr>
              <a:t>4</a:t>
            </a:r>
            <a:endParaRPr lang="de-DE" sz="800" b="0" u="none" strike="noStrike">
              <a:solidFill>
                <a:srgbClr val="000000"/>
              </a:solidFill>
              <a:effectLst/>
              <a:uFillTx/>
              <a:latin typeface="Arial"/>
            </a:endParaRPr>
          </a:p>
        </p:txBody>
      </p:sp>
      <p:sp>
        <p:nvSpPr>
          <p:cNvPr id="49" name="Text 28"/>
          <p:cNvSpPr/>
          <p:nvPr/>
        </p:nvSpPr>
        <p:spPr>
          <a:xfrm>
            <a:off x="1536120" y="3657600"/>
            <a:ext cx="438876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0F172A"/>
                </a:solidFill>
                <a:effectLst/>
                <a:uFillTx/>
                <a:latin typeface="Aptos"/>
              </a:rPr>
              <a:t>Frontend</a:t>
            </a:r>
            <a:endParaRPr lang="de-DE" sz="1250" b="0" u="none" strike="noStrike">
              <a:solidFill>
                <a:srgbClr val="000000"/>
              </a:solidFill>
              <a:effectLst/>
              <a:uFillTx/>
              <a:latin typeface="Arial"/>
            </a:endParaRPr>
          </a:p>
        </p:txBody>
      </p:sp>
      <p:sp>
        <p:nvSpPr>
          <p:cNvPr id="50" name="Text 29"/>
          <p:cNvSpPr/>
          <p:nvPr/>
        </p:nvSpPr>
        <p:spPr>
          <a:xfrm>
            <a:off x="6400800" y="3657600"/>
            <a:ext cx="146268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334155"/>
                </a:solidFill>
                <a:effectLst/>
                <a:uFillTx/>
                <a:latin typeface="Aptos"/>
              </a:rPr>
              <a:t>Person 4</a:t>
            </a:r>
            <a:endParaRPr lang="de-DE" sz="1100" b="0" u="none" strike="noStrike">
              <a:solidFill>
                <a:srgbClr val="000000"/>
              </a:solidFill>
              <a:effectLst/>
              <a:uFillTx/>
              <a:latin typeface="Arial"/>
            </a:endParaRPr>
          </a:p>
        </p:txBody>
      </p:sp>
      <p:sp>
        <p:nvSpPr>
          <p:cNvPr id="51" name="Text 30"/>
          <p:cNvSpPr/>
          <p:nvPr/>
        </p:nvSpPr>
        <p:spPr>
          <a:xfrm>
            <a:off x="9326880" y="3657600"/>
            <a:ext cx="1096920" cy="200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50" b="0" u="none" strike="noStrike">
                <a:solidFill>
                  <a:srgbClr val="64748B"/>
                </a:solidFill>
                <a:effectLst/>
                <a:uFillTx/>
                <a:latin typeface="Aptos"/>
              </a:rPr>
              <a:t>ca. 10 Min</a:t>
            </a:r>
            <a:endParaRPr lang="de-DE" sz="1050" b="0" u="none" strike="noStrike">
              <a:solidFill>
                <a:srgbClr val="000000"/>
              </a:solidFill>
              <a:effectLst/>
              <a:uFillTx/>
              <a:latin typeface="Arial"/>
            </a:endParaRPr>
          </a:p>
        </p:txBody>
      </p:sp>
      <p:sp>
        <p:nvSpPr>
          <p:cNvPr id="52" name="Shape 31"/>
          <p:cNvSpPr/>
          <p:nvPr/>
        </p:nvSpPr>
        <p:spPr>
          <a:xfrm>
            <a:off x="731520" y="4224600"/>
            <a:ext cx="10606680" cy="529920"/>
          </a:xfrm>
          <a:prstGeom prst="roundRect">
            <a:avLst>
              <a:gd name="adj" fmla="val 8621"/>
            </a:avLst>
          </a:prstGeom>
          <a:solidFill>
            <a:srgbClr val="FFFFFF"/>
          </a:solidFill>
          <a:ln w="7620">
            <a:solidFill>
              <a:srgbClr val="CBD5E1"/>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53" name="Shape 32"/>
          <p:cNvSpPr/>
          <p:nvPr/>
        </p:nvSpPr>
        <p:spPr>
          <a:xfrm>
            <a:off x="960120" y="4343400"/>
            <a:ext cx="383760" cy="292320"/>
          </a:xfrm>
          <a:prstGeom prst="roundRect">
            <a:avLst>
              <a:gd name="adj" fmla="val 25000"/>
            </a:avLst>
          </a:prstGeom>
          <a:solidFill>
            <a:srgbClr val="047857"/>
          </a:solidFill>
          <a:ln w="12700">
            <a:solidFill>
              <a:srgbClr val="047857">
                <a:alpha val="0"/>
              </a:srgbClr>
            </a:solidFill>
            <a:round/>
          </a:ln>
        </p:spPr>
        <p:style>
          <a:lnRef idx="0"/>
          <a:fillRef idx="0"/>
          <a:effectRef idx="0"/>
          <a:fontRef idx="minor"/>
        </p:style>
        <p:txBody>
          <a:bodyPr lIns="90000" tIns="45000" rIns="90000" bIns="45000" anchor="t">
            <a:noAutofit/>
          </a:bodyPr>
          <a:p>
            <a:endParaRPr lang="de-DE" sz="1800" b="0" u="none" strike="noStrike">
              <a:solidFill>
                <a:srgbClr val="FFFFFF"/>
              </a:solidFill>
              <a:effectLst/>
              <a:uFillTx/>
              <a:latin typeface="Arial"/>
            </a:endParaRPr>
          </a:p>
        </p:txBody>
      </p:sp>
      <p:sp>
        <p:nvSpPr>
          <p:cNvPr id="54" name="Text 33"/>
          <p:cNvSpPr/>
          <p:nvPr/>
        </p:nvSpPr>
        <p:spPr>
          <a:xfrm>
            <a:off x="1033200" y="4412160"/>
            <a:ext cx="237240" cy="127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1" u="none" strike="noStrike">
                <a:solidFill>
                  <a:srgbClr val="FFFFFF"/>
                </a:solidFill>
                <a:effectLst/>
                <a:uFillTx/>
                <a:latin typeface="Aptos"/>
              </a:rPr>
              <a:t>5</a:t>
            </a:r>
            <a:endParaRPr lang="de-DE" sz="800" b="0" u="none" strike="noStrike">
              <a:solidFill>
                <a:srgbClr val="000000"/>
              </a:solidFill>
              <a:effectLst/>
              <a:uFillTx/>
              <a:latin typeface="Arial"/>
            </a:endParaRPr>
          </a:p>
        </p:txBody>
      </p:sp>
      <p:sp>
        <p:nvSpPr>
          <p:cNvPr id="55" name="Text 34"/>
          <p:cNvSpPr/>
          <p:nvPr/>
        </p:nvSpPr>
        <p:spPr>
          <a:xfrm>
            <a:off x="1536120" y="4370760"/>
            <a:ext cx="438876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0F172A"/>
                </a:solidFill>
                <a:effectLst/>
                <a:uFillTx/>
                <a:latin typeface="Aptos"/>
              </a:rPr>
              <a:t>Implementierung &amp; Sicherheit</a:t>
            </a:r>
            <a:endParaRPr lang="de-DE" sz="1250" b="0" u="none" strike="noStrike">
              <a:solidFill>
                <a:srgbClr val="000000"/>
              </a:solidFill>
              <a:effectLst/>
              <a:uFillTx/>
              <a:latin typeface="Arial"/>
            </a:endParaRPr>
          </a:p>
        </p:txBody>
      </p:sp>
      <p:sp>
        <p:nvSpPr>
          <p:cNvPr id="56" name="Text 35"/>
          <p:cNvSpPr/>
          <p:nvPr/>
        </p:nvSpPr>
        <p:spPr>
          <a:xfrm>
            <a:off x="6400800" y="4370760"/>
            <a:ext cx="146268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334155"/>
                </a:solidFill>
                <a:effectLst/>
                <a:uFillTx/>
                <a:latin typeface="Aptos"/>
              </a:rPr>
              <a:t>Person 5</a:t>
            </a:r>
            <a:endParaRPr lang="de-DE" sz="1100" b="0" u="none" strike="noStrike">
              <a:solidFill>
                <a:srgbClr val="000000"/>
              </a:solidFill>
              <a:effectLst/>
              <a:uFillTx/>
              <a:latin typeface="Arial"/>
            </a:endParaRPr>
          </a:p>
        </p:txBody>
      </p:sp>
      <p:sp>
        <p:nvSpPr>
          <p:cNvPr id="57" name="Text 36"/>
          <p:cNvSpPr/>
          <p:nvPr/>
        </p:nvSpPr>
        <p:spPr>
          <a:xfrm>
            <a:off x="9326880" y="4370760"/>
            <a:ext cx="1096920" cy="200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50" b="0" u="none" strike="noStrike">
                <a:solidFill>
                  <a:srgbClr val="64748B"/>
                </a:solidFill>
                <a:effectLst/>
                <a:uFillTx/>
                <a:latin typeface="Aptos"/>
              </a:rPr>
              <a:t>ca. 10 Min</a:t>
            </a:r>
            <a:endParaRPr lang="de-DE" sz="1050" b="0" u="none" strike="noStrike">
              <a:solidFill>
                <a:srgbClr val="000000"/>
              </a:solidFill>
              <a:effectLst/>
              <a:uFillTx/>
              <a:latin typeface="Arial"/>
            </a:endParaRPr>
          </a:p>
        </p:txBody>
      </p:sp>
      <p:sp>
        <p:nvSpPr>
          <p:cNvPr id="58" name="Shape 37"/>
          <p:cNvSpPr/>
          <p:nvPr/>
        </p:nvSpPr>
        <p:spPr>
          <a:xfrm>
            <a:off x="731520" y="4937760"/>
            <a:ext cx="10606680" cy="529920"/>
          </a:xfrm>
          <a:prstGeom prst="roundRect">
            <a:avLst>
              <a:gd name="adj" fmla="val 8621"/>
            </a:avLst>
          </a:prstGeom>
          <a:solidFill>
            <a:srgbClr val="FFFFFF"/>
          </a:solidFill>
          <a:ln w="7620">
            <a:solidFill>
              <a:srgbClr val="CBD5E1"/>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59" name="Shape 38"/>
          <p:cNvSpPr/>
          <p:nvPr/>
        </p:nvSpPr>
        <p:spPr>
          <a:xfrm>
            <a:off x="960120" y="5056560"/>
            <a:ext cx="383760" cy="292320"/>
          </a:xfrm>
          <a:prstGeom prst="roundRect">
            <a:avLst>
              <a:gd name="adj" fmla="val 25000"/>
            </a:avLst>
          </a:prstGeom>
          <a:solidFill>
            <a:srgbClr val="334155"/>
          </a:solidFill>
          <a:ln w="12700">
            <a:solidFill>
              <a:srgbClr val="334155">
                <a:alpha val="0"/>
              </a:srgbClr>
            </a:solidFill>
            <a:round/>
          </a:ln>
        </p:spPr>
        <p:style>
          <a:lnRef idx="0"/>
          <a:fillRef idx="0"/>
          <a:effectRef idx="0"/>
          <a:fontRef idx="minor"/>
        </p:style>
        <p:txBody>
          <a:bodyPr lIns="90000" tIns="45000" rIns="90000" bIns="45000" anchor="t">
            <a:noAutofit/>
          </a:bodyPr>
          <a:p>
            <a:endParaRPr lang="de-DE" sz="1800" b="0" u="none" strike="noStrike">
              <a:solidFill>
                <a:srgbClr val="FFFFFF"/>
              </a:solidFill>
              <a:effectLst/>
              <a:uFillTx/>
              <a:latin typeface="Arial"/>
            </a:endParaRPr>
          </a:p>
        </p:txBody>
      </p:sp>
      <p:sp>
        <p:nvSpPr>
          <p:cNvPr id="60" name="Text 39"/>
          <p:cNvSpPr/>
          <p:nvPr/>
        </p:nvSpPr>
        <p:spPr>
          <a:xfrm>
            <a:off x="1033200" y="5125320"/>
            <a:ext cx="237240" cy="127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1" u="none" strike="noStrike">
                <a:solidFill>
                  <a:srgbClr val="FFFFFF"/>
                </a:solidFill>
                <a:effectLst/>
                <a:uFillTx/>
                <a:latin typeface="Aptos"/>
              </a:rPr>
              <a:t>6</a:t>
            </a:r>
            <a:endParaRPr lang="de-DE" sz="800" b="0" u="none" strike="noStrike">
              <a:solidFill>
                <a:srgbClr val="000000"/>
              </a:solidFill>
              <a:effectLst/>
              <a:uFillTx/>
              <a:latin typeface="Arial"/>
            </a:endParaRPr>
          </a:p>
        </p:txBody>
      </p:sp>
      <p:sp>
        <p:nvSpPr>
          <p:cNvPr id="61" name="Text 40"/>
          <p:cNvSpPr/>
          <p:nvPr/>
        </p:nvSpPr>
        <p:spPr>
          <a:xfrm>
            <a:off x="1536120" y="5083920"/>
            <a:ext cx="438876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0F172A"/>
                </a:solidFill>
                <a:effectLst/>
                <a:uFillTx/>
                <a:latin typeface="Aptos"/>
              </a:rPr>
              <a:t>Schlussteil &amp; Fazit</a:t>
            </a:r>
            <a:endParaRPr lang="de-DE" sz="1250" b="0" u="none" strike="noStrike">
              <a:solidFill>
                <a:srgbClr val="000000"/>
              </a:solidFill>
              <a:effectLst/>
              <a:uFillTx/>
              <a:latin typeface="Arial"/>
            </a:endParaRPr>
          </a:p>
        </p:txBody>
      </p:sp>
      <p:sp>
        <p:nvSpPr>
          <p:cNvPr id="62" name="Text 41"/>
          <p:cNvSpPr/>
          <p:nvPr/>
        </p:nvSpPr>
        <p:spPr>
          <a:xfrm>
            <a:off x="6400800" y="5083920"/>
            <a:ext cx="146268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334155"/>
                </a:solidFill>
                <a:effectLst/>
                <a:uFillTx/>
                <a:latin typeface="Aptos"/>
              </a:rPr>
              <a:t>Person 1</a:t>
            </a:r>
            <a:endParaRPr lang="de-DE" sz="1100" b="0" u="none" strike="noStrike">
              <a:solidFill>
                <a:srgbClr val="000000"/>
              </a:solidFill>
              <a:effectLst/>
              <a:uFillTx/>
              <a:latin typeface="Arial"/>
            </a:endParaRPr>
          </a:p>
        </p:txBody>
      </p:sp>
      <p:sp>
        <p:nvSpPr>
          <p:cNvPr id="63" name="Text 42"/>
          <p:cNvSpPr/>
          <p:nvPr/>
        </p:nvSpPr>
        <p:spPr>
          <a:xfrm>
            <a:off x="9326880" y="5083920"/>
            <a:ext cx="1096920" cy="200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50" b="0" u="none" strike="noStrike">
                <a:solidFill>
                  <a:srgbClr val="64748B"/>
                </a:solidFill>
                <a:effectLst/>
                <a:uFillTx/>
                <a:latin typeface="Aptos"/>
              </a:rPr>
              <a:t>ca. 3–5 Min</a:t>
            </a:r>
            <a:endParaRPr lang="de-DE" sz="10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64" name="Shape 0"/>
          <p:cNvSpPr/>
          <p:nvPr/>
        </p:nvSpPr>
        <p:spPr>
          <a:xfrm>
            <a:off x="0" y="0"/>
            <a:ext cx="12191400" cy="6857640"/>
          </a:xfrm>
          <a:prstGeom prst="rect">
            <a:avLst/>
          </a:prstGeom>
          <a:solidFill>
            <a:srgbClr val="F8FAFC"/>
          </a:solidFill>
          <a:ln w="12700">
            <a:solidFill>
              <a:srgbClr val="F8FAFC">
                <a:alpha val="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65" name="Shape 1"/>
          <p:cNvSpPr/>
          <p:nvPr/>
        </p:nvSpPr>
        <p:spPr>
          <a:xfrm>
            <a:off x="0" y="0"/>
            <a:ext cx="109440" cy="6857640"/>
          </a:xfrm>
          <a:prstGeom prst="rect">
            <a:avLst/>
          </a:prstGeom>
          <a:solidFill>
            <a:srgbClr val="10B981"/>
          </a:solidFill>
          <a:ln w="12700">
            <a:solidFill>
              <a:srgbClr val="10B981"/>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66" name="Text 2"/>
          <p:cNvSpPr/>
          <p:nvPr/>
        </p:nvSpPr>
        <p:spPr>
          <a:xfrm>
            <a:off x="594360" y="384120"/>
            <a:ext cx="9052200" cy="438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0F172A"/>
                </a:solidFill>
                <a:effectLst/>
                <a:uFillTx/>
                <a:latin typeface="Aptos Display"/>
                <a:ea typeface="Aptos Display"/>
              </a:rPr>
              <a:t>Der rote Faden</a:t>
            </a:r>
            <a:endParaRPr lang="de-DE" sz="2400" b="0" u="none" strike="noStrike">
              <a:solidFill>
                <a:srgbClr val="000000"/>
              </a:solidFill>
              <a:effectLst/>
              <a:uFillTx/>
              <a:latin typeface="Arial"/>
            </a:endParaRPr>
          </a:p>
        </p:txBody>
      </p:sp>
      <p:sp>
        <p:nvSpPr>
          <p:cNvPr id="67" name="Text 3"/>
          <p:cNvSpPr/>
          <p:nvPr/>
        </p:nvSpPr>
        <p:spPr>
          <a:xfrm>
            <a:off x="612720" y="850320"/>
            <a:ext cx="96008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4748B"/>
                </a:solidFill>
                <a:effectLst/>
                <a:uFillTx/>
                <a:latin typeface="Aptos"/>
              </a:rPr>
              <a:t>Von der Problemstellung bis zum bewerteten Prototyp</a:t>
            </a:r>
            <a:endParaRPr lang="de-DE" sz="950" b="0" u="none" strike="noStrike">
              <a:solidFill>
                <a:srgbClr val="000000"/>
              </a:solidFill>
              <a:effectLst/>
              <a:uFillTx/>
              <a:latin typeface="Arial"/>
            </a:endParaRPr>
          </a:p>
        </p:txBody>
      </p:sp>
      <p:sp>
        <p:nvSpPr>
          <p:cNvPr id="68" name="Shape 4"/>
          <p:cNvSpPr/>
          <p:nvPr/>
        </p:nvSpPr>
        <p:spPr>
          <a:xfrm>
            <a:off x="502920" y="6473880"/>
            <a:ext cx="11201400" cy="360"/>
          </a:xfrm>
          <a:prstGeom prst="line">
            <a:avLst/>
          </a:prstGeom>
          <a:ln w="7620">
            <a:solidFill>
              <a:srgbClr val="CBD5E1">
                <a:alpha val="70000"/>
              </a:srgbClr>
            </a:solidFill>
            <a:round/>
          </a:ln>
        </p:spPr>
        <p:style>
          <a:lnRef idx="0"/>
          <a:fillRef idx="0"/>
          <a:effectRef idx="0"/>
          <a:fontRef idx="minor"/>
        </p:style>
        <p:txBody>
          <a:bodyPr lIns="90000" tIns="-44640" rIns="90000" bIns="-44640" anchor="t" anchorCtr="1">
            <a:noAutofit/>
          </a:bodyPr>
          <a:p>
            <a:endParaRPr lang="de-DE" sz="1800" b="0" u="none" strike="noStrike">
              <a:solidFill>
                <a:srgbClr val="000000"/>
              </a:solidFill>
              <a:effectLst/>
              <a:uFillTx/>
              <a:latin typeface="Arial"/>
            </a:endParaRPr>
          </a:p>
        </p:txBody>
      </p:sp>
      <p:sp>
        <p:nvSpPr>
          <p:cNvPr id="69" name="Text 5"/>
          <p:cNvSpPr/>
          <p:nvPr/>
        </p:nvSpPr>
        <p:spPr>
          <a:xfrm>
            <a:off x="567000" y="6519600"/>
            <a:ext cx="530316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4748B"/>
                </a:solidFill>
                <a:effectLst/>
                <a:uFillTx/>
                <a:latin typeface="Aptos"/>
                <a:ea typeface="Aptos"/>
              </a:rPr>
              <a:t>Überblick</a:t>
            </a:r>
            <a:endParaRPr lang="de-DE" sz="750" b="0" u="none" strike="noStrike">
              <a:solidFill>
                <a:srgbClr val="000000"/>
              </a:solidFill>
              <a:effectLst/>
              <a:uFillTx/>
              <a:latin typeface="Arial"/>
            </a:endParaRPr>
          </a:p>
        </p:txBody>
      </p:sp>
      <p:sp>
        <p:nvSpPr>
          <p:cNvPr id="70" name="Text 6"/>
          <p:cNvSpPr/>
          <p:nvPr/>
        </p:nvSpPr>
        <p:spPr>
          <a:xfrm>
            <a:off x="11201400" y="6519600"/>
            <a:ext cx="45684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50" b="0" u="none" strike="noStrike">
                <a:solidFill>
                  <a:srgbClr val="64748B"/>
                </a:solidFill>
                <a:effectLst/>
                <a:uFillTx/>
                <a:latin typeface="Aptos"/>
                <a:ea typeface="Aptos"/>
              </a:rPr>
              <a:t>03</a:t>
            </a:r>
            <a:endParaRPr lang="de-DE" sz="750" b="0" u="none" strike="noStrike">
              <a:solidFill>
                <a:srgbClr val="000000"/>
              </a:solidFill>
              <a:effectLst/>
              <a:uFillTx/>
              <a:latin typeface="Arial"/>
            </a:endParaRPr>
          </a:p>
        </p:txBody>
      </p:sp>
      <p:sp>
        <p:nvSpPr>
          <p:cNvPr id="71" name="Shape 7"/>
          <p:cNvSpPr/>
          <p:nvPr/>
        </p:nvSpPr>
        <p:spPr>
          <a:xfrm>
            <a:off x="685800" y="1920240"/>
            <a:ext cx="1660680" cy="731160"/>
          </a:xfrm>
          <a:prstGeom prst="chevron">
            <a:avLst>
              <a:gd name="adj" fmla="val 50000"/>
            </a:avLst>
          </a:prstGeom>
          <a:solidFill>
            <a:srgbClr val="10B981"/>
          </a:solidFill>
          <a:ln w="12700">
            <a:solidFill>
              <a:srgbClr val="10B981"/>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72" name="Text 8"/>
          <p:cNvSpPr/>
          <p:nvPr/>
        </p:nvSpPr>
        <p:spPr>
          <a:xfrm>
            <a:off x="758880" y="2130480"/>
            <a:ext cx="1514520" cy="25560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20" b="1" u="none" strike="noStrike">
                <a:solidFill>
                  <a:srgbClr val="FFFFFF"/>
                </a:solidFill>
                <a:effectLst/>
                <a:uFillTx/>
                <a:latin typeface="Aptos"/>
              </a:rPr>
              <a:t>Problem</a:t>
            </a:r>
            <a:endParaRPr lang="de-DE" sz="920" b="0" u="none" strike="noStrike">
              <a:solidFill>
                <a:srgbClr val="000000"/>
              </a:solidFill>
              <a:effectLst/>
              <a:uFillTx/>
              <a:latin typeface="Arial"/>
            </a:endParaRPr>
          </a:p>
        </p:txBody>
      </p:sp>
      <p:sp>
        <p:nvSpPr>
          <p:cNvPr id="73" name="Shape 9"/>
          <p:cNvSpPr/>
          <p:nvPr/>
        </p:nvSpPr>
        <p:spPr>
          <a:xfrm>
            <a:off x="2511720" y="1920240"/>
            <a:ext cx="1660680" cy="731160"/>
          </a:xfrm>
          <a:prstGeom prst="chevron">
            <a:avLst>
              <a:gd name="adj" fmla="val 50000"/>
            </a:avLst>
          </a:prstGeom>
          <a:solidFill>
            <a:srgbClr val="FFFFFF"/>
          </a:solidFill>
          <a:ln w="12700">
            <a:solidFill>
              <a:srgbClr val="10B981"/>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74" name="Text 10"/>
          <p:cNvSpPr/>
          <p:nvPr/>
        </p:nvSpPr>
        <p:spPr>
          <a:xfrm>
            <a:off x="2584800" y="2130480"/>
            <a:ext cx="1514520" cy="25560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20" b="1" u="none" strike="noStrike">
                <a:solidFill>
                  <a:srgbClr val="0F172A"/>
                </a:solidFill>
                <a:effectLst/>
                <a:uFillTx/>
                <a:latin typeface="Aptos"/>
              </a:rPr>
              <a:t>Lösungsidee</a:t>
            </a:r>
            <a:endParaRPr lang="de-DE" sz="920" b="0" u="none" strike="noStrike">
              <a:solidFill>
                <a:srgbClr val="000000"/>
              </a:solidFill>
              <a:effectLst/>
              <a:uFillTx/>
              <a:latin typeface="Arial"/>
            </a:endParaRPr>
          </a:p>
        </p:txBody>
      </p:sp>
      <p:sp>
        <p:nvSpPr>
          <p:cNvPr id="75" name="Shape 11"/>
          <p:cNvSpPr/>
          <p:nvPr/>
        </p:nvSpPr>
        <p:spPr>
          <a:xfrm>
            <a:off x="4337280" y="1920240"/>
            <a:ext cx="1660680" cy="731160"/>
          </a:xfrm>
          <a:prstGeom prst="chevron">
            <a:avLst>
              <a:gd name="adj" fmla="val 50000"/>
            </a:avLst>
          </a:prstGeom>
          <a:solidFill>
            <a:srgbClr val="FFFFFF"/>
          </a:solidFill>
          <a:ln w="12700">
            <a:solidFill>
              <a:srgbClr val="10B981"/>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76" name="Text 12"/>
          <p:cNvSpPr/>
          <p:nvPr/>
        </p:nvSpPr>
        <p:spPr>
          <a:xfrm>
            <a:off x="4410360" y="2130480"/>
            <a:ext cx="1514520" cy="25560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20" b="1" u="none" strike="noStrike">
                <a:solidFill>
                  <a:srgbClr val="0F172A"/>
                </a:solidFill>
                <a:effectLst/>
                <a:uFillTx/>
                <a:latin typeface="Aptos"/>
              </a:rPr>
              <a:t>Architektur</a:t>
            </a:r>
            <a:endParaRPr lang="de-DE" sz="920" b="0" u="none" strike="noStrike">
              <a:solidFill>
                <a:srgbClr val="000000"/>
              </a:solidFill>
              <a:effectLst/>
              <a:uFillTx/>
              <a:latin typeface="Arial"/>
            </a:endParaRPr>
          </a:p>
        </p:txBody>
      </p:sp>
      <p:sp>
        <p:nvSpPr>
          <p:cNvPr id="77" name="Shape 13"/>
          <p:cNvSpPr/>
          <p:nvPr/>
        </p:nvSpPr>
        <p:spPr>
          <a:xfrm>
            <a:off x="6163200" y="1920240"/>
            <a:ext cx="1660680" cy="731160"/>
          </a:xfrm>
          <a:prstGeom prst="chevron">
            <a:avLst>
              <a:gd name="adj" fmla="val 50000"/>
            </a:avLst>
          </a:prstGeom>
          <a:solidFill>
            <a:srgbClr val="FFFFFF"/>
          </a:solidFill>
          <a:ln w="12700">
            <a:solidFill>
              <a:srgbClr val="10B981"/>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78" name="Text 14"/>
          <p:cNvSpPr/>
          <p:nvPr/>
        </p:nvSpPr>
        <p:spPr>
          <a:xfrm>
            <a:off x="6236280" y="2130480"/>
            <a:ext cx="1514520" cy="25560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20" b="1" u="none" strike="noStrike">
                <a:solidFill>
                  <a:srgbClr val="0F172A"/>
                </a:solidFill>
                <a:effectLst/>
                <a:uFillTx/>
                <a:latin typeface="Aptos"/>
              </a:rPr>
              <a:t>Datenmodell</a:t>
            </a:r>
            <a:endParaRPr lang="de-DE" sz="920" b="0" u="none" strike="noStrike">
              <a:solidFill>
                <a:srgbClr val="000000"/>
              </a:solidFill>
              <a:effectLst/>
              <a:uFillTx/>
              <a:latin typeface="Arial"/>
            </a:endParaRPr>
          </a:p>
        </p:txBody>
      </p:sp>
      <p:sp>
        <p:nvSpPr>
          <p:cNvPr id="79" name="Shape 15"/>
          <p:cNvSpPr/>
          <p:nvPr/>
        </p:nvSpPr>
        <p:spPr>
          <a:xfrm>
            <a:off x="7988760" y="1920240"/>
            <a:ext cx="1660680" cy="731160"/>
          </a:xfrm>
          <a:prstGeom prst="chevron">
            <a:avLst>
              <a:gd name="adj" fmla="val 50000"/>
            </a:avLst>
          </a:prstGeom>
          <a:solidFill>
            <a:srgbClr val="FFFFFF"/>
          </a:solidFill>
          <a:ln w="12700">
            <a:solidFill>
              <a:srgbClr val="10B981"/>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80" name="Text 16"/>
          <p:cNvSpPr/>
          <p:nvPr/>
        </p:nvSpPr>
        <p:spPr>
          <a:xfrm>
            <a:off x="8061840" y="2130480"/>
            <a:ext cx="1514520" cy="25560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20" b="1" u="none" strike="noStrike">
                <a:solidFill>
                  <a:srgbClr val="0F172A"/>
                </a:solidFill>
                <a:effectLst/>
                <a:uFillTx/>
                <a:latin typeface="Aptos"/>
              </a:rPr>
              <a:t>Umsetzung</a:t>
            </a:r>
            <a:endParaRPr lang="de-DE" sz="920" b="0" u="none" strike="noStrike">
              <a:solidFill>
                <a:srgbClr val="000000"/>
              </a:solidFill>
              <a:effectLst/>
              <a:uFillTx/>
              <a:latin typeface="Arial"/>
            </a:endParaRPr>
          </a:p>
        </p:txBody>
      </p:sp>
      <p:sp>
        <p:nvSpPr>
          <p:cNvPr id="81" name="Shape 17"/>
          <p:cNvSpPr/>
          <p:nvPr/>
        </p:nvSpPr>
        <p:spPr>
          <a:xfrm>
            <a:off x="9814680" y="1920240"/>
            <a:ext cx="1660680" cy="731160"/>
          </a:xfrm>
          <a:prstGeom prst="chevron">
            <a:avLst>
              <a:gd name="adj" fmla="val 50000"/>
            </a:avLst>
          </a:prstGeom>
          <a:solidFill>
            <a:srgbClr val="FFFFFF"/>
          </a:solidFill>
          <a:ln w="12700">
            <a:solidFill>
              <a:srgbClr val="10B981"/>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82" name="Text 18"/>
          <p:cNvSpPr/>
          <p:nvPr/>
        </p:nvSpPr>
        <p:spPr>
          <a:xfrm>
            <a:off x="9887760" y="2130480"/>
            <a:ext cx="1514520" cy="25560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20" b="1" u="none" strike="noStrike">
                <a:solidFill>
                  <a:srgbClr val="0F172A"/>
                </a:solidFill>
                <a:effectLst/>
                <a:uFillTx/>
                <a:latin typeface="Aptos"/>
              </a:rPr>
              <a:t>Bewertung</a:t>
            </a:r>
            <a:endParaRPr lang="de-DE" sz="920" b="0" u="none" strike="noStrike">
              <a:solidFill>
                <a:srgbClr val="000000"/>
              </a:solidFill>
              <a:effectLst/>
              <a:uFillTx/>
              <a:latin typeface="Arial"/>
            </a:endParaRPr>
          </a:p>
        </p:txBody>
      </p:sp>
      <p:sp>
        <p:nvSpPr>
          <p:cNvPr id="83" name="Text 19"/>
          <p:cNvSpPr/>
          <p:nvPr/>
        </p:nvSpPr>
        <p:spPr>
          <a:xfrm>
            <a:off x="1005840" y="3657600"/>
            <a:ext cx="1005480" cy="685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4000" b="1" u="none" strike="noStrike">
                <a:solidFill>
                  <a:srgbClr val="10B981"/>
                </a:solidFill>
                <a:effectLst/>
                <a:uFillTx/>
                <a:latin typeface="Aptos"/>
              </a:rPr>
              <a:t>5</a:t>
            </a:r>
            <a:endParaRPr lang="de-DE" sz="4000" b="0" u="none" strike="noStrike">
              <a:solidFill>
                <a:srgbClr val="000000"/>
              </a:solidFill>
              <a:effectLst/>
              <a:uFillTx/>
              <a:latin typeface="Arial"/>
            </a:endParaRPr>
          </a:p>
        </p:txBody>
      </p:sp>
      <p:sp>
        <p:nvSpPr>
          <p:cNvPr id="84" name="Text 20"/>
          <p:cNvSpPr/>
          <p:nvPr/>
        </p:nvSpPr>
        <p:spPr>
          <a:xfrm>
            <a:off x="868680" y="4370760"/>
            <a:ext cx="1279800" cy="273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0" u="none" strike="noStrike">
                <a:solidFill>
                  <a:srgbClr val="334155"/>
                </a:solidFill>
                <a:effectLst/>
                <a:uFillTx/>
                <a:latin typeface="Aptos"/>
              </a:rPr>
              <a:t>Vortragende</a:t>
            </a:r>
            <a:endParaRPr lang="de-DE" sz="950" b="0" u="none" strike="noStrike">
              <a:solidFill>
                <a:srgbClr val="000000"/>
              </a:solidFill>
              <a:effectLst/>
              <a:uFillTx/>
              <a:latin typeface="Arial"/>
            </a:endParaRPr>
          </a:p>
        </p:txBody>
      </p:sp>
      <p:sp>
        <p:nvSpPr>
          <p:cNvPr id="85" name="Text 21"/>
          <p:cNvSpPr/>
          <p:nvPr/>
        </p:nvSpPr>
        <p:spPr>
          <a:xfrm>
            <a:off x="3017520" y="3657600"/>
            <a:ext cx="1005480" cy="685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4000" b="1" u="none" strike="noStrike">
                <a:solidFill>
                  <a:srgbClr val="2563EB"/>
                </a:solidFill>
                <a:effectLst/>
                <a:uFillTx/>
                <a:latin typeface="Aptos"/>
              </a:rPr>
              <a:t>6</a:t>
            </a:r>
            <a:endParaRPr lang="de-DE" sz="4000" b="0" u="none" strike="noStrike">
              <a:solidFill>
                <a:srgbClr val="000000"/>
              </a:solidFill>
              <a:effectLst/>
              <a:uFillTx/>
              <a:latin typeface="Arial"/>
            </a:endParaRPr>
          </a:p>
        </p:txBody>
      </p:sp>
      <p:sp>
        <p:nvSpPr>
          <p:cNvPr id="86" name="Text 22"/>
          <p:cNvSpPr/>
          <p:nvPr/>
        </p:nvSpPr>
        <p:spPr>
          <a:xfrm>
            <a:off x="2880360" y="4370760"/>
            <a:ext cx="1279800" cy="273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0" u="none" strike="noStrike">
                <a:solidFill>
                  <a:srgbClr val="334155"/>
                </a:solidFill>
                <a:effectLst/>
                <a:uFillTx/>
                <a:latin typeface="Aptos"/>
              </a:rPr>
              <a:t>Themenblöcke</a:t>
            </a:r>
            <a:endParaRPr lang="de-DE" sz="950" b="0" u="none" strike="noStrike">
              <a:solidFill>
                <a:srgbClr val="000000"/>
              </a:solidFill>
              <a:effectLst/>
              <a:uFillTx/>
              <a:latin typeface="Arial"/>
            </a:endParaRPr>
          </a:p>
        </p:txBody>
      </p:sp>
      <p:sp>
        <p:nvSpPr>
          <p:cNvPr id="87" name="Text 23"/>
          <p:cNvSpPr/>
          <p:nvPr/>
        </p:nvSpPr>
        <p:spPr>
          <a:xfrm>
            <a:off x="5029200" y="3657600"/>
            <a:ext cx="1005480" cy="685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4000" b="1" u="none" strike="noStrike">
                <a:solidFill>
                  <a:srgbClr val="F59E0B"/>
                </a:solidFill>
                <a:effectLst/>
                <a:uFillTx/>
                <a:latin typeface="Aptos"/>
              </a:rPr>
              <a:t>~50</a:t>
            </a:r>
            <a:endParaRPr lang="de-DE" sz="4000" b="0" u="none" strike="noStrike">
              <a:solidFill>
                <a:srgbClr val="000000"/>
              </a:solidFill>
              <a:effectLst/>
              <a:uFillTx/>
              <a:latin typeface="Arial"/>
            </a:endParaRPr>
          </a:p>
        </p:txBody>
      </p:sp>
      <p:sp>
        <p:nvSpPr>
          <p:cNvPr id="88" name="Text 24"/>
          <p:cNvSpPr/>
          <p:nvPr/>
        </p:nvSpPr>
        <p:spPr>
          <a:xfrm>
            <a:off x="4892040" y="4370760"/>
            <a:ext cx="1279800" cy="273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0" u="none" strike="noStrike">
                <a:solidFill>
                  <a:srgbClr val="334155"/>
                </a:solidFill>
                <a:effectLst/>
                <a:uFillTx/>
                <a:latin typeface="Aptos"/>
              </a:rPr>
              <a:t>Minuten</a:t>
            </a:r>
            <a:endParaRPr lang="de-DE" sz="950" b="0" u="none" strike="noStrike">
              <a:solidFill>
                <a:srgbClr val="000000"/>
              </a:solidFill>
              <a:effectLst/>
              <a:uFillTx/>
              <a:latin typeface="Arial"/>
            </a:endParaRPr>
          </a:p>
        </p:txBody>
      </p:sp>
      <p:sp>
        <p:nvSpPr>
          <p:cNvPr id="89" name="Shape 25"/>
          <p:cNvSpPr/>
          <p:nvPr/>
        </p:nvSpPr>
        <p:spPr>
          <a:xfrm>
            <a:off x="7315200" y="3429000"/>
            <a:ext cx="3474360" cy="1416960"/>
          </a:xfrm>
          <a:prstGeom prst="roundRect">
            <a:avLst>
              <a:gd name="adj" fmla="val 5161"/>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90" name="Text 26"/>
          <p:cNvSpPr/>
          <p:nvPr/>
        </p:nvSpPr>
        <p:spPr>
          <a:xfrm>
            <a:off x="7479720" y="3593520"/>
            <a:ext cx="41112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10B981"/>
                </a:solidFill>
                <a:effectLst/>
                <a:uFillTx/>
                <a:latin typeface="Aptos"/>
              </a:rPr>
              <a:t>↗</a:t>
            </a:r>
            <a:endParaRPr lang="de-DE" sz="1800" b="0" u="none" strike="noStrike">
              <a:solidFill>
                <a:srgbClr val="000000"/>
              </a:solidFill>
              <a:effectLst/>
              <a:uFillTx/>
              <a:latin typeface="Arial"/>
            </a:endParaRPr>
          </a:p>
        </p:txBody>
      </p:sp>
      <p:sp>
        <p:nvSpPr>
          <p:cNvPr id="91" name="Text 27"/>
          <p:cNvSpPr/>
          <p:nvPr/>
        </p:nvSpPr>
        <p:spPr>
          <a:xfrm>
            <a:off x="7973640" y="3611880"/>
            <a:ext cx="265140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Präsentationslogik</a:t>
            </a:r>
            <a:endParaRPr lang="de-DE" sz="1350" b="0" u="none" strike="noStrike">
              <a:solidFill>
                <a:srgbClr val="000000"/>
              </a:solidFill>
              <a:effectLst/>
              <a:uFillTx/>
              <a:latin typeface="Arial"/>
            </a:endParaRPr>
          </a:p>
        </p:txBody>
      </p:sp>
      <p:sp>
        <p:nvSpPr>
          <p:cNvPr id="92" name="Text 28"/>
          <p:cNvSpPr/>
          <p:nvPr/>
        </p:nvSpPr>
        <p:spPr>
          <a:xfrm>
            <a:off x="7516440" y="4087440"/>
            <a:ext cx="3071880" cy="59400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60" b="0" u="none" strike="noStrike">
                <a:solidFill>
                  <a:srgbClr val="334155"/>
                </a:solidFill>
                <a:effectLst/>
                <a:uFillTx/>
                <a:latin typeface="Aptos"/>
              </a:rPr>
              <a:t>Jeder Abschnitt beantwortet eine Leitfrage. Die Inhalte bauen bewusst aufeinander auf und vermeiden Dopplungen.</a:t>
            </a:r>
            <a:endParaRPr lang="de-DE" sz="96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93" name="Shape 0"/>
          <p:cNvSpPr/>
          <p:nvPr/>
        </p:nvSpPr>
        <p:spPr>
          <a:xfrm>
            <a:off x="0" y="0"/>
            <a:ext cx="12191400" cy="6857640"/>
          </a:xfrm>
          <a:prstGeom prst="rect">
            <a:avLst/>
          </a:prstGeom>
          <a:solidFill>
            <a:srgbClr val="0F172A"/>
          </a:solidFill>
          <a:ln w="12700">
            <a:solidFill>
              <a:srgbClr val="0F172A"/>
            </a:solidFill>
            <a:round/>
          </a:ln>
        </p:spPr>
        <p:style>
          <a:lnRef idx="0"/>
          <a:fillRef idx="0"/>
          <a:effectRef idx="0"/>
          <a:fontRef idx="minor"/>
        </p:style>
        <p:txBody>
          <a:bodyPr lIns="90000" tIns="45000" rIns="90000" bIns="45000" anchor="t">
            <a:noAutofit/>
          </a:bodyPr>
          <a:p>
            <a:endParaRPr lang="de-DE" sz="1800" b="0" u="none" strike="noStrike">
              <a:solidFill>
                <a:srgbClr val="FFFFFF"/>
              </a:solidFill>
              <a:effectLst/>
              <a:uFillTx/>
              <a:latin typeface="Arial"/>
            </a:endParaRPr>
          </a:p>
        </p:txBody>
      </p:sp>
      <p:sp>
        <p:nvSpPr>
          <p:cNvPr id="94" name="Shape 1"/>
          <p:cNvSpPr/>
          <p:nvPr/>
        </p:nvSpPr>
        <p:spPr>
          <a:xfrm>
            <a:off x="0" y="0"/>
            <a:ext cx="12191400" cy="200880"/>
          </a:xfrm>
          <a:prstGeom prst="rect">
            <a:avLst/>
          </a:prstGeom>
          <a:solidFill>
            <a:srgbClr val="10B981"/>
          </a:solidFill>
          <a:ln w="12700">
            <a:solidFill>
              <a:srgbClr val="10B981"/>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95" name="Text 2"/>
          <p:cNvSpPr/>
          <p:nvPr/>
        </p:nvSpPr>
        <p:spPr>
          <a:xfrm>
            <a:off x="685800" y="914400"/>
            <a:ext cx="123408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10B981"/>
                </a:solidFill>
                <a:effectLst/>
                <a:uFillTx/>
                <a:latin typeface="Aptos"/>
              </a:rPr>
              <a:t>Teil 1</a:t>
            </a:r>
            <a:endParaRPr lang="de-DE" sz="1300" b="0" u="none" strike="noStrike">
              <a:solidFill>
                <a:srgbClr val="FFFFFF"/>
              </a:solidFill>
              <a:effectLst/>
              <a:uFillTx/>
              <a:latin typeface="Arial"/>
            </a:endParaRPr>
          </a:p>
        </p:txBody>
      </p:sp>
      <p:sp>
        <p:nvSpPr>
          <p:cNvPr id="96" name="Text 3"/>
          <p:cNvSpPr/>
          <p:nvPr/>
        </p:nvSpPr>
        <p:spPr>
          <a:xfrm>
            <a:off x="685800" y="1325880"/>
            <a:ext cx="8046360" cy="7311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3400" b="1" u="none" strike="noStrike">
                <a:solidFill>
                  <a:srgbClr val="FFFFFF"/>
                </a:solidFill>
                <a:effectLst/>
                <a:uFillTx/>
                <a:latin typeface="Aptos"/>
              </a:rPr>
              <a:t>Projektidee &amp; Anforderungen</a:t>
            </a:r>
            <a:endParaRPr lang="de-DE" sz="3400" b="0" u="none" strike="noStrike">
              <a:solidFill>
                <a:srgbClr val="FFFFFF"/>
              </a:solidFill>
              <a:effectLst/>
              <a:uFillTx/>
              <a:latin typeface="Arial"/>
            </a:endParaRPr>
          </a:p>
        </p:txBody>
      </p:sp>
      <p:sp>
        <p:nvSpPr>
          <p:cNvPr id="97" name="Text 4"/>
          <p:cNvSpPr/>
          <p:nvPr/>
        </p:nvSpPr>
        <p:spPr>
          <a:xfrm>
            <a:off x="713160" y="2176200"/>
            <a:ext cx="50288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CBD5E1"/>
                </a:solidFill>
                <a:effectLst/>
                <a:uFillTx/>
                <a:latin typeface="Aptos"/>
              </a:rPr>
              <a:t>Person 1 · ca. 7 Minuten</a:t>
            </a:r>
            <a:endParaRPr lang="de-DE" sz="1300" b="0" u="none" strike="noStrike">
              <a:solidFill>
                <a:srgbClr val="FFFFFF"/>
              </a:solidFill>
              <a:effectLst/>
              <a:uFillTx/>
              <a:latin typeface="Arial"/>
            </a:endParaRPr>
          </a:p>
        </p:txBody>
      </p:sp>
      <p:sp>
        <p:nvSpPr>
          <p:cNvPr id="98" name="Text 5"/>
          <p:cNvSpPr/>
          <p:nvPr/>
        </p:nvSpPr>
        <p:spPr>
          <a:xfrm>
            <a:off x="9235440" y="1188720"/>
            <a:ext cx="1462680" cy="1279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5800" b="0" u="none" strike="noStrike">
                <a:solidFill>
                  <a:srgbClr val="10B981"/>
                </a:solidFill>
                <a:effectLst/>
                <a:uFillTx/>
                <a:latin typeface="Aptos"/>
              </a:rPr>
              <a:t>💡</a:t>
            </a:r>
            <a:endParaRPr lang="de-DE" sz="5800" b="0" u="none" strike="noStrike">
              <a:solidFill>
                <a:srgbClr val="FFFFFF"/>
              </a:solidFill>
              <a:effectLst/>
              <a:uFillTx/>
              <a:latin typeface="Arial"/>
            </a:endParaRPr>
          </a:p>
        </p:txBody>
      </p:sp>
      <p:sp>
        <p:nvSpPr>
          <p:cNvPr id="99" name="Shape 6"/>
          <p:cNvSpPr/>
          <p:nvPr/>
        </p:nvSpPr>
        <p:spPr>
          <a:xfrm>
            <a:off x="713160" y="2816280"/>
            <a:ext cx="10607040" cy="360"/>
          </a:xfrm>
          <a:prstGeom prst="line">
            <a:avLst/>
          </a:prstGeom>
          <a:ln w="12700">
            <a:solidFill>
              <a:srgbClr val="334155"/>
            </a:solidFill>
            <a:round/>
          </a:ln>
        </p:spPr>
        <p:style>
          <a:lnRef idx="0"/>
          <a:fillRef idx="0"/>
          <a:effectRef idx="0"/>
          <a:fontRef idx="minor"/>
        </p:style>
        <p:txBody>
          <a:bodyPr lIns="90000" tIns="-44640" rIns="90000" bIns="-44640" anchor="t" anchorCtr="1">
            <a:noAutofit/>
          </a:bodyPr>
          <a:p>
            <a:endParaRPr lang="de-DE" sz="1800" b="0" u="none" strike="noStrike">
              <a:solidFill>
                <a:srgbClr val="FFFFFF"/>
              </a:solidFill>
              <a:effectLst/>
              <a:uFillTx/>
              <a:latin typeface="Arial"/>
            </a:endParaRPr>
          </a:p>
        </p:txBody>
      </p:sp>
      <p:sp>
        <p:nvSpPr>
          <p:cNvPr id="100" name="Text 7"/>
          <p:cNvSpPr/>
          <p:nvPr/>
        </p:nvSpPr>
        <p:spPr>
          <a:xfrm>
            <a:off x="749880" y="3127320"/>
            <a:ext cx="201132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FFFFFF"/>
                </a:solidFill>
                <a:effectLst/>
                <a:uFillTx/>
                <a:latin typeface="Aptos"/>
              </a:rPr>
              <a:t>Ziel dieses Abschnitts</a:t>
            </a:r>
            <a:endParaRPr lang="de-DE" sz="1200" b="0" u="none" strike="noStrike">
              <a:solidFill>
                <a:srgbClr val="FFFFFF"/>
              </a:solidFill>
              <a:effectLst/>
              <a:uFillTx/>
              <a:latin typeface="Arial"/>
            </a:endParaRPr>
          </a:p>
        </p:txBody>
      </p:sp>
      <p:sp>
        <p:nvSpPr>
          <p:cNvPr id="101" name="Text 8"/>
          <p:cNvSpPr/>
          <p:nvPr/>
        </p:nvSpPr>
        <p:spPr>
          <a:xfrm>
            <a:off x="749880" y="3474720"/>
            <a:ext cx="7497720" cy="59400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600" b="0" u="none" strike="noStrike">
                <a:solidFill>
                  <a:srgbClr val="E2E8F0"/>
                </a:solidFill>
                <a:effectLst/>
                <a:uFillTx/>
                <a:latin typeface="Aptos"/>
              </a:rPr>
              <a:t>Warum wurde der Lebens-Finanzplaner entwickelt und welche Anforderungen sollte der Prototyp erfüllen?</a:t>
            </a:r>
            <a:endParaRPr lang="de-DE" sz="1600" b="0" u="none" strike="noStrike">
              <a:solidFill>
                <a:srgbClr val="FFFFFF"/>
              </a:solidFill>
              <a:effectLst/>
              <a:uFillTx/>
              <a:latin typeface="Arial"/>
            </a:endParaRPr>
          </a:p>
        </p:txBody>
      </p:sp>
      <p:sp>
        <p:nvSpPr>
          <p:cNvPr id="102" name="Text 9"/>
          <p:cNvSpPr/>
          <p:nvPr/>
        </p:nvSpPr>
        <p:spPr>
          <a:xfrm>
            <a:off x="11174040" y="6473880"/>
            <a:ext cx="45684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50" b="0" u="none" strike="noStrike">
                <a:solidFill>
                  <a:srgbClr val="94A3B8"/>
                </a:solidFill>
                <a:effectLst/>
                <a:uFillTx/>
                <a:latin typeface="Aptos"/>
              </a:rPr>
              <a:t>04</a:t>
            </a:r>
            <a:endParaRPr lang="de-DE" sz="7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103" name="Shape 0"/>
          <p:cNvSpPr/>
          <p:nvPr/>
        </p:nvSpPr>
        <p:spPr>
          <a:xfrm>
            <a:off x="0" y="0"/>
            <a:ext cx="12191400" cy="6857640"/>
          </a:xfrm>
          <a:prstGeom prst="rect">
            <a:avLst/>
          </a:prstGeom>
          <a:solidFill>
            <a:srgbClr val="F8FAFC"/>
          </a:solidFill>
          <a:ln w="12700">
            <a:solidFill>
              <a:srgbClr val="F8FAFC">
                <a:alpha val="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104" name="Shape 1"/>
          <p:cNvSpPr/>
          <p:nvPr/>
        </p:nvSpPr>
        <p:spPr>
          <a:xfrm>
            <a:off x="0" y="0"/>
            <a:ext cx="109440" cy="6857640"/>
          </a:xfrm>
          <a:prstGeom prst="rect">
            <a:avLst/>
          </a:prstGeom>
          <a:solidFill>
            <a:srgbClr val="10B981"/>
          </a:solidFill>
          <a:ln w="12700">
            <a:solidFill>
              <a:srgbClr val="10B981"/>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105" name="Text 2"/>
          <p:cNvSpPr/>
          <p:nvPr/>
        </p:nvSpPr>
        <p:spPr>
          <a:xfrm>
            <a:off x="594360" y="384120"/>
            <a:ext cx="9052200" cy="438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0F172A"/>
                </a:solidFill>
                <a:effectLst/>
                <a:uFillTx/>
                <a:latin typeface="Aptos Display"/>
                <a:ea typeface="Aptos Display"/>
              </a:rPr>
              <a:t>Ausgangsproblem</a:t>
            </a:r>
            <a:endParaRPr lang="de-DE" sz="2400" b="0" u="none" strike="noStrike">
              <a:solidFill>
                <a:srgbClr val="000000"/>
              </a:solidFill>
              <a:effectLst/>
              <a:uFillTx/>
              <a:latin typeface="Arial"/>
            </a:endParaRPr>
          </a:p>
        </p:txBody>
      </p:sp>
      <p:sp>
        <p:nvSpPr>
          <p:cNvPr id="106" name="Text 3"/>
          <p:cNvSpPr/>
          <p:nvPr/>
        </p:nvSpPr>
        <p:spPr>
          <a:xfrm>
            <a:off x="612720" y="850320"/>
            <a:ext cx="96008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4748B"/>
                </a:solidFill>
                <a:effectLst/>
                <a:uFillTx/>
                <a:latin typeface="Aptos"/>
              </a:rPr>
              <a:t>Private Finanzplanung ist oft verteilt und schwer nachvollziehbar</a:t>
            </a:r>
            <a:endParaRPr lang="de-DE" sz="950" b="0" u="none" strike="noStrike">
              <a:solidFill>
                <a:srgbClr val="000000"/>
              </a:solidFill>
              <a:effectLst/>
              <a:uFillTx/>
              <a:latin typeface="Arial"/>
            </a:endParaRPr>
          </a:p>
        </p:txBody>
      </p:sp>
      <p:sp>
        <p:nvSpPr>
          <p:cNvPr id="107" name="Shape 4"/>
          <p:cNvSpPr/>
          <p:nvPr/>
        </p:nvSpPr>
        <p:spPr>
          <a:xfrm>
            <a:off x="502920" y="6473880"/>
            <a:ext cx="11201400" cy="360"/>
          </a:xfrm>
          <a:prstGeom prst="line">
            <a:avLst/>
          </a:prstGeom>
          <a:ln w="7620">
            <a:solidFill>
              <a:srgbClr val="CBD5E1">
                <a:alpha val="70000"/>
              </a:srgbClr>
            </a:solidFill>
            <a:round/>
          </a:ln>
        </p:spPr>
        <p:style>
          <a:lnRef idx="0"/>
          <a:fillRef idx="0"/>
          <a:effectRef idx="0"/>
          <a:fontRef idx="minor"/>
        </p:style>
        <p:txBody>
          <a:bodyPr lIns="90000" tIns="-44640" rIns="90000" bIns="-44640" anchor="t" anchorCtr="1">
            <a:noAutofit/>
          </a:bodyPr>
          <a:p>
            <a:endParaRPr lang="de-DE" sz="1800" b="0" u="none" strike="noStrike">
              <a:solidFill>
                <a:srgbClr val="000000"/>
              </a:solidFill>
              <a:effectLst/>
              <a:uFillTx/>
              <a:latin typeface="Arial"/>
            </a:endParaRPr>
          </a:p>
        </p:txBody>
      </p:sp>
      <p:sp>
        <p:nvSpPr>
          <p:cNvPr id="108" name="Text 5"/>
          <p:cNvSpPr/>
          <p:nvPr/>
        </p:nvSpPr>
        <p:spPr>
          <a:xfrm>
            <a:off x="567000" y="6519600"/>
            <a:ext cx="530316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4748B"/>
                </a:solidFill>
                <a:effectLst/>
                <a:uFillTx/>
                <a:latin typeface="Aptos"/>
                <a:ea typeface="Aptos"/>
              </a:rPr>
              <a:t>Teil 1 · Projektidee &amp; Anforderungen</a:t>
            </a:r>
            <a:endParaRPr lang="de-DE" sz="750" b="0" u="none" strike="noStrike">
              <a:solidFill>
                <a:srgbClr val="000000"/>
              </a:solidFill>
              <a:effectLst/>
              <a:uFillTx/>
              <a:latin typeface="Arial"/>
            </a:endParaRPr>
          </a:p>
        </p:txBody>
      </p:sp>
      <p:sp>
        <p:nvSpPr>
          <p:cNvPr id="109" name="Text 6"/>
          <p:cNvSpPr/>
          <p:nvPr/>
        </p:nvSpPr>
        <p:spPr>
          <a:xfrm>
            <a:off x="11201400" y="6519600"/>
            <a:ext cx="45684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50" b="0" u="none" strike="noStrike">
                <a:solidFill>
                  <a:srgbClr val="64748B"/>
                </a:solidFill>
                <a:effectLst/>
                <a:uFillTx/>
                <a:latin typeface="Aptos"/>
                <a:ea typeface="Aptos"/>
              </a:rPr>
              <a:t>05</a:t>
            </a:r>
            <a:endParaRPr lang="de-DE" sz="750" b="0" u="none" strike="noStrike">
              <a:solidFill>
                <a:srgbClr val="000000"/>
              </a:solidFill>
              <a:effectLst/>
              <a:uFillTx/>
              <a:latin typeface="Arial"/>
            </a:endParaRPr>
          </a:p>
        </p:txBody>
      </p:sp>
      <p:sp>
        <p:nvSpPr>
          <p:cNvPr id="110" name="Shape 7"/>
          <p:cNvSpPr/>
          <p:nvPr/>
        </p:nvSpPr>
        <p:spPr>
          <a:xfrm>
            <a:off x="685800" y="1417320"/>
            <a:ext cx="3291480" cy="3382920"/>
          </a:xfrm>
          <a:prstGeom prst="roundRect">
            <a:avLst>
              <a:gd name="adj" fmla="val 2222"/>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111" name="Text 8"/>
          <p:cNvSpPr/>
          <p:nvPr/>
        </p:nvSpPr>
        <p:spPr>
          <a:xfrm>
            <a:off x="850320" y="1581840"/>
            <a:ext cx="41112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E11D48"/>
                </a:solidFill>
                <a:effectLst/>
                <a:uFillTx/>
                <a:latin typeface="Aptos"/>
              </a:rPr>
              <a:t>⚠</a:t>
            </a:r>
            <a:endParaRPr lang="de-DE" sz="1800" b="0" u="none" strike="noStrike">
              <a:solidFill>
                <a:srgbClr val="000000"/>
              </a:solidFill>
              <a:effectLst/>
              <a:uFillTx/>
              <a:latin typeface="Arial"/>
            </a:endParaRPr>
          </a:p>
        </p:txBody>
      </p:sp>
      <p:sp>
        <p:nvSpPr>
          <p:cNvPr id="112" name="Text 9"/>
          <p:cNvSpPr/>
          <p:nvPr/>
        </p:nvSpPr>
        <p:spPr>
          <a:xfrm>
            <a:off x="1344240" y="1600200"/>
            <a:ext cx="24685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Zersplitterte Daten</a:t>
            </a:r>
            <a:endParaRPr lang="de-DE" sz="1350" b="0" u="none" strike="noStrike">
              <a:solidFill>
                <a:srgbClr val="000000"/>
              </a:solidFill>
              <a:effectLst/>
              <a:uFillTx/>
              <a:latin typeface="Arial"/>
            </a:endParaRPr>
          </a:p>
        </p:txBody>
      </p:sp>
      <p:sp>
        <p:nvSpPr>
          <p:cNvPr id="113" name="Text 10"/>
          <p:cNvSpPr/>
          <p:nvPr/>
        </p:nvSpPr>
        <p:spPr>
          <a:xfrm>
            <a:off x="887040" y="2075760"/>
            <a:ext cx="2889000" cy="25599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60" b="0" u="none" strike="noStrike">
                <a:solidFill>
                  <a:srgbClr val="334155"/>
                </a:solidFill>
                <a:effectLst/>
                <a:uFillTx/>
                <a:latin typeface="Aptos"/>
              </a:rPr>
              <a:t>Einnahmen, Ausgaben, Sparziele und Ereignisse liegen häufig in Apps, Tabellen oder Notizen verteilt.</a:t>
            </a:r>
            <a:endParaRPr lang="de-DE" sz="960" b="0" u="none" strike="noStrike">
              <a:solidFill>
                <a:srgbClr val="000000"/>
              </a:solidFill>
              <a:effectLst/>
              <a:uFillTx/>
              <a:latin typeface="Arial"/>
            </a:endParaRPr>
          </a:p>
        </p:txBody>
      </p:sp>
      <p:sp>
        <p:nvSpPr>
          <p:cNvPr id="114" name="Shape 11"/>
          <p:cNvSpPr/>
          <p:nvPr/>
        </p:nvSpPr>
        <p:spPr>
          <a:xfrm>
            <a:off x="4434840" y="1417320"/>
            <a:ext cx="3291480" cy="3382920"/>
          </a:xfrm>
          <a:prstGeom prst="roundRect">
            <a:avLst>
              <a:gd name="adj" fmla="val 2222"/>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115" name="Text 12"/>
          <p:cNvSpPr/>
          <p:nvPr/>
        </p:nvSpPr>
        <p:spPr>
          <a:xfrm>
            <a:off x="4599360" y="1581840"/>
            <a:ext cx="41112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F59E0B"/>
                </a:solidFill>
                <a:effectLst/>
                <a:uFillTx/>
                <a:latin typeface="Aptos"/>
              </a:rPr>
              <a:t>⏳</a:t>
            </a:r>
            <a:endParaRPr lang="de-DE" sz="1800" b="0" u="none" strike="noStrike">
              <a:solidFill>
                <a:srgbClr val="000000"/>
              </a:solidFill>
              <a:effectLst/>
              <a:uFillTx/>
              <a:latin typeface="Arial"/>
            </a:endParaRPr>
          </a:p>
        </p:txBody>
      </p:sp>
      <p:sp>
        <p:nvSpPr>
          <p:cNvPr id="116" name="Text 13"/>
          <p:cNvSpPr/>
          <p:nvPr/>
        </p:nvSpPr>
        <p:spPr>
          <a:xfrm>
            <a:off x="5093280" y="1600200"/>
            <a:ext cx="24685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Fehlende Perspektive</a:t>
            </a:r>
            <a:endParaRPr lang="de-DE" sz="1350" b="0" u="none" strike="noStrike">
              <a:solidFill>
                <a:srgbClr val="000000"/>
              </a:solidFill>
              <a:effectLst/>
              <a:uFillTx/>
              <a:latin typeface="Arial"/>
            </a:endParaRPr>
          </a:p>
        </p:txBody>
      </p:sp>
      <p:sp>
        <p:nvSpPr>
          <p:cNvPr id="117" name="Text 14"/>
          <p:cNvSpPr/>
          <p:nvPr/>
        </p:nvSpPr>
        <p:spPr>
          <a:xfrm>
            <a:off x="4636080" y="2075760"/>
            <a:ext cx="2889000" cy="25599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60" b="0" u="none" strike="noStrike">
                <a:solidFill>
                  <a:srgbClr val="334155"/>
                </a:solidFill>
                <a:effectLst/>
                <a:uFillTx/>
                <a:latin typeface="Aptos"/>
              </a:rPr>
              <a:t>Monatswerte erklären selten, wie sich Entscheidungen langfristig auswirken.</a:t>
            </a:r>
            <a:endParaRPr lang="de-DE" sz="960" b="0" u="none" strike="noStrike">
              <a:solidFill>
                <a:srgbClr val="000000"/>
              </a:solidFill>
              <a:effectLst/>
              <a:uFillTx/>
              <a:latin typeface="Arial"/>
            </a:endParaRPr>
          </a:p>
        </p:txBody>
      </p:sp>
      <p:sp>
        <p:nvSpPr>
          <p:cNvPr id="118" name="Shape 15"/>
          <p:cNvSpPr/>
          <p:nvPr/>
        </p:nvSpPr>
        <p:spPr>
          <a:xfrm>
            <a:off x="8183880" y="1417320"/>
            <a:ext cx="3291480" cy="3382920"/>
          </a:xfrm>
          <a:prstGeom prst="roundRect">
            <a:avLst>
              <a:gd name="adj" fmla="val 2222"/>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119" name="Text 16"/>
          <p:cNvSpPr/>
          <p:nvPr/>
        </p:nvSpPr>
        <p:spPr>
          <a:xfrm>
            <a:off x="8348400" y="1581840"/>
            <a:ext cx="41112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2563EB"/>
                </a:solidFill>
                <a:effectLst/>
                <a:uFillTx/>
                <a:latin typeface="Aptos"/>
              </a:rPr>
              <a:t>🧭</a:t>
            </a:r>
            <a:endParaRPr lang="de-DE" sz="1800" b="0" u="none" strike="noStrike">
              <a:solidFill>
                <a:srgbClr val="000000"/>
              </a:solidFill>
              <a:effectLst/>
              <a:uFillTx/>
              <a:latin typeface="Arial"/>
            </a:endParaRPr>
          </a:p>
        </p:txBody>
      </p:sp>
      <p:sp>
        <p:nvSpPr>
          <p:cNvPr id="120" name="Text 17"/>
          <p:cNvSpPr/>
          <p:nvPr/>
        </p:nvSpPr>
        <p:spPr>
          <a:xfrm>
            <a:off x="8842320" y="1600200"/>
            <a:ext cx="24685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Hohe Einstiegshürde</a:t>
            </a:r>
            <a:endParaRPr lang="de-DE" sz="1350" b="0" u="none" strike="noStrike">
              <a:solidFill>
                <a:srgbClr val="000000"/>
              </a:solidFill>
              <a:effectLst/>
              <a:uFillTx/>
              <a:latin typeface="Arial"/>
            </a:endParaRPr>
          </a:p>
        </p:txBody>
      </p:sp>
      <p:sp>
        <p:nvSpPr>
          <p:cNvPr id="121" name="Text 18"/>
          <p:cNvSpPr/>
          <p:nvPr/>
        </p:nvSpPr>
        <p:spPr>
          <a:xfrm>
            <a:off x="8385120" y="2075760"/>
            <a:ext cx="2889000" cy="25599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60" b="0" u="none" strike="noStrike">
                <a:solidFill>
                  <a:srgbClr val="334155"/>
                </a:solidFill>
                <a:effectLst/>
                <a:uFillTx/>
                <a:latin typeface="Aptos"/>
              </a:rPr>
              <a:t>Finanzplanung wirkt schnell komplex, obwohl viele Personen nur eine verständliche Übersicht benötigen.</a:t>
            </a:r>
            <a:endParaRPr lang="de-DE" sz="96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122" name="Shape 0"/>
          <p:cNvSpPr/>
          <p:nvPr/>
        </p:nvSpPr>
        <p:spPr>
          <a:xfrm>
            <a:off x="0" y="0"/>
            <a:ext cx="12191400" cy="6857640"/>
          </a:xfrm>
          <a:prstGeom prst="rect">
            <a:avLst/>
          </a:prstGeom>
          <a:solidFill>
            <a:srgbClr val="F8FAFC"/>
          </a:solidFill>
          <a:ln w="12700">
            <a:solidFill>
              <a:srgbClr val="F8FAFC">
                <a:alpha val="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123" name="Shape 1"/>
          <p:cNvSpPr/>
          <p:nvPr/>
        </p:nvSpPr>
        <p:spPr>
          <a:xfrm>
            <a:off x="0" y="0"/>
            <a:ext cx="109440" cy="6857640"/>
          </a:xfrm>
          <a:prstGeom prst="rect">
            <a:avLst/>
          </a:prstGeom>
          <a:solidFill>
            <a:srgbClr val="10B981"/>
          </a:solidFill>
          <a:ln w="12700">
            <a:solidFill>
              <a:srgbClr val="10B981"/>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124" name="Text 2"/>
          <p:cNvSpPr/>
          <p:nvPr/>
        </p:nvSpPr>
        <p:spPr>
          <a:xfrm>
            <a:off x="594360" y="384120"/>
            <a:ext cx="9052200" cy="438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0F172A"/>
                </a:solidFill>
                <a:effectLst/>
                <a:uFillTx/>
                <a:latin typeface="Aptos Display"/>
                <a:ea typeface="Aptos Display"/>
              </a:rPr>
              <a:t>Projektidee</a:t>
            </a:r>
            <a:endParaRPr lang="de-DE" sz="2400" b="0" u="none" strike="noStrike">
              <a:solidFill>
                <a:srgbClr val="000000"/>
              </a:solidFill>
              <a:effectLst/>
              <a:uFillTx/>
              <a:latin typeface="Arial"/>
            </a:endParaRPr>
          </a:p>
        </p:txBody>
      </p:sp>
      <p:sp>
        <p:nvSpPr>
          <p:cNvPr id="125" name="Text 3"/>
          <p:cNvSpPr/>
          <p:nvPr/>
        </p:nvSpPr>
        <p:spPr>
          <a:xfrm>
            <a:off x="612720" y="850320"/>
            <a:ext cx="96008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4748B"/>
                </a:solidFill>
                <a:effectLst/>
                <a:uFillTx/>
                <a:latin typeface="Aptos"/>
              </a:rPr>
              <a:t>Ein zentraler Finanzplaner als Planungs- und Lernwerkzeug</a:t>
            </a:r>
            <a:endParaRPr lang="de-DE" sz="950" b="0" u="none" strike="noStrike">
              <a:solidFill>
                <a:srgbClr val="000000"/>
              </a:solidFill>
              <a:effectLst/>
              <a:uFillTx/>
              <a:latin typeface="Arial"/>
            </a:endParaRPr>
          </a:p>
        </p:txBody>
      </p:sp>
      <p:sp>
        <p:nvSpPr>
          <p:cNvPr id="126" name="Shape 4"/>
          <p:cNvSpPr/>
          <p:nvPr/>
        </p:nvSpPr>
        <p:spPr>
          <a:xfrm>
            <a:off x="502920" y="6473880"/>
            <a:ext cx="11201400" cy="360"/>
          </a:xfrm>
          <a:prstGeom prst="line">
            <a:avLst/>
          </a:prstGeom>
          <a:ln w="7620">
            <a:solidFill>
              <a:srgbClr val="CBD5E1">
                <a:alpha val="70000"/>
              </a:srgbClr>
            </a:solidFill>
            <a:round/>
          </a:ln>
        </p:spPr>
        <p:style>
          <a:lnRef idx="0"/>
          <a:fillRef idx="0"/>
          <a:effectRef idx="0"/>
          <a:fontRef idx="minor"/>
        </p:style>
        <p:txBody>
          <a:bodyPr lIns="90000" tIns="-44640" rIns="90000" bIns="-44640" anchor="t" anchorCtr="1">
            <a:noAutofit/>
          </a:bodyPr>
          <a:p>
            <a:endParaRPr lang="de-DE" sz="1800" b="0" u="none" strike="noStrike">
              <a:solidFill>
                <a:srgbClr val="000000"/>
              </a:solidFill>
              <a:effectLst/>
              <a:uFillTx/>
              <a:latin typeface="Arial"/>
            </a:endParaRPr>
          </a:p>
        </p:txBody>
      </p:sp>
      <p:sp>
        <p:nvSpPr>
          <p:cNvPr id="127" name="Text 5"/>
          <p:cNvSpPr/>
          <p:nvPr/>
        </p:nvSpPr>
        <p:spPr>
          <a:xfrm>
            <a:off x="567000" y="6519600"/>
            <a:ext cx="530316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4748B"/>
                </a:solidFill>
                <a:effectLst/>
                <a:uFillTx/>
                <a:latin typeface="Aptos"/>
                <a:ea typeface="Aptos"/>
              </a:rPr>
              <a:t>Teil 1 · Projektidee &amp; Anforderungen</a:t>
            </a:r>
            <a:endParaRPr lang="de-DE" sz="750" b="0" u="none" strike="noStrike">
              <a:solidFill>
                <a:srgbClr val="000000"/>
              </a:solidFill>
              <a:effectLst/>
              <a:uFillTx/>
              <a:latin typeface="Arial"/>
            </a:endParaRPr>
          </a:p>
        </p:txBody>
      </p:sp>
      <p:sp>
        <p:nvSpPr>
          <p:cNvPr id="128" name="Text 6"/>
          <p:cNvSpPr/>
          <p:nvPr/>
        </p:nvSpPr>
        <p:spPr>
          <a:xfrm>
            <a:off x="11201400" y="6519600"/>
            <a:ext cx="45684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50" b="0" u="none" strike="noStrike">
                <a:solidFill>
                  <a:srgbClr val="64748B"/>
                </a:solidFill>
                <a:effectLst/>
                <a:uFillTx/>
                <a:latin typeface="Aptos"/>
                <a:ea typeface="Aptos"/>
              </a:rPr>
              <a:t>06</a:t>
            </a:r>
            <a:endParaRPr lang="de-DE" sz="750" b="0" u="none" strike="noStrike">
              <a:solidFill>
                <a:srgbClr val="000000"/>
              </a:solidFill>
              <a:effectLst/>
              <a:uFillTx/>
              <a:latin typeface="Arial"/>
            </a:endParaRPr>
          </a:p>
        </p:txBody>
      </p:sp>
      <p:sp>
        <p:nvSpPr>
          <p:cNvPr id="129" name="Shape 7"/>
          <p:cNvSpPr/>
          <p:nvPr/>
        </p:nvSpPr>
        <p:spPr>
          <a:xfrm>
            <a:off x="731520" y="1371600"/>
            <a:ext cx="5120280" cy="4388760"/>
          </a:xfrm>
          <a:prstGeom prst="roundRect">
            <a:avLst>
              <a:gd name="adj" fmla="val 1667"/>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130" name="Text 8"/>
          <p:cNvSpPr/>
          <p:nvPr/>
        </p:nvSpPr>
        <p:spPr>
          <a:xfrm>
            <a:off x="932760" y="1554480"/>
            <a:ext cx="47361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Was die Anwendung leisten soll</a:t>
            </a:r>
            <a:endParaRPr lang="de-DE" sz="1350" b="0" u="none" strike="noStrike">
              <a:solidFill>
                <a:srgbClr val="000000"/>
              </a:solidFill>
              <a:effectLst/>
              <a:uFillTx/>
              <a:latin typeface="Arial"/>
            </a:endParaRPr>
          </a:p>
        </p:txBody>
      </p:sp>
      <p:sp>
        <p:nvSpPr>
          <p:cNvPr id="131" name="Text 9"/>
          <p:cNvSpPr/>
          <p:nvPr/>
        </p:nvSpPr>
        <p:spPr>
          <a:xfrm>
            <a:off x="987480" y="1993320"/>
            <a:ext cx="4617360" cy="342864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pPr>
            <a:r>
              <a:rPr lang="en-US" sz="1200" b="0" u="none" strike="noStrike">
                <a:solidFill>
                  <a:srgbClr val="334155"/>
                </a:solidFill>
                <a:effectLst/>
                <a:uFillTx/>
                <a:latin typeface="Aptos"/>
              </a:rPr>
              <a:t>Finanzielle Ausgangslage strukturiert erfassen</a:t>
            </a:r>
            <a:endParaRPr lang="de-DE" sz="1200" b="0" u="none" strike="noStrike">
              <a:solidFill>
                <a:srgbClr val="000000"/>
              </a:solidFill>
              <a:effectLst/>
              <a:uFillTx/>
              <a:latin typeface="Arial"/>
            </a:endParaRPr>
          </a:p>
          <a:p>
            <a:pPr defTabSz="914400">
              <a:lnSpc>
                <a:spcPct val="100000"/>
              </a:lnSpc>
            </a:pPr>
            <a:r>
              <a:rPr lang="en-US" sz="1200" b="0" u="none" strike="noStrike">
                <a:solidFill>
                  <a:srgbClr val="334155"/>
                </a:solidFill>
                <a:effectLst/>
                <a:uFillTx/>
                <a:latin typeface="Aptos"/>
              </a:rPr>
              <a:t>Ziele und Lebensereignisse abbilden</a:t>
            </a:r>
            <a:endParaRPr lang="de-DE" sz="1200" b="0" u="none" strike="noStrike">
              <a:solidFill>
                <a:srgbClr val="000000"/>
              </a:solidFill>
              <a:effectLst/>
              <a:uFillTx/>
              <a:latin typeface="Arial"/>
            </a:endParaRPr>
          </a:p>
          <a:p>
            <a:pPr defTabSz="914400">
              <a:lnSpc>
                <a:spcPct val="100000"/>
              </a:lnSpc>
            </a:pPr>
            <a:r>
              <a:rPr lang="en-US" sz="1200" b="0" u="none" strike="noStrike">
                <a:solidFill>
                  <a:srgbClr val="334155"/>
                </a:solidFill>
                <a:effectLst/>
                <a:uFillTx/>
                <a:latin typeface="Aptos"/>
              </a:rPr>
              <a:t>Szenarien und Prognosen verständlich machen</a:t>
            </a:r>
            <a:endParaRPr lang="de-DE" sz="1200" b="0" u="none" strike="noStrike">
              <a:solidFill>
                <a:srgbClr val="000000"/>
              </a:solidFill>
              <a:effectLst/>
              <a:uFillTx/>
              <a:latin typeface="Arial"/>
            </a:endParaRPr>
          </a:p>
          <a:p>
            <a:pPr defTabSz="914400">
              <a:lnSpc>
                <a:spcPct val="100000"/>
              </a:lnSpc>
            </a:pPr>
            <a:r>
              <a:rPr lang="en-US" sz="1200" b="0" u="none" strike="noStrike">
                <a:solidFill>
                  <a:srgbClr val="334155"/>
                </a:solidFill>
                <a:effectLst/>
                <a:uFillTx/>
                <a:latin typeface="Aptos"/>
              </a:rPr>
              <a:t>FAQ und Assistent als Hilfestellung anbieten</a:t>
            </a:r>
            <a:endParaRPr lang="de-DE" sz="1200" b="0" u="none" strike="noStrike">
              <a:solidFill>
                <a:srgbClr val="000000"/>
              </a:solidFill>
              <a:effectLst/>
              <a:uFillTx/>
              <a:latin typeface="Arial"/>
            </a:endParaRPr>
          </a:p>
        </p:txBody>
      </p:sp>
      <p:sp>
        <p:nvSpPr>
          <p:cNvPr id="132" name="Shape 10"/>
          <p:cNvSpPr/>
          <p:nvPr/>
        </p:nvSpPr>
        <p:spPr>
          <a:xfrm>
            <a:off x="6309360" y="1371600"/>
            <a:ext cx="5120280" cy="4388760"/>
          </a:xfrm>
          <a:prstGeom prst="roundRect">
            <a:avLst>
              <a:gd name="adj" fmla="val 1667"/>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133" name="Text 11"/>
          <p:cNvSpPr/>
          <p:nvPr/>
        </p:nvSpPr>
        <p:spPr>
          <a:xfrm>
            <a:off x="6510600" y="1554480"/>
            <a:ext cx="47361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Was bewusst nicht Ziel ist</a:t>
            </a:r>
            <a:endParaRPr lang="de-DE" sz="1350" b="0" u="none" strike="noStrike">
              <a:solidFill>
                <a:srgbClr val="000000"/>
              </a:solidFill>
              <a:effectLst/>
              <a:uFillTx/>
              <a:latin typeface="Arial"/>
            </a:endParaRPr>
          </a:p>
        </p:txBody>
      </p:sp>
      <p:sp>
        <p:nvSpPr>
          <p:cNvPr id="134" name="Text 12"/>
          <p:cNvSpPr/>
          <p:nvPr/>
        </p:nvSpPr>
        <p:spPr>
          <a:xfrm>
            <a:off x="6565320" y="1993320"/>
            <a:ext cx="4617360" cy="342864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pPr>
            <a:r>
              <a:rPr lang="en-US" sz="1200" b="0" u="none" strike="noStrike">
                <a:solidFill>
                  <a:srgbClr val="334155"/>
                </a:solidFill>
                <a:effectLst/>
                <a:uFillTx/>
                <a:latin typeface="Aptos"/>
              </a:rPr>
              <a:t>Keine Bankanbindung</a:t>
            </a:r>
            <a:endParaRPr lang="de-DE" sz="1200" b="0" u="none" strike="noStrike">
              <a:solidFill>
                <a:srgbClr val="000000"/>
              </a:solidFill>
              <a:effectLst/>
              <a:uFillTx/>
              <a:latin typeface="Arial"/>
            </a:endParaRPr>
          </a:p>
          <a:p>
            <a:pPr defTabSz="914400">
              <a:lnSpc>
                <a:spcPct val="100000"/>
              </a:lnSpc>
            </a:pPr>
            <a:r>
              <a:rPr lang="en-US" sz="1200" b="0" u="none" strike="noStrike">
                <a:solidFill>
                  <a:srgbClr val="334155"/>
                </a:solidFill>
                <a:effectLst/>
                <a:uFillTx/>
                <a:latin typeface="Aptos"/>
              </a:rPr>
              <a:t>Keine Zahlungsfunktion</a:t>
            </a:r>
            <a:endParaRPr lang="de-DE" sz="1200" b="0" u="none" strike="noStrike">
              <a:solidFill>
                <a:srgbClr val="000000"/>
              </a:solidFill>
              <a:effectLst/>
              <a:uFillTx/>
              <a:latin typeface="Arial"/>
            </a:endParaRPr>
          </a:p>
          <a:p>
            <a:pPr defTabSz="914400">
              <a:lnSpc>
                <a:spcPct val="100000"/>
              </a:lnSpc>
            </a:pPr>
            <a:r>
              <a:rPr lang="en-US" sz="1200" b="0" u="none" strike="noStrike">
                <a:solidFill>
                  <a:srgbClr val="334155"/>
                </a:solidFill>
                <a:effectLst/>
                <a:uFillTx/>
                <a:latin typeface="Aptos"/>
              </a:rPr>
              <a:t>Keine verbindliche Finanz- oder Steuerberatung</a:t>
            </a:r>
            <a:endParaRPr lang="de-DE" sz="1200" b="0" u="none" strike="noStrike">
              <a:solidFill>
                <a:srgbClr val="000000"/>
              </a:solidFill>
              <a:effectLst/>
              <a:uFillTx/>
              <a:latin typeface="Arial"/>
            </a:endParaRPr>
          </a:p>
          <a:p>
            <a:pPr defTabSz="914400">
              <a:lnSpc>
                <a:spcPct val="100000"/>
              </a:lnSpc>
            </a:pPr>
            <a:r>
              <a:rPr lang="en-US" sz="1200" b="0" u="none" strike="noStrike">
                <a:solidFill>
                  <a:srgbClr val="334155"/>
                </a:solidFill>
                <a:effectLst/>
                <a:uFillTx/>
                <a:latin typeface="Aptos"/>
              </a:rPr>
              <a:t>Kein produktives Identitäts- oder Risikoprofiling</a:t>
            </a:r>
            <a:endParaRPr lang="de-DE"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135" name="Shape 0"/>
          <p:cNvSpPr/>
          <p:nvPr/>
        </p:nvSpPr>
        <p:spPr>
          <a:xfrm>
            <a:off x="0" y="0"/>
            <a:ext cx="12191400" cy="6857640"/>
          </a:xfrm>
          <a:prstGeom prst="rect">
            <a:avLst/>
          </a:prstGeom>
          <a:solidFill>
            <a:srgbClr val="F8FAFC"/>
          </a:solidFill>
          <a:ln w="12700">
            <a:solidFill>
              <a:srgbClr val="F8FAFC">
                <a:alpha val="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136" name="Shape 1"/>
          <p:cNvSpPr/>
          <p:nvPr/>
        </p:nvSpPr>
        <p:spPr>
          <a:xfrm>
            <a:off x="0" y="0"/>
            <a:ext cx="109440" cy="6857640"/>
          </a:xfrm>
          <a:prstGeom prst="rect">
            <a:avLst/>
          </a:prstGeom>
          <a:solidFill>
            <a:srgbClr val="10B981"/>
          </a:solidFill>
          <a:ln w="12700">
            <a:solidFill>
              <a:srgbClr val="10B981"/>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137" name="Text 2"/>
          <p:cNvSpPr/>
          <p:nvPr/>
        </p:nvSpPr>
        <p:spPr>
          <a:xfrm>
            <a:off x="594360" y="384120"/>
            <a:ext cx="9052200" cy="438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0F172A"/>
                </a:solidFill>
                <a:effectLst/>
                <a:uFillTx/>
                <a:latin typeface="Aptos Display"/>
                <a:ea typeface="Aptos Display"/>
              </a:rPr>
              <a:t>Zentrale Anforderungen</a:t>
            </a:r>
            <a:endParaRPr lang="de-DE" sz="2400" b="0" u="none" strike="noStrike">
              <a:solidFill>
                <a:srgbClr val="000000"/>
              </a:solidFill>
              <a:effectLst/>
              <a:uFillTx/>
              <a:latin typeface="Arial"/>
            </a:endParaRPr>
          </a:p>
        </p:txBody>
      </p:sp>
      <p:sp>
        <p:nvSpPr>
          <p:cNvPr id="138" name="Text 3"/>
          <p:cNvSpPr/>
          <p:nvPr/>
        </p:nvSpPr>
        <p:spPr>
          <a:xfrm>
            <a:off x="612720" y="850320"/>
            <a:ext cx="96008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4748B"/>
                </a:solidFill>
                <a:effectLst/>
                <a:uFillTx/>
                <a:latin typeface="Aptos"/>
              </a:rPr>
              <a:t>Funktionen, die den Prototyp tragen</a:t>
            </a:r>
            <a:endParaRPr lang="de-DE" sz="950" b="0" u="none" strike="noStrike">
              <a:solidFill>
                <a:srgbClr val="000000"/>
              </a:solidFill>
              <a:effectLst/>
              <a:uFillTx/>
              <a:latin typeface="Arial"/>
            </a:endParaRPr>
          </a:p>
        </p:txBody>
      </p:sp>
      <p:sp>
        <p:nvSpPr>
          <p:cNvPr id="139" name="Shape 4"/>
          <p:cNvSpPr/>
          <p:nvPr/>
        </p:nvSpPr>
        <p:spPr>
          <a:xfrm>
            <a:off x="502920" y="6473880"/>
            <a:ext cx="11201400" cy="360"/>
          </a:xfrm>
          <a:prstGeom prst="line">
            <a:avLst/>
          </a:prstGeom>
          <a:ln w="7620">
            <a:solidFill>
              <a:srgbClr val="CBD5E1">
                <a:alpha val="70000"/>
              </a:srgbClr>
            </a:solidFill>
            <a:round/>
          </a:ln>
        </p:spPr>
        <p:style>
          <a:lnRef idx="0"/>
          <a:fillRef idx="0"/>
          <a:effectRef idx="0"/>
          <a:fontRef idx="minor"/>
        </p:style>
        <p:txBody>
          <a:bodyPr lIns="90000" tIns="-44640" rIns="90000" bIns="-44640" anchor="t" anchorCtr="1">
            <a:noAutofit/>
          </a:bodyPr>
          <a:p>
            <a:endParaRPr lang="de-DE" sz="1800" b="0" u="none" strike="noStrike">
              <a:solidFill>
                <a:srgbClr val="000000"/>
              </a:solidFill>
              <a:effectLst/>
              <a:uFillTx/>
              <a:latin typeface="Arial"/>
            </a:endParaRPr>
          </a:p>
        </p:txBody>
      </p:sp>
      <p:sp>
        <p:nvSpPr>
          <p:cNvPr id="140" name="Text 5"/>
          <p:cNvSpPr/>
          <p:nvPr/>
        </p:nvSpPr>
        <p:spPr>
          <a:xfrm>
            <a:off x="567000" y="6519600"/>
            <a:ext cx="530316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4748B"/>
                </a:solidFill>
                <a:effectLst/>
                <a:uFillTx/>
                <a:latin typeface="Aptos"/>
                <a:ea typeface="Aptos"/>
              </a:rPr>
              <a:t>Teil 1 · Projektidee &amp; Anforderungen</a:t>
            </a:r>
            <a:endParaRPr lang="de-DE" sz="750" b="0" u="none" strike="noStrike">
              <a:solidFill>
                <a:srgbClr val="000000"/>
              </a:solidFill>
              <a:effectLst/>
              <a:uFillTx/>
              <a:latin typeface="Arial"/>
            </a:endParaRPr>
          </a:p>
        </p:txBody>
      </p:sp>
      <p:sp>
        <p:nvSpPr>
          <p:cNvPr id="141" name="Text 6"/>
          <p:cNvSpPr/>
          <p:nvPr/>
        </p:nvSpPr>
        <p:spPr>
          <a:xfrm>
            <a:off x="11201400" y="6519600"/>
            <a:ext cx="45684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50" b="0" u="none" strike="noStrike">
                <a:solidFill>
                  <a:srgbClr val="64748B"/>
                </a:solidFill>
                <a:effectLst/>
                <a:uFillTx/>
                <a:latin typeface="Aptos"/>
                <a:ea typeface="Aptos"/>
              </a:rPr>
              <a:t>07</a:t>
            </a:r>
            <a:endParaRPr lang="de-DE" sz="750" b="0" u="none" strike="noStrike">
              <a:solidFill>
                <a:srgbClr val="000000"/>
              </a:solidFill>
              <a:effectLst/>
              <a:uFillTx/>
              <a:latin typeface="Arial"/>
            </a:endParaRPr>
          </a:p>
        </p:txBody>
      </p:sp>
      <p:sp>
        <p:nvSpPr>
          <p:cNvPr id="142" name="Shape 7"/>
          <p:cNvSpPr/>
          <p:nvPr/>
        </p:nvSpPr>
        <p:spPr>
          <a:xfrm>
            <a:off x="731520" y="1417320"/>
            <a:ext cx="3245760" cy="1325520"/>
          </a:xfrm>
          <a:prstGeom prst="roundRect">
            <a:avLst>
              <a:gd name="adj" fmla="val 5517"/>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143" name="Text 8"/>
          <p:cNvSpPr/>
          <p:nvPr/>
        </p:nvSpPr>
        <p:spPr>
          <a:xfrm>
            <a:off x="896040" y="1581840"/>
            <a:ext cx="41112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10B981"/>
                </a:solidFill>
                <a:effectLst/>
                <a:uFillTx/>
                <a:latin typeface="Aptos"/>
              </a:rPr>
              <a:t>👤</a:t>
            </a:r>
            <a:endParaRPr lang="de-DE" sz="1800" b="0" u="none" strike="noStrike">
              <a:solidFill>
                <a:srgbClr val="000000"/>
              </a:solidFill>
              <a:effectLst/>
              <a:uFillTx/>
              <a:latin typeface="Arial"/>
            </a:endParaRPr>
          </a:p>
        </p:txBody>
      </p:sp>
      <p:sp>
        <p:nvSpPr>
          <p:cNvPr id="144" name="Text 9"/>
          <p:cNvSpPr/>
          <p:nvPr/>
        </p:nvSpPr>
        <p:spPr>
          <a:xfrm>
            <a:off x="1389960" y="1600200"/>
            <a:ext cx="242280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Registrierung &amp; Login</a:t>
            </a:r>
            <a:endParaRPr lang="de-DE" sz="1350" b="0" u="none" strike="noStrike">
              <a:solidFill>
                <a:srgbClr val="000000"/>
              </a:solidFill>
              <a:effectLst/>
              <a:uFillTx/>
              <a:latin typeface="Arial"/>
            </a:endParaRPr>
          </a:p>
        </p:txBody>
      </p:sp>
      <p:sp>
        <p:nvSpPr>
          <p:cNvPr id="145" name="Text 10"/>
          <p:cNvSpPr/>
          <p:nvPr/>
        </p:nvSpPr>
        <p:spPr>
          <a:xfrm>
            <a:off x="932760" y="2075760"/>
            <a:ext cx="2843280" cy="5025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60" b="0" u="none" strike="noStrike">
                <a:solidFill>
                  <a:srgbClr val="334155"/>
                </a:solidFill>
                <a:effectLst/>
                <a:uFillTx/>
                <a:latin typeface="Aptos"/>
              </a:rPr>
              <a:t>Benutzerkonto anlegen, anmelden und abmelden</a:t>
            </a:r>
            <a:endParaRPr lang="de-DE" sz="960" b="0" u="none" strike="noStrike">
              <a:solidFill>
                <a:srgbClr val="000000"/>
              </a:solidFill>
              <a:effectLst/>
              <a:uFillTx/>
              <a:latin typeface="Arial"/>
            </a:endParaRPr>
          </a:p>
        </p:txBody>
      </p:sp>
      <p:sp>
        <p:nvSpPr>
          <p:cNvPr id="146" name="Shape 11"/>
          <p:cNvSpPr/>
          <p:nvPr/>
        </p:nvSpPr>
        <p:spPr>
          <a:xfrm>
            <a:off x="4480560" y="1417320"/>
            <a:ext cx="3245760" cy="1325520"/>
          </a:xfrm>
          <a:prstGeom prst="roundRect">
            <a:avLst>
              <a:gd name="adj" fmla="val 5517"/>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147" name="Text 12"/>
          <p:cNvSpPr/>
          <p:nvPr/>
        </p:nvSpPr>
        <p:spPr>
          <a:xfrm>
            <a:off x="4645080" y="1581840"/>
            <a:ext cx="41112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2563EB"/>
                </a:solidFill>
                <a:effectLst/>
                <a:uFillTx/>
                <a:latin typeface="Aptos"/>
              </a:rPr>
              <a:t>📁</a:t>
            </a:r>
            <a:endParaRPr lang="de-DE" sz="1800" b="0" u="none" strike="noStrike">
              <a:solidFill>
                <a:srgbClr val="000000"/>
              </a:solidFill>
              <a:effectLst/>
              <a:uFillTx/>
              <a:latin typeface="Arial"/>
            </a:endParaRPr>
          </a:p>
        </p:txBody>
      </p:sp>
      <p:sp>
        <p:nvSpPr>
          <p:cNvPr id="148" name="Text 13"/>
          <p:cNvSpPr/>
          <p:nvPr/>
        </p:nvSpPr>
        <p:spPr>
          <a:xfrm>
            <a:off x="5139000" y="1600200"/>
            <a:ext cx="242280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Finanzprofil</a:t>
            </a:r>
            <a:endParaRPr lang="de-DE" sz="1350" b="0" u="none" strike="noStrike">
              <a:solidFill>
                <a:srgbClr val="000000"/>
              </a:solidFill>
              <a:effectLst/>
              <a:uFillTx/>
              <a:latin typeface="Arial"/>
            </a:endParaRPr>
          </a:p>
        </p:txBody>
      </p:sp>
      <p:sp>
        <p:nvSpPr>
          <p:cNvPr id="149" name="Text 14"/>
          <p:cNvSpPr/>
          <p:nvPr/>
        </p:nvSpPr>
        <p:spPr>
          <a:xfrm>
            <a:off x="4681800" y="2075760"/>
            <a:ext cx="2843280" cy="5025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60" b="0" u="none" strike="noStrike">
                <a:solidFill>
                  <a:srgbClr val="334155"/>
                </a:solidFill>
                <a:effectLst/>
                <a:uFillTx/>
                <a:latin typeface="Aptos"/>
              </a:rPr>
              <a:t>Eingabewerte dauerhaft und nutzerbezogen speichern</a:t>
            </a:r>
            <a:endParaRPr lang="de-DE" sz="960" b="0" u="none" strike="noStrike">
              <a:solidFill>
                <a:srgbClr val="000000"/>
              </a:solidFill>
              <a:effectLst/>
              <a:uFillTx/>
              <a:latin typeface="Arial"/>
            </a:endParaRPr>
          </a:p>
        </p:txBody>
      </p:sp>
      <p:sp>
        <p:nvSpPr>
          <p:cNvPr id="150" name="Shape 15"/>
          <p:cNvSpPr/>
          <p:nvPr/>
        </p:nvSpPr>
        <p:spPr>
          <a:xfrm>
            <a:off x="8229600" y="1417320"/>
            <a:ext cx="3245760" cy="1325520"/>
          </a:xfrm>
          <a:prstGeom prst="roundRect">
            <a:avLst>
              <a:gd name="adj" fmla="val 5517"/>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151" name="Text 16"/>
          <p:cNvSpPr/>
          <p:nvPr/>
        </p:nvSpPr>
        <p:spPr>
          <a:xfrm>
            <a:off x="8394120" y="1581840"/>
            <a:ext cx="41112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F59E0B"/>
                </a:solidFill>
                <a:effectLst/>
                <a:uFillTx/>
                <a:latin typeface="Aptos"/>
              </a:rPr>
              <a:t>🎯</a:t>
            </a:r>
            <a:endParaRPr lang="de-DE" sz="1800" b="0" u="none" strike="noStrike">
              <a:solidFill>
                <a:srgbClr val="000000"/>
              </a:solidFill>
              <a:effectLst/>
              <a:uFillTx/>
              <a:latin typeface="Arial"/>
            </a:endParaRPr>
          </a:p>
        </p:txBody>
      </p:sp>
      <p:sp>
        <p:nvSpPr>
          <p:cNvPr id="152" name="Text 17"/>
          <p:cNvSpPr/>
          <p:nvPr/>
        </p:nvSpPr>
        <p:spPr>
          <a:xfrm>
            <a:off x="8888040" y="1600200"/>
            <a:ext cx="242280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Ziele &amp; Ereignisse</a:t>
            </a:r>
            <a:endParaRPr lang="de-DE" sz="1350" b="0" u="none" strike="noStrike">
              <a:solidFill>
                <a:srgbClr val="000000"/>
              </a:solidFill>
              <a:effectLst/>
              <a:uFillTx/>
              <a:latin typeface="Arial"/>
            </a:endParaRPr>
          </a:p>
        </p:txBody>
      </p:sp>
      <p:sp>
        <p:nvSpPr>
          <p:cNvPr id="153" name="Text 18"/>
          <p:cNvSpPr/>
          <p:nvPr/>
        </p:nvSpPr>
        <p:spPr>
          <a:xfrm>
            <a:off x="8430840" y="2075760"/>
            <a:ext cx="2843280" cy="5025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60" b="0" u="none" strike="noStrike">
                <a:solidFill>
                  <a:srgbClr val="334155"/>
                </a:solidFill>
                <a:effectLst/>
                <a:uFillTx/>
                <a:latin typeface="Aptos"/>
              </a:rPr>
              <a:t>Planbare finanzielle Entwicklungen abbilden</a:t>
            </a:r>
            <a:endParaRPr lang="de-DE" sz="960" b="0" u="none" strike="noStrike">
              <a:solidFill>
                <a:srgbClr val="000000"/>
              </a:solidFill>
              <a:effectLst/>
              <a:uFillTx/>
              <a:latin typeface="Arial"/>
            </a:endParaRPr>
          </a:p>
        </p:txBody>
      </p:sp>
      <p:sp>
        <p:nvSpPr>
          <p:cNvPr id="154" name="Shape 19"/>
          <p:cNvSpPr/>
          <p:nvPr/>
        </p:nvSpPr>
        <p:spPr>
          <a:xfrm>
            <a:off x="731520" y="3291840"/>
            <a:ext cx="3245760" cy="1325520"/>
          </a:xfrm>
          <a:prstGeom prst="roundRect">
            <a:avLst>
              <a:gd name="adj" fmla="val 5517"/>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155" name="Text 20"/>
          <p:cNvSpPr/>
          <p:nvPr/>
        </p:nvSpPr>
        <p:spPr>
          <a:xfrm>
            <a:off x="896040" y="3456360"/>
            <a:ext cx="41112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E11D48"/>
                </a:solidFill>
                <a:effectLst/>
                <a:uFillTx/>
                <a:latin typeface="Aptos"/>
              </a:rPr>
              <a:t>✉</a:t>
            </a:r>
            <a:endParaRPr lang="de-DE" sz="1800" b="0" u="none" strike="noStrike">
              <a:solidFill>
                <a:srgbClr val="000000"/>
              </a:solidFill>
              <a:effectLst/>
              <a:uFillTx/>
              <a:latin typeface="Arial"/>
            </a:endParaRPr>
          </a:p>
        </p:txBody>
      </p:sp>
      <p:sp>
        <p:nvSpPr>
          <p:cNvPr id="156" name="Text 21"/>
          <p:cNvSpPr/>
          <p:nvPr/>
        </p:nvSpPr>
        <p:spPr>
          <a:xfrm>
            <a:off x="1389960" y="3474720"/>
            <a:ext cx="242280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Passwort vergessen</a:t>
            </a:r>
            <a:endParaRPr lang="de-DE" sz="1350" b="0" u="none" strike="noStrike">
              <a:solidFill>
                <a:srgbClr val="000000"/>
              </a:solidFill>
              <a:effectLst/>
              <a:uFillTx/>
              <a:latin typeface="Arial"/>
            </a:endParaRPr>
          </a:p>
        </p:txBody>
      </p:sp>
      <p:sp>
        <p:nvSpPr>
          <p:cNvPr id="157" name="Text 22"/>
          <p:cNvSpPr/>
          <p:nvPr/>
        </p:nvSpPr>
        <p:spPr>
          <a:xfrm>
            <a:off x="932760" y="3950280"/>
            <a:ext cx="2843280" cy="5025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60" b="0" u="none" strike="noStrike">
                <a:solidFill>
                  <a:srgbClr val="334155"/>
                </a:solidFill>
                <a:effectLst/>
                <a:uFillTx/>
                <a:latin typeface="Aptos"/>
              </a:rPr>
              <a:t>Reset-Link per E-Mail, zeitlich begrenzt</a:t>
            </a:r>
            <a:endParaRPr lang="de-DE" sz="960" b="0" u="none" strike="noStrike">
              <a:solidFill>
                <a:srgbClr val="000000"/>
              </a:solidFill>
              <a:effectLst/>
              <a:uFillTx/>
              <a:latin typeface="Arial"/>
            </a:endParaRPr>
          </a:p>
        </p:txBody>
      </p:sp>
      <p:sp>
        <p:nvSpPr>
          <p:cNvPr id="158" name="Shape 23"/>
          <p:cNvSpPr/>
          <p:nvPr/>
        </p:nvSpPr>
        <p:spPr>
          <a:xfrm>
            <a:off x="4480560" y="3291840"/>
            <a:ext cx="3245760" cy="1325520"/>
          </a:xfrm>
          <a:prstGeom prst="roundRect">
            <a:avLst>
              <a:gd name="adj" fmla="val 5517"/>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159" name="Text 24"/>
          <p:cNvSpPr/>
          <p:nvPr/>
        </p:nvSpPr>
        <p:spPr>
          <a:xfrm>
            <a:off x="4645080" y="3456360"/>
            <a:ext cx="41112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334155"/>
                </a:solidFill>
                <a:effectLst/>
                <a:uFillTx/>
                <a:latin typeface="Aptos"/>
              </a:rPr>
              <a:t>❓</a:t>
            </a:r>
            <a:endParaRPr lang="de-DE" sz="1800" b="0" u="none" strike="noStrike">
              <a:solidFill>
                <a:srgbClr val="000000"/>
              </a:solidFill>
              <a:effectLst/>
              <a:uFillTx/>
              <a:latin typeface="Arial"/>
            </a:endParaRPr>
          </a:p>
        </p:txBody>
      </p:sp>
      <p:sp>
        <p:nvSpPr>
          <p:cNvPr id="160" name="Text 25"/>
          <p:cNvSpPr/>
          <p:nvPr/>
        </p:nvSpPr>
        <p:spPr>
          <a:xfrm>
            <a:off x="5139000" y="3474720"/>
            <a:ext cx="242280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FAQ &amp; Demo</a:t>
            </a:r>
            <a:endParaRPr lang="de-DE" sz="1350" b="0" u="none" strike="noStrike">
              <a:solidFill>
                <a:srgbClr val="000000"/>
              </a:solidFill>
              <a:effectLst/>
              <a:uFillTx/>
              <a:latin typeface="Arial"/>
            </a:endParaRPr>
          </a:p>
        </p:txBody>
      </p:sp>
      <p:sp>
        <p:nvSpPr>
          <p:cNvPr id="161" name="Text 26"/>
          <p:cNvSpPr/>
          <p:nvPr/>
        </p:nvSpPr>
        <p:spPr>
          <a:xfrm>
            <a:off x="4681800" y="3950280"/>
            <a:ext cx="2843280" cy="5025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60" b="0" u="none" strike="noStrike">
                <a:solidFill>
                  <a:srgbClr val="334155"/>
                </a:solidFill>
                <a:effectLst/>
                <a:uFillTx/>
                <a:latin typeface="Aptos"/>
              </a:rPr>
              <a:t>Orientierung, Fragen und Präsentationsfähigkeit</a:t>
            </a:r>
            <a:endParaRPr lang="de-DE" sz="96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162" name="Shape 0"/>
          <p:cNvSpPr/>
          <p:nvPr/>
        </p:nvSpPr>
        <p:spPr>
          <a:xfrm>
            <a:off x="0" y="0"/>
            <a:ext cx="12191400" cy="6857640"/>
          </a:xfrm>
          <a:prstGeom prst="rect">
            <a:avLst/>
          </a:prstGeom>
          <a:solidFill>
            <a:srgbClr val="F8FAFC"/>
          </a:solidFill>
          <a:ln w="12700">
            <a:solidFill>
              <a:srgbClr val="F8FAFC">
                <a:alpha val="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163" name="Shape 1"/>
          <p:cNvSpPr/>
          <p:nvPr/>
        </p:nvSpPr>
        <p:spPr>
          <a:xfrm>
            <a:off x="0" y="0"/>
            <a:ext cx="109440" cy="6857640"/>
          </a:xfrm>
          <a:prstGeom prst="rect">
            <a:avLst/>
          </a:prstGeom>
          <a:solidFill>
            <a:srgbClr val="10B981"/>
          </a:solidFill>
          <a:ln w="12700">
            <a:solidFill>
              <a:srgbClr val="10B981"/>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164" name="Text 2"/>
          <p:cNvSpPr/>
          <p:nvPr/>
        </p:nvSpPr>
        <p:spPr>
          <a:xfrm>
            <a:off x="594360" y="384120"/>
            <a:ext cx="9052200" cy="438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0F172A"/>
                </a:solidFill>
                <a:effectLst/>
                <a:uFillTx/>
                <a:latin typeface="Aptos Display"/>
                <a:ea typeface="Aptos Display"/>
              </a:rPr>
              <a:t>Nutzerreise im Prototyp</a:t>
            </a:r>
            <a:endParaRPr lang="de-DE" sz="2400" b="0" u="none" strike="noStrike">
              <a:solidFill>
                <a:srgbClr val="000000"/>
              </a:solidFill>
              <a:effectLst/>
              <a:uFillTx/>
              <a:latin typeface="Arial"/>
            </a:endParaRPr>
          </a:p>
        </p:txBody>
      </p:sp>
      <p:sp>
        <p:nvSpPr>
          <p:cNvPr id="165" name="Text 3"/>
          <p:cNvSpPr/>
          <p:nvPr/>
        </p:nvSpPr>
        <p:spPr>
          <a:xfrm>
            <a:off x="612720" y="850320"/>
            <a:ext cx="96008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4748B"/>
                </a:solidFill>
                <a:effectLst/>
                <a:uFillTx/>
                <a:latin typeface="Aptos"/>
              </a:rPr>
              <a:t>Der typische Ablauf aus Sicht einer Nutzerin oder eines Nutzers</a:t>
            </a:r>
            <a:endParaRPr lang="de-DE" sz="950" b="0" u="none" strike="noStrike">
              <a:solidFill>
                <a:srgbClr val="000000"/>
              </a:solidFill>
              <a:effectLst/>
              <a:uFillTx/>
              <a:latin typeface="Arial"/>
            </a:endParaRPr>
          </a:p>
        </p:txBody>
      </p:sp>
      <p:sp>
        <p:nvSpPr>
          <p:cNvPr id="166" name="Shape 4"/>
          <p:cNvSpPr/>
          <p:nvPr/>
        </p:nvSpPr>
        <p:spPr>
          <a:xfrm>
            <a:off x="502920" y="6473880"/>
            <a:ext cx="11201400" cy="360"/>
          </a:xfrm>
          <a:prstGeom prst="line">
            <a:avLst/>
          </a:prstGeom>
          <a:ln w="7620">
            <a:solidFill>
              <a:srgbClr val="CBD5E1">
                <a:alpha val="70000"/>
              </a:srgbClr>
            </a:solidFill>
            <a:round/>
          </a:ln>
        </p:spPr>
        <p:style>
          <a:lnRef idx="0"/>
          <a:fillRef idx="0"/>
          <a:effectRef idx="0"/>
          <a:fontRef idx="minor"/>
        </p:style>
        <p:txBody>
          <a:bodyPr lIns="90000" tIns="-44640" rIns="90000" bIns="-44640" anchor="t" anchorCtr="1">
            <a:noAutofit/>
          </a:bodyPr>
          <a:p>
            <a:endParaRPr lang="de-DE" sz="1800" b="0" u="none" strike="noStrike">
              <a:solidFill>
                <a:srgbClr val="000000"/>
              </a:solidFill>
              <a:effectLst/>
              <a:uFillTx/>
              <a:latin typeface="Arial"/>
            </a:endParaRPr>
          </a:p>
        </p:txBody>
      </p:sp>
      <p:sp>
        <p:nvSpPr>
          <p:cNvPr id="167" name="Text 5"/>
          <p:cNvSpPr/>
          <p:nvPr/>
        </p:nvSpPr>
        <p:spPr>
          <a:xfrm>
            <a:off x="567000" y="6519600"/>
            <a:ext cx="530316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4748B"/>
                </a:solidFill>
                <a:effectLst/>
                <a:uFillTx/>
                <a:latin typeface="Aptos"/>
                <a:ea typeface="Aptos"/>
              </a:rPr>
              <a:t>Teil 1 · Projektidee &amp; Anforderungen</a:t>
            </a:r>
            <a:endParaRPr lang="de-DE" sz="750" b="0" u="none" strike="noStrike">
              <a:solidFill>
                <a:srgbClr val="000000"/>
              </a:solidFill>
              <a:effectLst/>
              <a:uFillTx/>
              <a:latin typeface="Arial"/>
            </a:endParaRPr>
          </a:p>
        </p:txBody>
      </p:sp>
      <p:sp>
        <p:nvSpPr>
          <p:cNvPr id="168" name="Text 6"/>
          <p:cNvSpPr/>
          <p:nvPr/>
        </p:nvSpPr>
        <p:spPr>
          <a:xfrm>
            <a:off x="11201400" y="6519600"/>
            <a:ext cx="45684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50" b="0" u="none" strike="noStrike">
                <a:solidFill>
                  <a:srgbClr val="64748B"/>
                </a:solidFill>
                <a:effectLst/>
                <a:uFillTx/>
                <a:latin typeface="Aptos"/>
                <a:ea typeface="Aptos"/>
              </a:rPr>
              <a:t>08</a:t>
            </a:r>
            <a:endParaRPr lang="de-DE" sz="750" b="0" u="none" strike="noStrike">
              <a:solidFill>
                <a:srgbClr val="000000"/>
              </a:solidFill>
              <a:effectLst/>
              <a:uFillTx/>
              <a:latin typeface="Arial"/>
            </a:endParaRPr>
          </a:p>
        </p:txBody>
      </p:sp>
      <p:sp>
        <p:nvSpPr>
          <p:cNvPr id="169" name="Shape 7"/>
          <p:cNvSpPr/>
          <p:nvPr/>
        </p:nvSpPr>
        <p:spPr>
          <a:xfrm>
            <a:off x="640080" y="1828800"/>
            <a:ext cx="1676160" cy="731160"/>
          </a:xfrm>
          <a:prstGeom prst="chevron">
            <a:avLst>
              <a:gd name="adj" fmla="val 50000"/>
            </a:avLst>
          </a:prstGeom>
          <a:solidFill>
            <a:srgbClr val="10B981"/>
          </a:solidFill>
          <a:ln w="12700">
            <a:solidFill>
              <a:srgbClr val="10B981"/>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170" name="Text 8"/>
          <p:cNvSpPr/>
          <p:nvPr/>
        </p:nvSpPr>
        <p:spPr>
          <a:xfrm>
            <a:off x="713160" y="2039040"/>
            <a:ext cx="1529640" cy="25560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20" b="1" u="none" strike="noStrike">
                <a:solidFill>
                  <a:srgbClr val="FFFFFF"/>
                </a:solidFill>
                <a:effectLst/>
                <a:uFillTx/>
                <a:latin typeface="Aptos"/>
              </a:rPr>
              <a:t>Registrieren</a:t>
            </a:r>
            <a:endParaRPr lang="de-DE" sz="920" b="0" u="none" strike="noStrike">
              <a:solidFill>
                <a:srgbClr val="000000"/>
              </a:solidFill>
              <a:effectLst/>
              <a:uFillTx/>
              <a:latin typeface="Arial"/>
            </a:endParaRPr>
          </a:p>
        </p:txBody>
      </p:sp>
      <p:sp>
        <p:nvSpPr>
          <p:cNvPr id="171" name="Shape 9"/>
          <p:cNvSpPr/>
          <p:nvPr/>
        </p:nvSpPr>
        <p:spPr>
          <a:xfrm>
            <a:off x="2481120" y="1828800"/>
            <a:ext cx="1676160" cy="731160"/>
          </a:xfrm>
          <a:prstGeom prst="chevron">
            <a:avLst>
              <a:gd name="adj" fmla="val 50000"/>
            </a:avLst>
          </a:prstGeom>
          <a:solidFill>
            <a:srgbClr val="FFFFFF"/>
          </a:solidFill>
          <a:ln w="12700">
            <a:solidFill>
              <a:srgbClr val="10B981"/>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172" name="Text 10"/>
          <p:cNvSpPr/>
          <p:nvPr/>
        </p:nvSpPr>
        <p:spPr>
          <a:xfrm>
            <a:off x="2554200" y="2039040"/>
            <a:ext cx="1529640" cy="25560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20" b="1" u="none" strike="noStrike">
                <a:solidFill>
                  <a:srgbClr val="0F172A"/>
                </a:solidFill>
                <a:effectLst/>
                <a:uFillTx/>
                <a:latin typeface="Aptos"/>
              </a:rPr>
              <a:t>Einloggen</a:t>
            </a:r>
            <a:endParaRPr lang="de-DE" sz="920" b="0" u="none" strike="noStrike">
              <a:solidFill>
                <a:srgbClr val="000000"/>
              </a:solidFill>
              <a:effectLst/>
              <a:uFillTx/>
              <a:latin typeface="Arial"/>
            </a:endParaRPr>
          </a:p>
        </p:txBody>
      </p:sp>
      <p:sp>
        <p:nvSpPr>
          <p:cNvPr id="173" name="Shape 11"/>
          <p:cNvSpPr/>
          <p:nvPr/>
        </p:nvSpPr>
        <p:spPr>
          <a:xfrm>
            <a:off x="4322160" y="1828800"/>
            <a:ext cx="1676160" cy="731160"/>
          </a:xfrm>
          <a:prstGeom prst="chevron">
            <a:avLst>
              <a:gd name="adj" fmla="val 50000"/>
            </a:avLst>
          </a:prstGeom>
          <a:solidFill>
            <a:srgbClr val="FFFFFF"/>
          </a:solidFill>
          <a:ln w="12700">
            <a:solidFill>
              <a:srgbClr val="10B981"/>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174" name="Text 12"/>
          <p:cNvSpPr/>
          <p:nvPr/>
        </p:nvSpPr>
        <p:spPr>
          <a:xfrm>
            <a:off x="4395240" y="2039040"/>
            <a:ext cx="1529640" cy="25560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20" b="1" u="none" strike="noStrike">
                <a:solidFill>
                  <a:srgbClr val="0F172A"/>
                </a:solidFill>
                <a:effectLst/>
                <a:uFillTx/>
                <a:latin typeface="Aptos"/>
              </a:rPr>
              <a:t>Finanzdaten erfassen</a:t>
            </a:r>
            <a:endParaRPr lang="de-DE" sz="920" b="0" u="none" strike="noStrike">
              <a:solidFill>
                <a:srgbClr val="000000"/>
              </a:solidFill>
              <a:effectLst/>
              <a:uFillTx/>
              <a:latin typeface="Arial"/>
            </a:endParaRPr>
          </a:p>
        </p:txBody>
      </p:sp>
      <p:sp>
        <p:nvSpPr>
          <p:cNvPr id="175" name="Shape 13"/>
          <p:cNvSpPr/>
          <p:nvPr/>
        </p:nvSpPr>
        <p:spPr>
          <a:xfrm>
            <a:off x="6163200" y="1828800"/>
            <a:ext cx="1676160" cy="731160"/>
          </a:xfrm>
          <a:prstGeom prst="chevron">
            <a:avLst>
              <a:gd name="adj" fmla="val 50000"/>
            </a:avLst>
          </a:prstGeom>
          <a:solidFill>
            <a:srgbClr val="FFFFFF"/>
          </a:solidFill>
          <a:ln w="12700">
            <a:solidFill>
              <a:srgbClr val="10B981"/>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176" name="Text 14"/>
          <p:cNvSpPr/>
          <p:nvPr/>
        </p:nvSpPr>
        <p:spPr>
          <a:xfrm>
            <a:off x="6236280" y="2039040"/>
            <a:ext cx="1529640" cy="25560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20" b="1" u="none" strike="noStrike">
                <a:solidFill>
                  <a:srgbClr val="0F172A"/>
                </a:solidFill>
                <a:effectLst/>
                <a:uFillTx/>
                <a:latin typeface="Aptos"/>
              </a:rPr>
              <a:t>Ziele planen</a:t>
            </a:r>
            <a:endParaRPr lang="de-DE" sz="920" b="0" u="none" strike="noStrike">
              <a:solidFill>
                <a:srgbClr val="000000"/>
              </a:solidFill>
              <a:effectLst/>
              <a:uFillTx/>
              <a:latin typeface="Arial"/>
            </a:endParaRPr>
          </a:p>
        </p:txBody>
      </p:sp>
      <p:sp>
        <p:nvSpPr>
          <p:cNvPr id="177" name="Shape 15"/>
          <p:cNvSpPr/>
          <p:nvPr/>
        </p:nvSpPr>
        <p:spPr>
          <a:xfrm>
            <a:off x="8003880" y="1828800"/>
            <a:ext cx="1676160" cy="731160"/>
          </a:xfrm>
          <a:prstGeom prst="chevron">
            <a:avLst>
              <a:gd name="adj" fmla="val 50000"/>
            </a:avLst>
          </a:prstGeom>
          <a:solidFill>
            <a:srgbClr val="FFFFFF"/>
          </a:solidFill>
          <a:ln w="12700">
            <a:solidFill>
              <a:srgbClr val="10B981"/>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178" name="Text 16"/>
          <p:cNvSpPr/>
          <p:nvPr/>
        </p:nvSpPr>
        <p:spPr>
          <a:xfrm>
            <a:off x="8077320" y="2039040"/>
            <a:ext cx="1529640" cy="25560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20" b="1" u="none" strike="noStrike">
                <a:solidFill>
                  <a:srgbClr val="0F172A"/>
                </a:solidFill>
                <a:effectLst/>
                <a:uFillTx/>
                <a:latin typeface="Aptos"/>
              </a:rPr>
              <a:t>Prognose ansehen</a:t>
            </a:r>
            <a:endParaRPr lang="de-DE" sz="920" b="0" u="none" strike="noStrike">
              <a:solidFill>
                <a:srgbClr val="000000"/>
              </a:solidFill>
              <a:effectLst/>
              <a:uFillTx/>
              <a:latin typeface="Arial"/>
            </a:endParaRPr>
          </a:p>
        </p:txBody>
      </p:sp>
      <p:sp>
        <p:nvSpPr>
          <p:cNvPr id="179" name="Shape 17"/>
          <p:cNvSpPr/>
          <p:nvPr/>
        </p:nvSpPr>
        <p:spPr>
          <a:xfrm>
            <a:off x="9844920" y="1828800"/>
            <a:ext cx="1676160" cy="731160"/>
          </a:xfrm>
          <a:prstGeom prst="chevron">
            <a:avLst>
              <a:gd name="adj" fmla="val 50000"/>
            </a:avLst>
          </a:prstGeom>
          <a:solidFill>
            <a:srgbClr val="FFFFFF"/>
          </a:solidFill>
          <a:ln w="12700">
            <a:solidFill>
              <a:srgbClr val="10B981"/>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180" name="Text 18"/>
          <p:cNvSpPr/>
          <p:nvPr/>
        </p:nvSpPr>
        <p:spPr>
          <a:xfrm>
            <a:off x="9918360" y="2039040"/>
            <a:ext cx="1529640" cy="25560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20" b="1" u="none" strike="noStrike">
                <a:solidFill>
                  <a:srgbClr val="0F172A"/>
                </a:solidFill>
                <a:effectLst/>
                <a:uFillTx/>
                <a:latin typeface="Aptos"/>
              </a:rPr>
              <a:t>Hilfe nutzen</a:t>
            </a:r>
            <a:endParaRPr lang="de-DE" sz="920" b="0" u="none" strike="noStrike">
              <a:solidFill>
                <a:srgbClr val="000000"/>
              </a:solidFill>
              <a:effectLst/>
              <a:uFillTx/>
              <a:latin typeface="Arial"/>
            </a:endParaRPr>
          </a:p>
        </p:txBody>
      </p:sp>
      <p:sp>
        <p:nvSpPr>
          <p:cNvPr id="181" name="Shape 19"/>
          <p:cNvSpPr/>
          <p:nvPr/>
        </p:nvSpPr>
        <p:spPr>
          <a:xfrm>
            <a:off x="914400" y="3429000"/>
            <a:ext cx="3657240" cy="1325520"/>
          </a:xfrm>
          <a:prstGeom prst="roundRect">
            <a:avLst>
              <a:gd name="adj" fmla="val 5517"/>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182" name="Text 20"/>
          <p:cNvSpPr/>
          <p:nvPr/>
        </p:nvSpPr>
        <p:spPr>
          <a:xfrm>
            <a:off x="1078920" y="3593520"/>
            <a:ext cx="41112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10B981"/>
                </a:solidFill>
                <a:effectLst/>
                <a:uFillTx/>
                <a:latin typeface="Aptos"/>
              </a:rPr>
              <a:t>✓</a:t>
            </a:r>
            <a:endParaRPr lang="de-DE" sz="1800" b="0" u="none" strike="noStrike">
              <a:solidFill>
                <a:srgbClr val="000000"/>
              </a:solidFill>
              <a:effectLst/>
              <a:uFillTx/>
              <a:latin typeface="Arial"/>
            </a:endParaRPr>
          </a:p>
        </p:txBody>
      </p:sp>
      <p:sp>
        <p:nvSpPr>
          <p:cNvPr id="183" name="Text 21"/>
          <p:cNvSpPr/>
          <p:nvPr/>
        </p:nvSpPr>
        <p:spPr>
          <a:xfrm>
            <a:off x="1572840" y="3611880"/>
            <a:ext cx="283428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Leitgedanke</a:t>
            </a:r>
            <a:endParaRPr lang="de-DE" sz="1350" b="0" u="none" strike="noStrike">
              <a:solidFill>
                <a:srgbClr val="000000"/>
              </a:solidFill>
              <a:effectLst/>
              <a:uFillTx/>
              <a:latin typeface="Arial"/>
            </a:endParaRPr>
          </a:p>
        </p:txBody>
      </p:sp>
      <p:sp>
        <p:nvSpPr>
          <p:cNvPr id="184" name="Text 22"/>
          <p:cNvSpPr/>
          <p:nvPr/>
        </p:nvSpPr>
        <p:spPr>
          <a:xfrm>
            <a:off x="1115640" y="4087440"/>
            <a:ext cx="3254760" cy="5025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60" b="0" u="none" strike="noStrike">
                <a:solidFill>
                  <a:srgbClr val="334155"/>
                </a:solidFill>
                <a:effectLst/>
                <a:uFillTx/>
                <a:latin typeface="Aptos"/>
              </a:rPr>
              <a:t>Die Anwendung soll nicht nur Daten speichern, sondern Entscheidungen verständlicher machen.</a:t>
            </a:r>
            <a:endParaRPr lang="de-DE" sz="960" b="0" u="none" strike="noStrike">
              <a:solidFill>
                <a:srgbClr val="000000"/>
              </a:solidFill>
              <a:effectLst/>
              <a:uFillTx/>
              <a:latin typeface="Arial"/>
            </a:endParaRPr>
          </a:p>
        </p:txBody>
      </p:sp>
      <p:sp>
        <p:nvSpPr>
          <p:cNvPr id="185" name="Shape 23"/>
          <p:cNvSpPr/>
          <p:nvPr/>
        </p:nvSpPr>
        <p:spPr>
          <a:xfrm>
            <a:off x="4937760" y="3429000"/>
            <a:ext cx="3657240" cy="1325520"/>
          </a:xfrm>
          <a:prstGeom prst="roundRect">
            <a:avLst>
              <a:gd name="adj" fmla="val 5517"/>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186" name="Text 24"/>
          <p:cNvSpPr/>
          <p:nvPr/>
        </p:nvSpPr>
        <p:spPr>
          <a:xfrm>
            <a:off x="5102280" y="3593520"/>
            <a:ext cx="41112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2563EB"/>
                </a:solidFill>
                <a:effectLst/>
                <a:uFillTx/>
                <a:latin typeface="Aptos"/>
              </a:rPr>
              <a:t>👁</a:t>
            </a:r>
            <a:endParaRPr lang="de-DE" sz="1800" b="0" u="none" strike="noStrike">
              <a:solidFill>
                <a:srgbClr val="000000"/>
              </a:solidFill>
              <a:effectLst/>
              <a:uFillTx/>
              <a:latin typeface="Arial"/>
            </a:endParaRPr>
          </a:p>
        </p:txBody>
      </p:sp>
      <p:sp>
        <p:nvSpPr>
          <p:cNvPr id="187" name="Text 25"/>
          <p:cNvSpPr/>
          <p:nvPr/>
        </p:nvSpPr>
        <p:spPr>
          <a:xfrm>
            <a:off x="5596200" y="3611880"/>
            <a:ext cx="283428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Anforderung an UX</a:t>
            </a:r>
            <a:endParaRPr lang="de-DE" sz="1350" b="0" u="none" strike="noStrike">
              <a:solidFill>
                <a:srgbClr val="000000"/>
              </a:solidFill>
              <a:effectLst/>
              <a:uFillTx/>
              <a:latin typeface="Arial"/>
            </a:endParaRPr>
          </a:p>
        </p:txBody>
      </p:sp>
      <p:sp>
        <p:nvSpPr>
          <p:cNvPr id="188" name="Text 26"/>
          <p:cNvSpPr/>
          <p:nvPr/>
        </p:nvSpPr>
        <p:spPr>
          <a:xfrm>
            <a:off x="5139000" y="4087440"/>
            <a:ext cx="3254760" cy="5025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60" b="0" u="none" strike="noStrike">
                <a:solidFill>
                  <a:srgbClr val="334155"/>
                </a:solidFill>
                <a:effectLst/>
                <a:uFillTx/>
                <a:latin typeface="Aptos"/>
              </a:rPr>
              <a:t>Jeder Schritt muss ohne technisches Vorwissen nachvollziehbar sein.</a:t>
            </a:r>
            <a:endParaRPr lang="de-DE" sz="96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189" name="Shape 0"/>
          <p:cNvSpPr/>
          <p:nvPr/>
        </p:nvSpPr>
        <p:spPr>
          <a:xfrm>
            <a:off x="0" y="0"/>
            <a:ext cx="12191400" cy="6857640"/>
          </a:xfrm>
          <a:prstGeom prst="rect">
            <a:avLst/>
          </a:prstGeom>
          <a:solidFill>
            <a:srgbClr val="F8FAFC"/>
          </a:solidFill>
          <a:ln w="12700">
            <a:solidFill>
              <a:srgbClr val="F8FAFC">
                <a:alpha val="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190" name="Shape 1"/>
          <p:cNvSpPr/>
          <p:nvPr/>
        </p:nvSpPr>
        <p:spPr>
          <a:xfrm>
            <a:off x="0" y="0"/>
            <a:ext cx="109440" cy="6857640"/>
          </a:xfrm>
          <a:prstGeom prst="rect">
            <a:avLst/>
          </a:prstGeom>
          <a:solidFill>
            <a:srgbClr val="10B981"/>
          </a:solidFill>
          <a:ln w="12700">
            <a:solidFill>
              <a:srgbClr val="10B981"/>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191" name="Text 2"/>
          <p:cNvSpPr/>
          <p:nvPr/>
        </p:nvSpPr>
        <p:spPr>
          <a:xfrm>
            <a:off x="594360" y="384120"/>
            <a:ext cx="9052200" cy="438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0F172A"/>
                </a:solidFill>
                <a:effectLst/>
                <a:uFillTx/>
                <a:latin typeface="Aptos Display"/>
                <a:ea typeface="Aptos Display"/>
              </a:rPr>
              <a:t>Abnahmekriterien für den Prototyp</a:t>
            </a:r>
            <a:endParaRPr lang="de-DE" sz="2400" b="0" u="none" strike="noStrike">
              <a:solidFill>
                <a:srgbClr val="000000"/>
              </a:solidFill>
              <a:effectLst/>
              <a:uFillTx/>
              <a:latin typeface="Arial"/>
            </a:endParaRPr>
          </a:p>
        </p:txBody>
      </p:sp>
      <p:sp>
        <p:nvSpPr>
          <p:cNvPr id="192" name="Text 3"/>
          <p:cNvSpPr/>
          <p:nvPr/>
        </p:nvSpPr>
        <p:spPr>
          <a:xfrm>
            <a:off x="612720" y="850320"/>
            <a:ext cx="96008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4748B"/>
                </a:solidFill>
                <a:effectLst/>
                <a:uFillTx/>
                <a:latin typeface="Aptos"/>
              </a:rPr>
              <a:t>Woran das Team erkennt, dass der Kern funktioniert</a:t>
            </a:r>
            <a:endParaRPr lang="de-DE" sz="950" b="0" u="none" strike="noStrike">
              <a:solidFill>
                <a:srgbClr val="000000"/>
              </a:solidFill>
              <a:effectLst/>
              <a:uFillTx/>
              <a:latin typeface="Arial"/>
            </a:endParaRPr>
          </a:p>
        </p:txBody>
      </p:sp>
      <p:sp>
        <p:nvSpPr>
          <p:cNvPr id="193" name="Shape 4"/>
          <p:cNvSpPr/>
          <p:nvPr/>
        </p:nvSpPr>
        <p:spPr>
          <a:xfrm>
            <a:off x="502920" y="6473880"/>
            <a:ext cx="11201400" cy="360"/>
          </a:xfrm>
          <a:prstGeom prst="line">
            <a:avLst/>
          </a:prstGeom>
          <a:ln w="7620">
            <a:solidFill>
              <a:srgbClr val="CBD5E1">
                <a:alpha val="70000"/>
              </a:srgbClr>
            </a:solidFill>
            <a:round/>
          </a:ln>
        </p:spPr>
        <p:style>
          <a:lnRef idx="0"/>
          <a:fillRef idx="0"/>
          <a:effectRef idx="0"/>
          <a:fontRef idx="minor"/>
        </p:style>
        <p:txBody>
          <a:bodyPr lIns="90000" tIns="-44640" rIns="90000" bIns="-44640" anchor="t" anchorCtr="1">
            <a:noAutofit/>
          </a:bodyPr>
          <a:p>
            <a:endParaRPr lang="de-DE" sz="1800" b="0" u="none" strike="noStrike">
              <a:solidFill>
                <a:srgbClr val="000000"/>
              </a:solidFill>
              <a:effectLst/>
              <a:uFillTx/>
              <a:latin typeface="Arial"/>
            </a:endParaRPr>
          </a:p>
        </p:txBody>
      </p:sp>
      <p:sp>
        <p:nvSpPr>
          <p:cNvPr id="194" name="Text 5"/>
          <p:cNvSpPr/>
          <p:nvPr/>
        </p:nvSpPr>
        <p:spPr>
          <a:xfrm>
            <a:off x="567000" y="6519600"/>
            <a:ext cx="530316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4748B"/>
                </a:solidFill>
                <a:effectLst/>
                <a:uFillTx/>
                <a:latin typeface="Aptos"/>
                <a:ea typeface="Aptos"/>
              </a:rPr>
              <a:t>Teil 1 · Projektidee &amp; Anforderungen</a:t>
            </a:r>
            <a:endParaRPr lang="de-DE" sz="750" b="0" u="none" strike="noStrike">
              <a:solidFill>
                <a:srgbClr val="000000"/>
              </a:solidFill>
              <a:effectLst/>
              <a:uFillTx/>
              <a:latin typeface="Arial"/>
            </a:endParaRPr>
          </a:p>
        </p:txBody>
      </p:sp>
      <p:sp>
        <p:nvSpPr>
          <p:cNvPr id="195" name="Text 6"/>
          <p:cNvSpPr/>
          <p:nvPr/>
        </p:nvSpPr>
        <p:spPr>
          <a:xfrm>
            <a:off x="11201400" y="6519600"/>
            <a:ext cx="45684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50" b="0" u="none" strike="noStrike">
                <a:solidFill>
                  <a:srgbClr val="64748B"/>
                </a:solidFill>
                <a:effectLst/>
                <a:uFillTx/>
                <a:latin typeface="Aptos"/>
                <a:ea typeface="Aptos"/>
              </a:rPr>
              <a:t>09</a:t>
            </a:r>
            <a:endParaRPr lang="de-DE" sz="750" b="0" u="none" strike="noStrike">
              <a:solidFill>
                <a:srgbClr val="000000"/>
              </a:solidFill>
              <a:effectLst/>
              <a:uFillTx/>
              <a:latin typeface="Arial"/>
            </a:endParaRPr>
          </a:p>
        </p:txBody>
      </p:sp>
      <p:sp>
        <p:nvSpPr>
          <p:cNvPr id="196" name="Text 7"/>
          <p:cNvSpPr/>
          <p:nvPr/>
        </p:nvSpPr>
        <p:spPr>
          <a:xfrm>
            <a:off x="868680" y="1508760"/>
            <a:ext cx="5851800" cy="420588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pPr>
            <a:r>
              <a:rPr lang="en-US" sz="1320" b="0" u="none" strike="noStrike">
                <a:solidFill>
                  <a:srgbClr val="334155"/>
                </a:solidFill>
                <a:effectLst/>
                <a:uFillTx/>
                <a:latin typeface="Aptos"/>
              </a:rPr>
              <a:t>Registrierung und Login funktionieren reproduzierbar</a:t>
            </a:r>
            <a:endParaRPr lang="de-DE" sz="1320" b="0" u="none" strike="noStrike">
              <a:solidFill>
                <a:srgbClr val="000000"/>
              </a:solidFill>
              <a:effectLst/>
              <a:uFillTx/>
              <a:latin typeface="Arial"/>
            </a:endParaRPr>
          </a:p>
          <a:p>
            <a:pPr defTabSz="914400">
              <a:lnSpc>
                <a:spcPct val="100000"/>
              </a:lnSpc>
            </a:pPr>
            <a:r>
              <a:rPr lang="en-US" sz="1320" b="0" u="none" strike="noStrike">
                <a:solidFill>
                  <a:srgbClr val="334155"/>
                </a:solidFill>
                <a:effectLst/>
                <a:uFillTx/>
                <a:latin typeface="Aptos"/>
              </a:rPr>
              <a:t>Finanzdaten werden nach dem Speichern erneut angezeigt</a:t>
            </a:r>
            <a:endParaRPr lang="de-DE" sz="1320" b="0" u="none" strike="noStrike">
              <a:solidFill>
                <a:srgbClr val="000000"/>
              </a:solidFill>
              <a:effectLst/>
              <a:uFillTx/>
              <a:latin typeface="Arial"/>
            </a:endParaRPr>
          </a:p>
          <a:p>
            <a:pPr defTabSz="914400">
              <a:lnSpc>
                <a:spcPct val="100000"/>
              </a:lnSpc>
            </a:pPr>
            <a:r>
              <a:rPr lang="en-US" sz="1320" b="0" u="none" strike="noStrike">
                <a:solidFill>
                  <a:srgbClr val="334155"/>
                </a:solidFill>
                <a:effectLst/>
                <a:uFillTx/>
                <a:latin typeface="Aptos"/>
              </a:rPr>
              <a:t>Passwort-Reset erzeugt gültigen Link und aktualisiert das Passwort</a:t>
            </a:r>
            <a:endParaRPr lang="de-DE" sz="1320" b="0" u="none" strike="noStrike">
              <a:solidFill>
                <a:srgbClr val="000000"/>
              </a:solidFill>
              <a:effectLst/>
              <a:uFillTx/>
              <a:latin typeface="Arial"/>
            </a:endParaRPr>
          </a:p>
          <a:p>
            <a:pPr defTabSz="914400">
              <a:lnSpc>
                <a:spcPct val="100000"/>
              </a:lnSpc>
            </a:pPr>
            <a:r>
              <a:rPr lang="en-US" sz="1320" b="0" u="none" strike="noStrike">
                <a:solidFill>
                  <a:srgbClr val="334155"/>
                </a:solidFill>
                <a:effectLst/>
                <a:uFillTx/>
                <a:latin typeface="Aptos"/>
              </a:rPr>
              <a:t>FAQ-Seite ist erreichbar und bietet erste Orientierung</a:t>
            </a:r>
            <a:endParaRPr lang="de-DE" sz="1320" b="0" u="none" strike="noStrike">
              <a:solidFill>
                <a:srgbClr val="000000"/>
              </a:solidFill>
              <a:effectLst/>
              <a:uFillTx/>
              <a:latin typeface="Arial"/>
            </a:endParaRPr>
          </a:p>
          <a:p>
            <a:pPr defTabSz="914400">
              <a:lnSpc>
                <a:spcPct val="100000"/>
              </a:lnSpc>
            </a:pPr>
            <a:r>
              <a:rPr lang="en-US" sz="1320" b="0" u="none" strike="noStrike">
                <a:solidFill>
                  <a:srgbClr val="334155"/>
                </a:solidFill>
                <a:effectLst/>
                <a:uFillTx/>
                <a:latin typeface="Aptos"/>
              </a:rPr>
              <a:t>System lässt sich lokal mit Docker starten</a:t>
            </a:r>
            <a:endParaRPr lang="de-DE" sz="1320" b="0" u="none" strike="noStrike">
              <a:solidFill>
                <a:srgbClr val="000000"/>
              </a:solidFill>
              <a:effectLst/>
              <a:uFillTx/>
              <a:latin typeface="Arial"/>
            </a:endParaRPr>
          </a:p>
          <a:p>
            <a:pPr defTabSz="914400">
              <a:lnSpc>
                <a:spcPct val="100000"/>
              </a:lnSpc>
            </a:pPr>
            <a:r>
              <a:rPr lang="en-US" sz="1320" b="0" u="none" strike="noStrike">
                <a:solidFill>
                  <a:srgbClr val="334155"/>
                </a:solidFill>
                <a:effectLst/>
                <a:uFillTx/>
                <a:latin typeface="Aptos"/>
              </a:rPr>
              <a:t>Demo-Ablauf ist ohne kritische Fehler durchführbar</a:t>
            </a:r>
            <a:endParaRPr lang="de-DE" sz="1320" b="0" u="none" strike="noStrike">
              <a:solidFill>
                <a:srgbClr val="000000"/>
              </a:solidFill>
              <a:effectLst/>
              <a:uFillTx/>
              <a:latin typeface="Arial"/>
            </a:endParaRPr>
          </a:p>
        </p:txBody>
      </p:sp>
      <p:sp>
        <p:nvSpPr>
          <p:cNvPr id="197" name="Shape 8"/>
          <p:cNvSpPr/>
          <p:nvPr/>
        </p:nvSpPr>
        <p:spPr>
          <a:xfrm>
            <a:off x="7315200" y="1600200"/>
            <a:ext cx="3382920" cy="1828440"/>
          </a:xfrm>
          <a:prstGeom prst="roundRect">
            <a:avLst>
              <a:gd name="adj" fmla="val 4000"/>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198" name="Text 9"/>
          <p:cNvSpPr/>
          <p:nvPr/>
        </p:nvSpPr>
        <p:spPr>
          <a:xfrm>
            <a:off x="7479720" y="1764720"/>
            <a:ext cx="41112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10B981"/>
                </a:solidFill>
                <a:effectLst/>
                <a:uFillTx/>
                <a:latin typeface="Aptos"/>
              </a:rPr>
              <a:t>→</a:t>
            </a:r>
            <a:endParaRPr lang="de-DE" sz="1800" b="0" u="none" strike="noStrike">
              <a:solidFill>
                <a:srgbClr val="000000"/>
              </a:solidFill>
              <a:effectLst/>
              <a:uFillTx/>
              <a:latin typeface="Arial"/>
            </a:endParaRPr>
          </a:p>
        </p:txBody>
      </p:sp>
      <p:sp>
        <p:nvSpPr>
          <p:cNvPr id="199" name="Text 10"/>
          <p:cNvSpPr/>
          <p:nvPr/>
        </p:nvSpPr>
        <p:spPr>
          <a:xfrm>
            <a:off x="7973640" y="1783080"/>
            <a:ext cx="25599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Übergabe an Person 2</a:t>
            </a:r>
            <a:endParaRPr lang="de-DE" sz="1350" b="0" u="none" strike="noStrike">
              <a:solidFill>
                <a:srgbClr val="000000"/>
              </a:solidFill>
              <a:effectLst/>
              <a:uFillTx/>
              <a:latin typeface="Arial"/>
            </a:endParaRPr>
          </a:p>
        </p:txBody>
      </p:sp>
      <p:sp>
        <p:nvSpPr>
          <p:cNvPr id="200" name="Text 11"/>
          <p:cNvSpPr/>
          <p:nvPr/>
        </p:nvSpPr>
        <p:spPr>
          <a:xfrm>
            <a:off x="7516440" y="2258640"/>
            <a:ext cx="2980440" cy="100548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60" b="0" u="none" strike="noStrike">
                <a:solidFill>
                  <a:srgbClr val="334155"/>
                </a:solidFill>
                <a:effectLst/>
                <a:uFillTx/>
                <a:latin typeface="Aptos"/>
              </a:rPr>
              <a:t>Aus diesen Anforderungen ergibt sich die technische Architektur: Frontend, Backend, Datenbank und Services.</a:t>
            </a:r>
            <a:endParaRPr lang="de-DE" sz="96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201" name="Shape 0"/>
          <p:cNvSpPr/>
          <p:nvPr/>
        </p:nvSpPr>
        <p:spPr>
          <a:xfrm>
            <a:off x="0" y="0"/>
            <a:ext cx="12191400" cy="6857640"/>
          </a:xfrm>
          <a:prstGeom prst="rect">
            <a:avLst/>
          </a:prstGeom>
          <a:solidFill>
            <a:srgbClr val="0F172A"/>
          </a:solidFill>
          <a:ln w="12700">
            <a:solidFill>
              <a:srgbClr val="0F172A"/>
            </a:solidFill>
            <a:round/>
          </a:ln>
        </p:spPr>
        <p:style>
          <a:lnRef idx="0"/>
          <a:fillRef idx="0"/>
          <a:effectRef idx="0"/>
          <a:fontRef idx="minor"/>
        </p:style>
        <p:txBody>
          <a:bodyPr lIns="90000" tIns="45000" rIns="90000" bIns="45000" anchor="t">
            <a:noAutofit/>
          </a:bodyPr>
          <a:p>
            <a:endParaRPr lang="de-DE" sz="1800" b="0" u="none" strike="noStrike">
              <a:solidFill>
                <a:srgbClr val="FFFFFF"/>
              </a:solidFill>
              <a:effectLst/>
              <a:uFillTx/>
              <a:latin typeface="Arial"/>
            </a:endParaRPr>
          </a:p>
        </p:txBody>
      </p:sp>
      <p:sp>
        <p:nvSpPr>
          <p:cNvPr id="202" name="Shape 1"/>
          <p:cNvSpPr/>
          <p:nvPr/>
        </p:nvSpPr>
        <p:spPr>
          <a:xfrm>
            <a:off x="0" y="0"/>
            <a:ext cx="12191400" cy="200880"/>
          </a:xfrm>
          <a:prstGeom prst="rect">
            <a:avLst/>
          </a:prstGeom>
          <a:solidFill>
            <a:srgbClr val="2563EB"/>
          </a:solidFill>
          <a:ln w="12700">
            <a:solidFill>
              <a:srgbClr val="2563EB"/>
            </a:solidFill>
            <a:round/>
          </a:ln>
        </p:spPr>
        <p:style>
          <a:lnRef idx="0"/>
          <a:fillRef idx="0"/>
          <a:effectRef idx="0"/>
          <a:fontRef idx="minor"/>
        </p:style>
        <p:txBody>
          <a:bodyPr lIns="90000" tIns="45000" rIns="90000" bIns="45000" anchor="t">
            <a:noAutofit/>
          </a:bodyPr>
          <a:p>
            <a:endParaRPr lang="de-DE" sz="1800" b="0" u="none" strike="noStrike">
              <a:solidFill>
                <a:srgbClr val="FFFFFF"/>
              </a:solidFill>
              <a:effectLst/>
              <a:uFillTx/>
              <a:latin typeface="Arial"/>
            </a:endParaRPr>
          </a:p>
        </p:txBody>
      </p:sp>
      <p:sp>
        <p:nvSpPr>
          <p:cNvPr id="203" name="Text 2"/>
          <p:cNvSpPr/>
          <p:nvPr/>
        </p:nvSpPr>
        <p:spPr>
          <a:xfrm>
            <a:off x="685800" y="914400"/>
            <a:ext cx="123408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2563EB"/>
                </a:solidFill>
                <a:effectLst/>
                <a:uFillTx/>
                <a:latin typeface="Aptos"/>
              </a:rPr>
              <a:t>Teil 2</a:t>
            </a:r>
            <a:endParaRPr lang="de-DE" sz="1300" b="0" u="none" strike="noStrike">
              <a:solidFill>
                <a:srgbClr val="FFFFFF"/>
              </a:solidFill>
              <a:effectLst/>
              <a:uFillTx/>
              <a:latin typeface="Arial"/>
            </a:endParaRPr>
          </a:p>
        </p:txBody>
      </p:sp>
      <p:sp>
        <p:nvSpPr>
          <p:cNvPr id="204" name="Text 3"/>
          <p:cNvSpPr/>
          <p:nvPr/>
        </p:nvSpPr>
        <p:spPr>
          <a:xfrm>
            <a:off x="685800" y="1325880"/>
            <a:ext cx="8046360" cy="7311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3400" b="1" u="none" strike="noStrike">
                <a:solidFill>
                  <a:srgbClr val="FFFFFF"/>
                </a:solidFill>
                <a:effectLst/>
                <a:uFillTx/>
                <a:latin typeface="Aptos"/>
              </a:rPr>
              <a:t>Technologie &amp; Architektur</a:t>
            </a:r>
            <a:endParaRPr lang="de-DE" sz="3400" b="0" u="none" strike="noStrike">
              <a:solidFill>
                <a:srgbClr val="FFFFFF"/>
              </a:solidFill>
              <a:effectLst/>
              <a:uFillTx/>
              <a:latin typeface="Arial"/>
            </a:endParaRPr>
          </a:p>
        </p:txBody>
      </p:sp>
      <p:sp>
        <p:nvSpPr>
          <p:cNvPr id="205" name="Text 4"/>
          <p:cNvSpPr/>
          <p:nvPr/>
        </p:nvSpPr>
        <p:spPr>
          <a:xfrm>
            <a:off x="713160" y="2176200"/>
            <a:ext cx="50288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CBD5E1"/>
                </a:solidFill>
                <a:effectLst/>
                <a:uFillTx/>
                <a:latin typeface="Aptos"/>
              </a:rPr>
              <a:t>Person 2 · ca. 10 Minuten</a:t>
            </a:r>
            <a:endParaRPr lang="de-DE" sz="1300" b="0" u="none" strike="noStrike">
              <a:solidFill>
                <a:srgbClr val="FFFFFF"/>
              </a:solidFill>
              <a:effectLst/>
              <a:uFillTx/>
              <a:latin typeface="Arial"/>
            </a:endParaRPr>
          </a:p>
        </p:txBody>
      </p:sp>
      <p:sp>
        <p:nvSpPr>
          <p:cNvPr id="206" name="Text 5"/>
          <p:cNvSpPr/>
          <p:nvPr/>
        </p:nvSpPr>
        <p:spPr>
          <a:xfrm>
            <a:off x="9235440" y="1188720"/>
            <a:ext cx="1462680" cy="1279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5800" b="0" u="none" strike="noStrike">
                <a:solidFill>
                  <a:srgbClr val="2563EB"/>
                </a:solidFill>
                <a:effectLst/>
                <a:uFillTx/>
                <a:latin typeface="Aptos"/>
              </a:rPr>
              <a:t>🏗</a:t>
            </a:r>
            <a:endParaRPr lang="de-DE" sz="5800" b="0" u="none" strike="noStrike">
              <a:solidFill>
                <a:srgbClr val="FFFFFF"/>
              </a:solidFill>
              <a:effectLst/>
              <a:uFillTx/>
              <a:latin typeface="Arial"/>
            </a:endParaRPr>
          </a:p>
        </p:txBody>
      </p:sp>
      <p:sp>
        <p:nvSpPr>
          <p:cNvPr id="207" name="Shape 6"/>
          <p:cNvSpPr/>
          <p:nvPr/>
        </p:nvSpPr>
        <p:spPr>
          <a:xfrm>
            <a:off x="713160" y="2816280"/>
            <a:ext cx="10607040" cy="360"/>
          </a:xfrm>
          <a:prstGeom prst="line">
            <a:avLst/>
          </a:prstGeom>
          <a:ln w="12700">
            <a:solidFill>
              <a:srgbClr val="334155"/>
            </a:solidFill>
            <a:round/>
          </a:ln>
        </p:spPr>
        <p:style>
          <a:lnRef idx="0"/>
          <a:fillRef idx="0"/>
          <a:effectRef idx="0"/>
          <a:fontRef idx="minor"/>
        </p:style>
        <p:txBody>
          <a:bodyPr lIns="90000" tIns="-44640" rIns="90000" bIns="-44640" anchor="t" anchorCtr="1">
            <a:noAutofit/>
          </a:bodyPr>
          <a:p>
            <a:endParaRPr lang="de-DE" sz="1800" b="0" u="none" strike="noStrike">
              <a:solidFill>
                <a:srgbClr val="FFFFFF"/>
              </a:solidFill>
              <a:effectLst/>
              <a:uFillTx/>
              <a:latin typeface="Arial"/>
            </a:endParaRPr>
          </a:p>
        </p:txBody>
      </p:sp>
      <p:sp>
        <p:nvSpPr>
          <p:cNvPr id="208" name="Text 7"/>
          <p:cNvSpPr/>
          <p:nvPr/>
        </p:nvSpPr>
        <p:spPr>
          <a:xfrm>
            <a:off x="749880" y="3127320"/>
            <a:ext cx="201132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FFFFFF"/>
                </a:solidFill>
                <a:effectLst/>
                <a:uFillTx/>
                <a:latin typeface="Aptos"/>
              </a:rPr>
              <a:t>Ziel dieses Abschnitts</a:t>
            </a:r>
            <a:endParaRPr lang="de-DE" sz="1200" b="0" u="none" strike="noStrike">
              <a:solidFill>
                <a:srgbClr val="FFFFFF"/>
              </a:solidFill>
              <a:effectLst/>
              <a:uFillTx/>
              <a:latin typeface="Arial"/>
            </a:endParaRPr>
          </a:p>
        </p:txBody>
      </p:sp>
      <p:sp>
        <p:nvSpPr>
          <p:cNvPr id="209" name="Text 8"/>
          <p:cNvSpPr/>
          <p:nvPr/>
        </p:nvSpPr>
        <p:spPr>
          <a:xfrm>
            <a:off x="749880" y="3474720"/>
            <a:ext cx="7497720" cy="59400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600" b="0" u="none" strike="noStrike">
                <a:solidFill>
                  <a:srgbClr val="E2E8F0"/>
                </a:solidFill>
                <a:effectLst/>
                <a:uFillTx/>
                <a:latin typeface="Aptos"/>
              </a:rPr>
              <a:t>Wie ist das System technisch aufgebaut und wie kommunizieren die Komponenten miteinander?</a:t>
            </a:r>
            <a:endParaRPr lang="de-DE" sz="1600" b="0" u="none" strike="noStrike">
              <a:solidFill>
                <a:srgbClr val="FFFFFF"/>
              </a:solidFill>
              <a:effectLst/>
              <a:uFillTx/>
              <a:latin typeface="Arial"/>
            </a:endParaRPr>
          </a:p>
        </p:txBody>
      </p:sp>
      <p:sp>
        <p:nvSpPr>
          <p:cNvPr id="210" name="Text 9"/>
          <p:cNvSpPr/>
          <p:nvPr/>
        </p:nvSpPr>
        <p:spPr>
          <a:xfrm>
            <a:off x="11174040" y="6473880"/>
            <a:ext cx="45684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50" b="0" u="none" strike="noStrike">
                <a:solidFill>
                  <a:srgbClr val="94A3B8"/>
                </a:solidFill>
                <a:effectLst/>
                <a:uFillTx/>
                <a:latin typeface="Aptos"/>
              </a:rPr>
              <a:t>10</a:t>
            </a:r>
            <a:endParaRPr lang="de-DE" sz="7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211" name="Shape 0"/>
          <p:cNvSpPr/>
          <p:nvPr/>
        </p:nvSpPr>
        <p:spPr>
          <a:xfrm>
            <a:off x="0" y="0"/>
            <a:ext cx="12191400" cy="6857640"/>
          </a:xfrm>
          <a:prstGeom prst="rect">
            <a:avLst/>
          </a:prstGeom>
          <a:solidFill>
            <a:srgbClr val="F8FAFC"/>
          </a:solidFill>
          <a:ln w="12700">
            <a:solidFill>
              <a:srgbClr val="F8FAFC">
                <a:alpha val="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212" name="Shape 1"/>
          <p:cNvSpPr/>
          <p:nvPr/>
        </p:nvSpPr>
        <p:spPr>
          <a:xfrm>
            <a:off x="0" y="0"/>
            <a:ext cx="109440" cy="6857640"/>
          </a:xfrm>
          <a:prstGeom prst="rect">
            <a:avLst/>
          </a:prstGeom>
          <a:solidFill>
            <a:srgbClr val="10B981"/>
          </a:solidFill>
          <a:ln w="12700">
            <a:solidFill>
              <a:srgbClr val="10B981"/>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213" name="Text 2"/>
          <p:cNvSpPr/>
          <p:nvPr/>
        </p:nvSpPr>
        <p:spPr>
          <a:xfrm>
            <a:off x="594360" y="384120"/>
            <a:ext cx="9052200" cy="438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0F172A"/>
                </a:solidFill>
                <a:effectLst/>
                <a:uFillTx/>
                <a:latin typeface="Aptos Display"/>
                <a:ea typeface="Aptos Display"/>
              </a:rPr>
              <a:t>Technologie-Stack</a:t>
            </a:r>
            <a:endParaRPr lang="de-DE" sz="2400" b="0" u="none" strike="noStrike">
              <a:solidFill>
                <a:srgbClr val="000000"/>
              </a:solidFill>
              <a:effectLst/>
              <a:uFillTx/>
              <a:latin typeface="Arial"/>
            </a:endParaRPr>
          </a:p>
        </p:txBody>
      </p:sp>
      <p:sp>
        <p:nvSpPr>
          <p:cNvPr id="214" name="Text 3"/>
          <p:cNvSpPr/>
          <p:nvPr/>
        </p:nvSpPr>
        <p:spPr>
          <a:xfrm>
            <a:off x="612720" y="850320"/>
            <a:ext cx="96008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4748B"/>
                </a:solidFill>
                <a:effectLst/>
                <a:uFillTx/>
                <a:latin typeface="Aptos"/>
              </a:rPr>
              <a:t>Frontend, Backend, Datenbank und Laufzeitumgebung</a:t>
            </a:r>
            <a:endParaRPr lang="de-DE" sz="950" b="0" u="none" strike="noStrike">
              <a:solidFill>
                <a:srgbClr val="000000"/>
              </a:solidFill>
              <a:effectLst/>
              <a:uFillTx/>
              <a:latin typeface="Arial"/>
            </a:endParaRPr>
          </a:p>
        </p:txBody>
      </p:sp>
      <p:sp>
        <p:nvSpPr>
          <p:cNvPr id="215" name="Shape 4"/>
          <p:cNvSpPr/>
          <p:nvPr/>
        </p:nvSpPr>
        <p:spPr>
          <a:xfrm>
            <a:off x="502920" y="6473880"/>
            <a:ext cx="11201400" cy="360"/>
          </a:xfrm>
          <a:prstGeom prst="line">
            <a:avLst/>
          </a:prstGeom>
          <a:ln w="7620">
            <a:solidFill>
              <a:srgbClr val="CBD5E1">
                <a:alpha val="70000"/>
              </a:srgbClr>
            </a:solidFill>
            <a:round/>
          </a:ln>
        </p:spPr>
        <p:style>
          <a:lnRef idx="0"/>
          <a:fillRef idx="0"/>
          <a:effectRef idx="0"/>
          <a:fontRef idx="minor"/>
        </p:style>
        <p:txBody>
          <a:bodyPr lIns="90000" tIns="-44640" rIns="90000" bIns="-44640" anchor="t" anchorCtr="1">
            <a:noAutofit/>
          </a:bodyPr>
          <a:p>
            <a:endParaRPr lang="de-DE" sz="1800" b="0" u="none" strike="noStrike">
              <a:solidFill>
                <a:srgbClr val="000000"/>
              </a:solidFill>
              <a:effectLst/>
              <a:uFillTx/>
              <a:latin typeface="Arial"/>
            </a:endParaRPr>
          </a:p>
        </p:txBody>
      </p:sp>
      <p:sp>
        <p:nvSpPr>
          <p:cNvPr id="216" name="Text 5"/>
          <p:cNvSpPr/>
          <p:nvPr/>
        </p:nvSpPr>
        <p:spPr>
          <a:xfrm>
            <a:off x="567000" y="6519600"/>
            <a:ext cx="530316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4748B"/>
                </a:solidFill>
                <a:effectLst/>
                <a:uFillTx/>
                <a:latin typeface="Aptos"/>
                <a:ea typeface="Aptos"/>
              </a:rPr>
              <a:t>Teil 2 · Technologie &amp; Architektur</a:t>
            </a:r>
            <a:endParaRPr lang="de-DE" sz="750" b="0" u="none" strike="noStrike">
              <a:solidFill>
                <a:srgbClr val="000000"/>
              </a:solidFill>
              <a:effectLst/>
              <a:uFillTx/>
              <a:latin typeface="Arial"/>
            </a:endParaRPr>
          </a:p>
        </p:txBody>
      </p:sp>
      <p:sp>
        <p:nvSpPr>
          <p:cNvPr id="217" name="Text 6"/>
          <p:cNvSpPr/>
          <p:nvPr/>
        </p:nvSpPr>
        <p:spPr>
          <a:xfrm>
            <a:off x="11201400" y="6519600"/>
            <a:ext cx="45684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50" b="0" u="none" strike="noStrike">
                <a:solidFill>
                  <a:srgbClr val="64748B"/>
                </a:solidFill>
                <a:effectLst/>
                <a:uFillTx/>
                <a:latin typeface="Aptos"/>
                <a:ea typeface="Aptos"/>
              </a:rPr>
              <a:t>11</a:t>
            </a:r>
            <a:endParaRPr lang="de-DE" sz="750" b="0" u="none" strike="noStrike">
              <a:solidFill>
                <a:srgbClr val="000000"/>
              </a:solidFill>
              <a:effectLst/>
              <a:uFillTx/>
              <a:latin typeface="Arial"/>
            </a:endParaRPr>
          </a:p>
        </p:txBody>
      </p:sp>
      <p:sp>
        <p:nvSpPr>
          <p:cNvPr id="218" name="Shape 7"/>
          <p:cNvSpPr/>
          <p:nvPr/>
        </p:nvSpPr>
        <p:spPr>
          <a:xfrm>
            <a:off x="731520" y="1417320"/>
            <a:ext cx="2559960" cy="3520080"/>
          </a:xfrm>
          <a:prstGeom prst="roundRect">
            <a:avLst>
              <a:gd name="adj" fmla="val 2857"/>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219" name="Text 8"/>
          <p:cNvSpPr/>
          <p:nvPr/>
        </p:nvSpPr>
        <p:spPr>
          <a:xfrm>
            <a:off x="896040" y="1581840"/>
            <a:ext cx="41112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2563EB"/>
                </a:solidFill>
                <a:effectLst/>
                <a:uFillTx/>
                <a:latin typeface="Aptos"/>
              </a:rPr>
              <a:t>⚛</a:t>
            </a:r>
            <a:endParaRPr lang="de-DE" sz="1800" b="0" u="none" strike="noStrike">
              <a:solidFill>
                <a:srgbClr val="000000"/>
              </a:solidFill>
              <a:effectLst/>
              <a:uFillTx/>
              <a:latin typeface="Arial"/>
            </a:endParaRPr>
          </a:p>
        </p:txBody>
      </p:sp>
      <p:sp>
        <p:nvSpPr>
          <p:cNvPr id="220" name="Text 9"/>
          <p:cNvSpPr/>
          <p:nvPr/>
        </p:nvSpPr>
        <p:spPr>
          <a:xfrm>
            <a:off x="1389960" y="1600200"/>
            <a:ext cx="173700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React + Vite</a:t>
            </a:r>
            <a:endParaRPr lang="de-DE" sz="1350" b="0" u="none" strike="noStrike">
              <a:solidFill>
                <a:srgbClr val="000000"/>
              </a:solidFill>
              <a:effectLst/>
              <a:uFillTx/>
              <a:latin typeface="Arial"/>
            </a:endParaRPr>
          </a:p>
        </p:txBody>
      </p:sp>
      <p:sp>
        <p:nvSpPr>
          <p:cNvPr id="221" name="Text 10"/>
          <p:cNvSpPr/>
          <p:nvPr/>
        </p:nvSpPr>
        <p:spPr>
          <a:xfrm>
            <a:off x="932760" y="2075760"/>
            <a:ext cx="2157480" cy="26971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60" b="0" u="none" strike="noStrike">
                <a:solidFill>
                  <a:srgbClr val="334155"/>
                </a:solidFill>
                <a:effectLst/>
                <a:uFillTx/>
                <a:latin typeface="Aptos"/>
              </a:rPr>
              <a:t>Komponentenbasierte Oberfläche, schneller Entwicklungsserver auf Port 5173.</a:t>
            </a:r>
            <a:endParaRPr lang="de-DE" sz="960" b="0" u="none" strike="noStrike">
              <a:solidFill>
                <a:srgbClr val="000000"/>
              </a:solidFill>
              <a:effectLst/>
              <a:uFillTx/>
              <a:latin typeface="Arial"/>
            </a:endParaRPr>
          </a:p>
        </p:txBody>
      </p:sp>
      <p:sp>
        <p:nvSpPr>
          <p:cNvPr id="222" name="Shape 11"/>
          <p:cNvSpPr/>
          <p:nvPr/>
        </p:nvSpPr>
        <p:spPr>
          <a:xfrm>
            <a:off x="3611880" y="1417320"/>
            <a:ext cx="2559960" cy="3520080"/>
          </a:xfrm>
          <a:prstGeom prst="roundRect">
            <a:avLst>
              <a:gd name="adj" fmla="val 2857"/>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223" name="Text 12"/>
          <p:cNvSpPr/>
          <p:nvPr/>
        </p:nvSpPr>
        <p:spPr>
          <a:xfrm>
            <a:off x="3776400" y="1581840"/>
            <a:ext cx="41112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10B981"/>
                </a:solidFill>
                <a:effectLst/>
                <a:uFillTx/>
                <a:latin typeface="Aptos"/>
              </a:rPr>
              <a:t>🐍</a:t>
            </a:r>
            <a:endParaRPr lang="de-DE" sz="1800" b="0" u="none" strike="noStrike">
              <a:solidFill>
                <a:srgbClr val="000000"/>
              </a:solidFill>
              <a:effectLst/>
              <a:uFillTx/>
              <a:latin typeface="Arial"/>
            </a:endParaRPr>
          </a:p>
        </p:txBody>
      </p:sp>
      <p:sp>
        <p:nvSpPr>
          <p:cNvPr id="224" name="Text 13"/>
          <p:cNvSpPr/>
          <p:nvPr/>
        </p:nvSpPr>
        <p:spPr>
          <a:xfrm>
            <a:off x="4270320" y="1600200"/>
            <a:ext cx="173700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Flask</a:t>
            </a:r>
            <a:endParaRPr lang="de-DE" sz="1350" b="0" u="none" strike="noStrike">
              <a:solidFill>
                <a:srgbClr val="000000"/>
              </a:solidFill>
              <a:effectLst/>
              <a:uFillTx/>
              <a:latin typeface="Arial"/>
            </a:endParaRPr>
          </a:p>
        </p:txBody>
      </p:sp>
      <p:sp>
        <p:nvSpPr>
          <p:cNvPr id="225" name="Text 14"/>
          <p:cNvSpPr/>
          <p:nvPr/>
        </p:nvSpPr>
        <p:spPr>
          <a:xfrm>
            <a:off x="3813120" y="2075760"/>
            <a:ext cx="2157480" cy="26971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60" b="0" u="none" strike="noStrike">
                <a:solidFill>
                  <a:srgbClr val="334155"/>
                </a:solidFill>
                <a:effectLst/>
                <a:uFillTx/>
                <a:latin typeface="Aptos"/>
              </a:rPr>
              <a:t>Leichtgewichtiges Python-Backend mit modularen Blueprints.</a:t>
            </a:r>
            <a:endParaRPr lang="de-DE" sz="960" b="0" u="none" strike="noStrike">
              <a:solidFill>
                <a:srgbClr val="000000"/>
              </a:solidFill>
              <a:effectLst/>
              <a:uFillTx/>
              <a:latin typeface="Arial"/>
            </a:endParaRPr>
          </a:p>
        </p:txBody>
      </p:sp>
      <p:sp>
        <p:nvSpPr>
          <p:cNvPr id="226" name="Shape 15"/>
          <p:cNvSpPr/>
          <p:nvPr/>
        </p:nvSpPr>
        <p:spPr>
          <a:xfrm>
            <a:off x="6492240" y="1417320"/>
            <a:ext cx="2559960" cy="3520080"/>
          </a:xfrm>
          <a:prstGeom prst="roundRect">
            <a:avLst>
              <a:gd name="adj" fmla="val 2857"/>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227" name="Text 16"/>
          <p:cNvSpPr/>
          <p:nvPr/>
        </p:nvSpPr>
        <p:spPr>
          <a:xfrm>
            <a:off x="6656760" y="1581840"/>
            <a:ext cx="41112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F59E0B"/>
                </a:solidFill>
                <a:effectLst/>
                <a:uFillTx/>
                <a:latin typeface="Aptos"/>
              </a:rPr>
              <a:t>🗄</a:t>
            </a:r>
            <a:endParaRPr lang="de-DE" sz="1800" b="0" u="none" strike="noStrike">
              <a:solidFill>
                <a:srgbClr val="000000"/>
              </a:solidFill>
              <a:effectLst/>
              <a:uFillTx/>
              <a:latin typeface="Arial"/>
            </a:endParaRPr>
          </a:p>
        </p:txBody>
      </p:sp>
      <p:sp>
        <p:nvSpPr>
          <p:cNvPr id="228" name="Text 17"/>
          <p:cNvSpPr/>
          <p:nvPr/>
        </p:nvSpPr>
        <p:spPr>
          <a:xfrm>
            <a:off x="7150680" y="1600200"/>
            <a:ext cx="173700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Supabase/PostgreSQL</a:t>
            </a:r>
            <a:endParaRPr lang="de-DE" sz="1350" b="0" u="none" strike="noStrike">
              <a:solidFill>
                <a:srgbClr val="000000"/>
              </a:solidFill>
              <a:effectLst/>
              <a:uFillTx/>
              <a:latin typeface="Arial"/>
            </a:endParaRPr>
          </a:p>
        </p:txBody>
      </p:sp>
      <p:sp>
        <p:nvSpPr>
          <p:cNvPr id="229" name="Text 18"/>
          <p:cNvSpPr/>
          <p:nvPr/>
        </p:nvSpPr>
        <p:spPr>
          <a:xfrm>
            <a:off x="6693480" y="2075760"/>
            <a:ext cx="2157480" cy="26971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60" b="0" u="none" strike="noStrike">
                <a:solidFill>
                  <a:srgbClr val="334155"/>
                </a:solidFill>
                <a:effectLst/>
                <a:uFillTx/>
                <a:latin typeface="Aptos"/>
              </a:rPr>
              <a:t>Relationale Speicherung der Benutzer- und Finanzdaten.</a:t>
            </a:r>
            <a:endParaRPr lang="de-DE" sz="960" b="0" u="none" strike="noStrike">
              <a:solidFill>
                <a:srgbClr val="000000"/>
              </a:solidFill>
              <a:effectLst/>
              <a:uFillTx/>
              <a:latin typeface="Arial"/>
            </a:endParaRPr>
          </a:p>
        </p:txBody>
      </p:sp>
      <p:sp>
        <p:nvSpPr>
          <p:cNvPr id="230" name="Shape 19"/>
          <p:cNvSpPr/>
          <p:nvPr/>
        </p:nvSpPr>
        <p:spPr>
          <a:xfrm>
            <a:off x="9372600" y="1417320"/>
            <a:ext cx="2102760" cy="3520080"/>
          </a:xfrm>
          <a:prstGeom prst="roundRect">
            <a:avLst>
              <a:gd name="adj" fmla="val 3478"/>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231" name="Text 20"/>
          <p:cNvSpPr/>
          <p:nvPr/>
        </p:nvSpPr>
        <p:spPr>
          <a:xfrm>
            <a:off x="9537120" y="1581840"/>
            <a:ext cx="41112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334155"/>
                </a:solidFill>
                <a:effectLst/>
                <a:uFillTx/>
                <a:latin typeface="Aptos"/>
              </a:rPr>
              <a:t>🐳</a:t>
            </a:r>
            <a:endParaRPr lang="de-DE" sz="1800" b="0" u="none" strike="noStrike">
              <a:solidFill>
                <a:srgbClr val="000000"/>
              </a:solidFill>
              <a:effectLst/>
              <a:uFillTx/>
              <a:latin typeface="Arial"/>
            </a:endParaRPr>
          </a:p>
        </p:txBody>
      </p:sp>
      <p:sp>
        <p:nvSpPr>
          <p:cNvPr id="232" name="Text 21"/>
          <p:cNvSpPr/>
          <p:nvPr/>
        </p:nvSpPr>
        <p:spPr>
          <a:xfrm>
            <a:off x="10031040" y="1600200"/>
            <a:ext cx="127980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Docker</a:t>
            </a:r>
            <a:endParaRPr lang="de-DE" sz="1350" b="0" u="none" strike="noStrike">
              <a:solidFill>
                <a:srgbClr val="000000"/>
              </a:solidFill>
              <a:effectLst/>
              <a:uFillTx/>
              <a:latin typeface="Arial"/>
            </a:endParaRPr>
          </a:p>
        </p:txBody>
      </p:sp>
      <p:sp>
        <p:nvSpPr>
          <p:cNvPr id="233" name="Text 22"/>
          <p:cNvSpPr/>
          <p:nvPr/>
        </p:nvSpPr>
        <p:spPr>
          <a:xfrm>
            <a:off x="9573840" y="2075760"/>
            <a:ext cx="1700280" cy="26971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60" b="0" u="none" strike="noStrike">
                <a:solidFill>
                  <a:srgbClr val="334155"/>
                </a:solidFill>
                <a:effectLst/>
                <a:uFillTx/>
                <a:latin typeface="Aptos"/>
              </a:rPr>
              <a:t>Reproduzierbarer Start von Frontend und Backend.</a:t>
            </a:r>
            <a:endParaRPr lang="de-DE" sz="96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234" name="Shape 0"/>
          <p:cNvSpPr/>
          <p:nvPr/>
        </p:nvSpPr>
        <p:spPr>
          <a:xfrm>
            <a:off x="0" y="0"/>
            <a:ext cx="12191400" cy="6857640"/>
          </a:xfrm>
          <a:prstGeom prst="rect">
            <a:avLst/>
          </a:prstGeom>
          <a:solidFill>
            <a:srgbClr val="F8FAFC"/>
          </a:solidFill>
          <a:ln w="12700">
            <a:solidFill>
              <a:srgbClr val="F8FAFC">
                <a:alpha val="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235" name="Shape 1"/>
          <p:cNvSpPr/>
          <p:nvPr/>
        </p:nvSpPr>
        <p:spPr>
          <a:xfrm>
            <a:off x="0" y="0"/>
            <a:ext cx="109440" cy="6857640"/>
          </a:xfrm>
          <a:prstGeom prst="rect">
            <a:avLst/>
          </a:prstGeom>
          <a:solidFill>
            <a:srgbClr val="10B981"/>
          </a:solidFill>
          <a:ln w="12700">
            <a:solidFill>
              <a:srgbClr val="10B981"/>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236" name="Text 2"/>
          <p:cNvSpPr/>
          <p:nvPr/>
        </p:nvSpPr>
        <p:spPr>
          <a:xfrm>
            <a:off x="594360" y="384120"/>
            <a:ext cx="9052200" cy="438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0F172A"/>
                </a:solidFill>
                <a:effectLst/>
                <a:uFillTx/>
                <a:latin typeface="Aptos Display"/>
                <a:ea typeface="Aptos Display"/>
              </a:rPr>
              <a:t>Systemarchitektur</a:t>
            </a:r>
            <a:endParaRPr lang="de-DE" sz="2400" b="0" u="none" strike="noStrike">
              <a:solidFill>
                <a:srgbClr val="000000"/>
              </a:solidFill>
              <a:effectLst/>
              <a:uFillTx/>
              <a:latin typeface="Arial"/>
            </a:endParaRPr>
          </a:p>
        </p:txBody>
      </p:sp>
      <p:sp>
        <p:nvSpPr>
          <p:cNvPr id="237" name="Text 3"/>
          <p:cNvSpPr/>
          <p:nvPr/>
        </p:nvSpPr>
        <p:spPr>
          <a:xfrm>
            <a:off x="612720" y="850320"/>
            <a:ext cx="96008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4748B"/>
                </a:solidFill>
                <a:effectLst/>
                <a:uFillTx/>
                <a:latin typeface="Aptos"/>
              </a:rPr>
              <a:t>Dreischichtige Client-Server-Struktur</a:t>
            </a:r>
            <a:endParaRPr lang="de-DE" sz="950" b="0" u="none" strike="noStrike">
              <a:solidFill>
                <a:srgbClr val="000000"/>
              </a:solidFill>
              <a:effectLst/>
              <a:uFillTx/>
              <a:latin typeface="Arial"/>
            </a:endParaRPr>
          </a:p>
        </p:txBody>
      </p:sp>
      <p:sp>
        <p:nvSpPr>
          <p:cNvPr id="238" name="Shape 4"/>
          <p:cNvSpPr/>
          <p:nvPr/>
        </p:nvSpPr>
        <p:spPr>
          <a:xfrm>
            <a:off x="502920" y="6473880"/>
            <a:ext cx="11201400" cy="360"/>
          </a:xfrm>
          <a:prstGeom prst="line">
            <a:avLst/>
          </a:prstGeom>
          <a:ln w="7620">
            <a:solidFill>
              <a:srgbClr val="CBD5E1">
                <a:alpha val="70000"/>
              </a:srgbClr>
            </a:solidFill>
            <a:round/>
          </a:ln>
        </p:spPr>
        <p:style>
          <a:lnRef idx="0"/>
          <a:fillRef idx="0"/>
          <a:effectRef idx="0"/>
          <a:fontRef idx="minor"/>
        </p:style>
        <p:txBody>
          <a:bodyPr lIns="90000" tIns="-44640" rIns="90000" bIns="-44640" anchor="t" anchorCtr="1">
            <a:noAutofit/>
          </a:bodyPr>
          <a:p>
            <a:endParaRPr lang="de-DE" sz="1800" b="0" u="none" strike="noStrike">
              <a:solidFill>
                <a:srgbClr val="000000"/>
              </a:solidFill>
              <a:effectLst/>
              <a:uFillTx/>
              <a:latin typeface="Arial"/>
            </a:endParaRPr>
          </a:p>
        </p:txBody>
      </p:sp>
      <p:sp>
        <p:nvSpPr>
          <p:cNvPr id="239" name="Text 5"/>
          <p:cNvSpPr/>
          <p:nvPr/>
        </p:nvSpPr>
        <p:spPr>
          <a:xfrm>
            <a:off x="567000" y="6519600"/>
            <a:ext cx="530316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4748B"/>
                </a:solidFill>
                <a:effectLst/>
                <a:uFillTx/>
                <a:latin typeface="Aptos"/>
                <a:ea typeface="Aptos"/>
              </a:rPr>
              <a:t>Teil 2 · Technologie &amp; Architektur</a:t>
            </a:r>
            <a:endParaRPr lang="de-DE" sz="750" b="0" u="none" strike="noStrike">
              <a:solidFill>
                <a:srgbClr val="000000"/>
              </a:solidFill>
              <a:effectLst/>
              <a:uFillTx/>
              <a:latin typeface="Arial"/>
            </a:endParaRPr>
          </a:p>
        </p:txBody>
      </p:sp>
      <p:sp>
        <p:nvSpPr>
          <p:cNvPr id="240" name="Text 6"/>
          <p:cNvSpPr/>
          <p:nvPr/>
        </p:nvSpPr>
        <p:spPr>
          <a:xfrm>
            <a:off x="11201400" y="6519600"/>
            <a:ext cx="45684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50" b="0" u="none" strike="noStrike">
                <a:solidFill>
                  <a:srgbClr val="64748B"/>
                </a:solidFill>
                <a:effectLst/>
                <a:uFillTx/>
                <a:latin typeface="Aptos"/>
                <a:ea typeface="Aptos"/>
              </a:rPr>
              <a:t>12</a:t>
            </a:r>
            <a:endParaRPr lang="de-DE" sz="750" b="0" u="none" strike="noStrike">
              <a:solidFill>
                <a:srgbClr val="000000"/>
              </a:solidFill>
              <a:effectLst/>
              <a:uFillTx/>
              <a:latin typeface="Arial"/>
            </a:endParaRPr>
          </a:p>
        </p:txBody>
      </p:sp>
      <p:sp>
        <p:nvSpPr>
          <p:cNvPr id="241" name="Shape 7"/>
          <p:cNvSpPr/>
          <p:nvPr/>
        </p:nvSpPr>
        <p:spPr>
          <a:xfrm>
            <a:off x="3291840" y="2743200"/>
            <a:ext cx="1645920" cy="360"/>
          </a:xfrm>
          <a:prstGeom prst="line">
            <a:avLst/>
          </a:prstGeom>
          <a:ln w="25400">
            <a:solidFill>
              <a:srgbClr val="10B981"/>
            </a:solidFill>
            <a:round/>
            <a:tailEnd len="med" type="triangle" w="med"/>
          </a:ln>
        </p:spPr>
        <p:style>
          <a:lnRef idx="0"/>
          <a:fillRef idx="0"/>
          <a:effectRef idx="0"/>
          <a:fontRef idx="minor"/>
        </p:style>
        <p:txBody>
          <a:bodyPr lIns="90000" tIns="-44640" rIns="90000" bIns="-44640" anchor="t" anchorCtr="1">
            <a:noAutofit/>
          </a:bodyPr>
          <a:p>
            <a:endParaRPr lang="de-DE" sz="1800" b="0" u="none" strike="noStrike">
              <a:solidFill>
                <a:srgbClr val="000000"/>
              </a:solidFill>
              <a:effectLst/>
              <a:uFillTx/>
              <a:latin typeface="Arial"/>
            </a:endParaRPr>
          </a:p>
        </p:txBody>
      </p:sp>
      <p:sp>
        <p:nvSpPr>
          <p:cNvPr id="242" name="Shape 8"/>
          <p:cNvSpPr/>
          <p:nvPr/>
        </p:nvSpPr>
        <p:spPr>
          <a:xfrm>
            <a:off x="6629400" y="2743200"/>
            <a:ext cx="1645920" cy="360"/>
          </a:xfrm>
          <a:prstGeom prst="line">
            <a:avLst/>
          </a:prstGeom>
          <a:ln w="25400">
            <a:solidFill>
              <a:srgbClr val="10B981"/>
            </a:solidFill>
            <a:round/>
            <a:tailEnd len="med" type="triangle" w="med"/>
          </a:ln>
        </p:spPr>
        <p:style>
          <a:lnRef idx="0"/>
          <a:fillRef idx="0"/>
          <a:effectRef idx="0"/>
          <a:fontRef idx="minor"/>
        </p:style>
        <p:txBody>
          <a:bodyPr lIns="90000" tIns="-44640" rIns="90000" bIns="-44640" anchor="t" anchorCtr="1">
            <a:noAutofit/>
          </a:bodyPr>
          <a:p>
            <a:endParaRPr lang="de-DE" sz="1800" b="0" u="none" strike="noStrike">
              <a:solidFill>
                <a:srgbClr val="000000"/>
              </a:solidFill>
              <a:effectLst/>
              <a:uFillTx/>
              <a:latin typeface="Arial"/>
            </a:endParaRPr>
          </a:p>
        </p:txBody>
      </p:sp>
      <p:sp>
        <p:nvSpPr>
          <p:cNvPr id="243" name="Shape 9"/>
          <p:cNvSpPr/>
          <p:nvPr/>
        </p:nvSpPr>
        <p:spPr>
          <a:xfrm>
            <a:off x="5852160" y="3657600"/>
            <a:ext cx="360" cy="777240"/>
          </a:xfrm>
          <a:prstGeom prst="line">
            <a:avLst/>
          </a:prstGeom>
          <a:ln w="25400">
            <a:solidFill>
              <a:srgbClr val="F59E0B"/>
            </a:solidFill>
            <a:round/>
            <a:tailEnd len="med" type="triangle" w="med"/>
          </a:ln>
        </p:spPr>
        <p:style>
          <a:lnRef idx="0"/>
          <a:fillRef idx="0"/>
          <a:effectRef idx="0"/>
          <a:fontRef idx="minor"/>
        </p:style>
        <p:txBody>
          <a:bodyPr lIns="90000" tIns="45000" rIns="90000" bIns="45000" anchor="t" anchorCtr="1">
            <a:noAutofit/>
          </a:bodyPr>
          <a:p>
            <a:endParaRPr lang="de-DE" sz="1800" b="0" u="none" strike="noStrike">
              <a:solidFill>
                <a:srgbClr val="000000"/>
              </a:solidFill>
              <a:effectLst/>
              <a:uFillTx/>
              <a:latin typeface="Arial"/>
            </a:endParaRPr>
          </a:p>
        </p:txBody>
      </p:sp>
      <p:sp>
        <p:nvSpPr>
          <p:cNvPr id="244" name="Shape 10"/>
          <p:cNvSpPr/>
          <p:nvPr/>
        </p:nvSpPr>
        <p:spPr>
          <a:xfrm>
            <a:off x="685800" y="2011680"/>
            <a:ext cx="2559960" cy="1416960"/>
          </a:xfrm>
          <a:prstGeom prst="roundRect">
            <a:avLst>
              <a:gd name="adj" fmla="val 5161"/>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245" name="Text 11"/>
          <p:cNvSpPr/>
          <p:nvPr/>
        </p:nvSpPr>
        <p:spPr>
          <a:xfrm>
            <a:off x="850320" y="2176200"/>
            <a:ext cx="41112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2563EB"/>
                </a:solidFill>
                <a:effectLst/>
                <a:uFillTx/>
                <a:latin typeface="Aptos"/>
              </a:rPr>
              <a:t>1</a:t>
            </a:r>
            <a:endParaRPr lang="de-DE" sz="1800" b="0" u="none" strike="noStrike">
              <a:solidFill>
                <a:srgbClr val="000000"/>
              </a:solidFill>
              <a:effectLst/>
              <a:uFillTx/>
              <a:latin typeface="Arial"/>
            </a:endParaRPr>
          </a:p>
        </p:txBody>
      </p:sp>
      <p:sp>
        <p:nvSpPr>
          <p:cNvPr id="246" name="Text 12"/>
          <p:cNvSpPr/>
          <p:nvPr/>
        </p:nvSpPr>
        <p:spPr>
          <a:xfrm>
            <a:off x="1344240" y="2194560"/>
            <a:ext cx="173700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React-Frontend</a:t>
            </a:r>
            <a:endParaRPr lang="de-DE" sz="1350" b="0" u="none" strike="noStrike">
              <a:solidFill>
                <a:srgbClr val="000000"/>
              </a:solidFill>
              <a:effectLst/>
              <a:uFillTx/>
              <a:latin typeface="Arial"/>
            </a:endParaRPr>
          </a:p>
        </p:txBody>
      </p:sp>
      <p:sp>
        <p:nvSpPr>
          <p:cNvPr id="247" name="Text 13"/>
          <p:cNvSpPr/>
          <p:nvPr/>
        </p:nvSpPr>
        <p:spPr>
          <a:xfrm>
            <a:off x="887040" y="2670120"/>
            <a:ext cx="2157480" cy="59400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60" b="0" u="none" strike="noStrike">
                <a:solidFill>
                  <a:srgbClr val="334155"/>
                </a:solidFill>
                <a:effectLst/>
                <a:uFillTx/>
                <a:latin typeface="Aptos"/>
              </a:rPr>
              <a:t>Darstellung, Formulare, Navigation</a:t>
            </a:r>
            <a:endParaRPr lang="de-DE" sz="960" b="0" u="none" strike="noStrike">
              <a:solidFill>
                <a:srgbClr val="000000"/>
              </a:solidFill>
              <a:effectLst/>
              <a:uFillTx/>
              <a:latin typeface="Arial"/>
            </a:endParaRPr>
          </a:p>
        </p:txBody>
      </p:sp>
      <p:sp>
        <p:nvSpPr>
          <p:cNvPr id="248" name="Shape 14"/>
          <p:cNvSpPr/>
          <p:nvPr/>
        </p:nvSpPr>
        <p:spPr>
          <a:xfrm>
            <a:off x="4617720" y="2011680"/>
            <a:ext cx="2559960" cy="1416960"/>
          </a:xfrm>
          <a:prstGeom prst="roundRect">
            <a:avLst>
              <a:gd name="adj" fmla="val 5161"/>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249" name="Text 15"/>
          <p:cNvSpPr/>
          <p:nvPr/>
        </p:nvSpPr>
        <p:spPr>
          <a:xfrm>
            <a:off x="4782240" y="2176200"/>
            <a:ext cx="41112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10B981"/>
                </a:solidFill>
                <a:effectLst/>
                <a:uFillTx/>
                <a:latin typeface="Aptos"/>
              </a:rPr>
              <a:t>2</a:t>
            </a:r>
            <a:endParaRPr lang="de-DE" sz="1800" b="0" u="none" strike="noStrike">
              <a:solidFill>
                <a:srgbClr val="000000"/>
              </a:solidFill>
              <a:effectLst/>
              <a:uFillTx/>
              <a:latin typeface="Arial"/>
            </a:endParaRPr>
          </a:p>
        </p:txBody>
      </p:sp>
      <p:sp>
        <p:nvSpPr>
          <p:cNvPr id="250" name="Text 16"/>
          <p:cNvSpPr/>
          <p:nvPr/>
        </p:nvSpPr>
        <p:spPr>
          <a:xfrm>
            <a:off x="5276160" y="2194560"/>
            <a:ext cx="173700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Flask-API</a:t>
            </a:r>
            <a:endParaRPr lang="de-DE" sz="1350" b="0" u="none" strike="noStrike">
              <a:solidFill>
                <a:srgbClr val="000000"/>
              </a:solidFill>
              <a:effectLst/>
              <a:uFillTx/>
              <a:latin typeface="Arial"/>
            </a:endParaRPr>
          </a:p>
        </p:txBody>
      </p:sp>
      <p:sp>
        <p:nvSpPr>
          <p:cNvPr id="251" name="Text 17"/>
          <p:cNvSpPr/>
          <p:nvPr/>
        </p:nvSpPr>
        <p:spPr>
          <a:xfrm>
            <a:off x="4818960" y="2670120"/>
            <a:ext cx="2157480" cy="59400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60" b="0" u="none" strike="noStrike">
                <a:solidFill>
                  <a:srgbClr val="334155"/>
                </a:solidFill>
                <a:effectLst/>
                <a:uFillTx/>
                <a:latin typeface="Aptos"/>
              </a:rPr>
              <a:t>Routen, Validierung, Services</a:t>
            </a:r>
            <a:endParaRPr lang="de-DE" sz="960" b="0" u="none" strike="noStrike">
              <a:solidFill>
                <a:srgbClr val="000000"/>
              </a:solidFill>
              <a:effectLst/>
              <a:uFillTx/>
              <a:latin typeface="Arial"/>
            </a:endParaRPr>
          </a:p>
        </p:txBody>
      </p:sp>
      <p:sp>
        <p:nvSpPr>
          <p:cNvPr id="252" name="Shape 18"/>
          <p:cNvSpPr/>
          <p:nvPr/>
        </p:nvSpPr>
        <p:spPr>
          <a:xfrm>
            <a:off x="8549640" y="2011680"/>
            <a:ext cx="2559960" cy="1416960"/>
          </a:xfrm>
          <a:prstGeom prst="roundRect">
            <a:avLst>
              <a:gd name="adj" fmla="val 5161"/>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253" name="Text 19"/>
          <p:cNvSpPr/>
          <p:nvPr/>
        </p:nvSpPr>
        <p:spPr>
          <a:xfrm>
            <a:off x="8714160" y="2176200"/>
            <a:ext cx="41112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F59E0B"/>
                </a:solidFill>
                <a:effectLst/>
                <a:uFillTx/>
                <a:latin typeface="Aptos"/>
              </a:rPr>
              <a:t>3</a:t>
            </a:r>
            <a:endParaRPr lang="de-DE" sz="1800" b="0" u="none" strike="noStrike">
              <a:solidFill>
                <a:srgbClr val="000000"/>
              </a:solidFill>
              <a:effectLst/>
              <a:uFillTx/>
              <a:latin typeface="Arial"/>
            </a:endParaRPr>
          </a:p>
        </p:txBody>
      </p:sp>
      <p:sp>
        <p:nvSpPr>
          <p:cNvPr id="254" name="Text 20"/>
          <p:cNvSpPr/>
          <p:nvPr/>
        </p:nvSpPr>
        <p:spPr>
          <a:xfrm>
            <a:off x="9208080" y="2194560"/>
            <a:ext cx="173700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PostgreSQL</a:t>
            </a:r>
            <a:endParaRPr lang="de-DE" sz="1350" b="0" u="none" strike="noStrike">
              <a:solidFill>
                <a:srgbClr val="000000"/>
              </a:solidFill>
              <a:effectLst/>
              <a:uFillTx/>
              <a:latin typeface="Arial"/>
            </a:endParaRPr>
          </a:p>
        </p:txBody>
      </p:sp>
      <p:sp>
        <p:nvSpPr>
          <p:cNvPr id="255" name="Text 21"/>
          <p:cNvSpPr/>
          <p:nvPr/>
        </p:nvSpPr>
        <p:spPr>
          <a:xfrm>
            <a:off x="8750880" y="2670120"/>
            <a:ext cx="2157480" cy="59400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60" b="0" u="none" strike="noStrike">
                <a:solidFill>
                  <a:srgbClr val="334155"/>
                </a:solidFill>
                <a:effectLst/>
                <a:uFillTx/>
                <a:latin typeface="Aptos"/>
              </a:rPr>
              <a:t>Persistente Datenhaltung</a:t>
            </a:r>
            <a:endParaRPr lang="de-DE" sz="960" b="0" u="none" strike="noStrike">
              <a:solidFill>
                <a:srgbClr val="000000"/>
              </a:solidFill>
              <a:effectLst/>
              <a:uFillTx/>
              <a:latin typeface="Arial"/>
            </a:endParaRPr>
          </a:p>
        </p:txBody>
      </p:sp>
      <p:sp>
        <p:nvSpPr>
          <p:cNvPr id="256" name="Shape 22"/>
          <p:cNvSpPr/>
          <p:nvPr/>
        </p:nvSpPr>
        <p:spPr>
          <a:xfrm>
            <a:off x="4434840" y="4572000"/>
            <a:ext cx="2925720" cy="959760"/>
          </a:xfrm>
          <a:prstGeom prst="roundRect">
            <a:avLst>
              <a:gd name="adj" fmla="val 7619"/>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257" name="Text 23"/>
          <p:cNvSpPr/>
          <p:nvPr/>
        </p:nvSpPr>
        <p:spPr>
          <a:xfrm>
            <a:off x="4599360" y="4736520"/>
            <a:ext cx="41112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E11D48"/>
                </a:solidFill>
                <a:effectLst/>
                <a:uFillTx/>
                <a:latin typeface="Aptos"/>
              </a:rPr>
              <a:t>✉</a:t>
            </a:r>
            <a:endParaRPr lang="de-DE" sz="1800" b="0" u="none" strike="noStrike">
              <a:solidFill>
                <a:srgbClr val="000000"/>
              </a:solidFill>
              <a:effectLst/>
              <a:uFillTx/>
              <a:latin typeface="Arial"/>
            </a:endParaRPr>
          </a:p>
        </p:txBody>
      </p:sp>
      <p:sp>
        <p:nvSpPr>
          <p:cNvPr id="258" name="Text 24"/>
          <p:cNvSpPr/>
          <p:nvPr/>
        </p:nvSpPr>
        <p:spPr>
          <a:xfrm>
            <a:off x="5093280" y="4754880"/>
            <a:ext cx="21027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E-Mail-Service</a:t>
            </a:r>
            <a:endParaRPr lang="de-DE" sz="1350" b="0" u="none" strike="noStrike">
              <a:solidFill>
                <a:srgbClr val="000000"/>
              </a:solidFill>
              <a:effectLst/>
              <a:uFillTx/>
              <a:latin typeface="Arial"/>
            </a:endParaRPr>
          </a:p>
        </p:txBody>
      </p:sp>
      <p:sp>
        <p:nvSpPr>
          <p:cNvPr id="259" name="Text 25"/>
          <p:cNvSpPr/>
          <p:nvPr/>
        </p:nvSpPr>
        <p:spPr>
          <a:xfrm>
            <a:off x="4636080" y="5230440"/>
            <a:ext cx="2523240" cy="136800"/>
          </a:xfrm>
          <a:prstGeom prst="rect">
            <a:avLst/>
          </a:prstGeom>
          <a:noFill/>
          <a:ln w="0">
            <a:noFill/>
          </a:ln>
        </p:spPr>
        <p:style>
          <a:lnRef idx="0"/>
          <a:fillRef idx="0"/>
          <a:effectRef idx="0"/>
          <a:fontRef idx="minor"/>
        </p:style>
        <p:txBody>
          <a:bodyPr lIns="360" tIns="360" rIns="360" bIns="360" anchor="ctr">
            <a:normAutofit lnSpcReduction="9999"/>
          </a:bodyPr>
          <a:p>
            <a:pPr defTabSz="914400">
              <a:lnSpc>
                <a:spcPct val="100000"/>
              </a:lnSpc>
              <a:tabLst>
                <a:tab pos="0" algn="l"/>
              </a:tabLst>
            </a:pPr>
            <a:r>
              <a:rPr lang="en-US" sz="960" b="0" u="none" strike="noStrike">
                <a:solidFill>
                  <a:srgbClr val="334155"/>
                </a:solidFill>
                <a:effectLst/>
                <a:uFillTx/>
                <a:latin typeface="Aptos"/>
              </a:rPr>
              <a:t>Passwort-Reset-Link versenden</a:t>
            </a:r>
            <a:endParaRPr lang="de-DE" sz="96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260" name="Shape 0"/>
          <p:cNvSpPr/>
          <p:nvPr/>
        </p:nvSpPr>
        <p:spPr>
          <a:xfrm>
            <a:off x="0" y="0"/>
            <a:ext cx="12191400" cy="6857640"/>
          </a:xfrm>
          <a:prstGeom prst="rect">
            <a:avLst/>
          </a:prstGeom>
          <a:solidFill>
            <a:srgbClr val="F8FAFC"/>
          </a:solidFill>
          <a:ln w="12700">
            <a:solidFill>
              <a:srgbClr val="F8FAFC">
                <a:alpha val="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261" name="Shape 1"/>
          <p:cNvSpPr/>
          <p:nvPr/>
        </p:nvSpPr>
        <p:spPr>
          <a:xfrm>
            <a:off x="0" y="0"/>
            <a:ext cx="109440" cy="6857640"/>
          </a:xfrm>
          <a:prstGeom prst="rect">
            <a:avLst/>
          </a:prstGeom>
          <a:solidFill>
            <a:srgbClr val="10B981"/>
          </a:solidFill>
          <a:ln w="12700">
            <a:solidFill>
              <a:srgbClr val="10B981"/>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262" name="Text 2"/>
          <p:cNvSpPr/>
          <p:nvPr/>
        </p:nvSpPr>
        <p:spPr>
          <a:xfrm>
            <a:off x="594360" y="384120"/>
            <a:ext cx="9052200" cy="438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0F172A"/>
                </a:solidFill>
                <a:effectLst/>
                <a:uFillTx/>
                <a:latin typeface="Aptos Display"/>
                <a:ea typeface="Aptos Display"/>
              </a:rPr>
              <a:t>Backend-Modularisierung</a:t>
            </a:r>
            <a:endParaRPr lang="de-DE" sz="2400" b="0" u="none" strike="noStrike">
              <a:solidFill>
                <a:srgbClr val="000000"/>
              </a:solidFill>
              <a:effectLst/>
              <a:uFillTx/>
              <a:latin typeface="Arial"/>
            </a:endParaRPr>
          </a:p>
        </p:txBody>
      </p:sp>
      <p:sp>
        <p:nvSpPr>
          <p:cNvPr id="263" name="Text 3"/>
          <p:cNvSpPr/>
          <p:nvPr/>
        </p:nvSpPr>
        <p:spPr>
          <a:xfrm>
            <a:off x="612720" y="850320"/>
            <a:ext cx="96008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4748B"/>
                </a:solidFill>
                <a:effectLst/>
                <a:uFillTx/>
                <a:latin typeface="Aptos"/>
              </a:rPr>
              <a:t>Flask-Blueprints trennen fachliche Bereiche</a:t>
            </a:r>
            <a:endParaRPr lang="de-DE" sz="950" b="0" u="none" strike="noStrike">
              <a:solidFill>
                <a:srgbClr val="000000"/>
              </a:solidFill>
              <a:effectLst/>
              <a:uFillTx/>
              <a:latin typeface="Arial"/>
            </a:endParaRPr>
          </a:p>
        </p:txBody>
      </p:sp>
      <p:sp>
        <p:nvSpPr>
          <p:cNvPr id="264" name="Shape 4"/>
          <p:cNvSpPr/>
          <p:nvPr/>
        </p:nvSpPr>
        <p:spPr>
          <a:xfrm>
            <a:off x="502920" y="6473880"/>
            <a:ext cx="11201400" cy="360"/>
          </a:xfrm>
          <a:prstGeom prst="line">
            <a:avLst/>
          </a:prstGeom>
          <a:ln w="7620">
            <a:solidFill>
              <a:srgbClr val="CBD5E1">
                <a:alpha val="70000"/>
              </a:srgbClr>
            </a:solidFill>
            <a:round/>
          </a:ln>
        </p:spPr>
        <p:style>
          <a:lnRef idx="0"/>
          <a:fillRef idx="0"/>
          <a:effectRef idx="0"/>
          <a:fontRef idx="minor"/>
        </p:style>
        <p:txBody>
          <a:bodyPr lIns="90000" tIns="-44640" rIns="90000" bIns="-44640" anchor="t" anchorCtr="1">
            <a:noAutofit/>
          </a:bodyPr>
          <a:p>
            <a:endParaRPr lang="de-DE" sz="1800" b="0" u="none" strike="noStrike">
              <a:solidFill>
                <a:srgbClr val="000000"/>
              </a:solidFill>
              <a:effectLst/>
              <a:uFillTx/>
              <a:latin typeface="Arial"/>
            </a:endParaRPr>
          </a:p>
        </p:txBody>
      </p:sp>
      <p:sp>
        <p:nvSpPr>
          <p:cNvPr id="265" name="Text 5"/>
          <p:cNvSpPr/>
          <p:nvPr/>
        </p:nvSpPr>
        <p:spPr>
          <a:xfrm>
            <a:off x="567000" y="6519600"/>
            <a:ext cx="530316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4748B"/>
                </a:solidFill>
                <a:effectLst/>
                <a:uFillTx/>
                <a:latin typeface="Aptos"/>
                <a:ea typeface="Aptos"/>
              </a:rPr>
              <a:t>Teil 2 · Technologie &amp; Architektur</a:t>
            </a:r>
            <a:endParaRPr lang="de-DE" sz="750" b="0" u="none" strike="noStrike">
              <a:solidFill>
                <a:srgbClr val="000000"/>
              </a:solidFill>
              <a:effectLst/>
              <a:uFillTx/>
              <a:latin typeface="Arial"/>
            </a:endParaRPr>
          </a:p>
        </p:txBody>
      </p:sp>
      <p:sp>
        <p:nvSpPr>
          <p:cNvPr id="266" name="Text 6"/>
          <p:cNvSpPr/>
          <p:nvPr/>
        </p:nvSpPr>
        <p:spPr>
          <a:xfrm>
            <a:off x="11201400" y="6519600"/>
            <a:ext cx="45684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50" b="0" u="none" strike="noStrike">
                <a:solidFill>
                  <a:srgbClr val="64748B"/>
                </a:solidFill>
                <a:effectLst/>
                <a:uFillTx/>
                <a:latin typeface="Aptos"/>
                <a:ea typeface="Aptos"/>
              </a:rPr>
              <a:t>13</a:t>
            </a:r>
            <a:endParaRPr lang="de-DE" sz="750" b="0" u="none" strike="noStrike">
              <a:solidFill>
                <a:srgbClr val="000000"/>
              </a:solidFill>
              <a:effectLst/>
              <a:uFillTx/>
              <a:latin typeface="Arial"/>
            </a:endParaRPr>
          </a:p>
        </p:txBody>
      </p:sp>
      <p:sp>
        <p:nvSpPr>
          <p:cNvPr id="267" name="Shape 7"/>
          <p:cNvSpPr/>
          <p:nvPr/>
        </p:nvSpPr>
        <p:spPr>
          <a:xfrm>
            <a:off x="731520" y="1325880"/>
            <a:ext cx="4663080" cy="1051200"/>
          </a:xfrm>
          <a:prstGeom prst="roundRect">
            <a:avLst>
              <a:gd name="adj" fmla="val 6957"/>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268" name="Text 8"/>
          <p:cNvSpPr/>
          <p:nvPr/>
        </p:nvSpPr>
        <p:spPr>
          <a:xfrm>
            <a:off x="932760" y="1508760"/>
            <a:ext cx="42789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auth_routes</a:t>
            </a:r>
            <a:endParaRPr lang="de-DE" sz="1350" b="0" u="none" strike="noStrike">
              <a:solidFill>
                <a:srgbClr val="000000"/>
              </a:solidFill>
              <a:effectLst/>
              <a:uFillTx/>
              <a:latin typeface="Arial"/>
            </a:endParaRPr>
          </a:p>
        </p:txBody>
      </p:sp>
      <p:sp>
        <p:nvSpPr>
          <p:cNvPr id="269" name="Text 9"/>
          <p:cNvSpPr/>
          <p:nvPr/>
        </p:nvSpPr>
        <p:spPr>
          <a:xfrm>
            <a:off x="932760" y="1984320"/>
            <a:ext cx="4260600" cy="22824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60" b="0" u="none" strike="noStrike">
                <a:solidFill>
                  <a:srgbClr val="334155"/>
                </a:solidFill>
                <a:effectLst/>
                <a:uFillTx/>
                <a:latin typeface="Aptos"/>
              </a:rPr>
              <a:t>Registrierung, Login, Logout, Reset</a:t>
            </a:r>
            <a:endParaRPr lang="de-DE" sz="960" b="0" u="none" strike="noStrike">
              <a:solidFill>
                <a:srgbClr val="000000"/>
              </a:solidFill>
              <a:effectLst/>
              <a:uFillTx/>
              <a:latin typeface="Arial"/>
            </a:endParaRPr>
          </a:p>
        </p:txBody>
      </p:sp>
      <p:sp>
        <p:nvSpPr>
          <p:cNvPr id="270" name="Shape 10"/>
          <p:cNvSpPr/>
          <p:nvPr/>
        </p:nvSpPr>
        <p:spPr>
          <a:xfrm>
            <a:off x="6126480" y="1325880"/>
            <a:ext cx="4663080" cy="1051200"/>
          </a:xfrm>
          <a:prstGeom prst="roundRect">
            <a:avLst>
              <a:gd name="adj" fmla="val 6957"/>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271" name="Text 11"/>
          <p:cNvSpPr/>
          <p:nvPr/>
        </p:nvSpPr>
        <p:spPr>
          <a:xfrm>
            <a:off x="6327720" y="1508760"/>
            <a:ext cx="42789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financial_profile_routes</a:t>
            </a:r>
            <a:endParaRPr lang="de-DE" sz="1350" b="0" u="none" strike="noStrike">
              <a:solidFill>
                <a:srgbClr val="000000"/>
              </a:solidFill>
              <a:effectLst/>
              <a:uFillTx/>
              <a:latin typeface="Arial"/>
            </a:endParaRPr>
          </a:p>
        </p:txBody>
      </p:sp>
      <p:sp>
        <p:nvSpPr>
          <p:cNvPr id="272" name="Text 12"/>
          <p:cNvSpPr/>
          <p:nvPr/>
        </p:nvSpPr>
        <p:spPr>
          <a:xfrm>
            <a:off x="6327720" y="1984320"/>
            <a:ext cx="4260600" cy="22824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60" b="0" u="none" strike="noStrike">
                <a:solidFill>
                  <a:srgbClr val="334155"/>
                </a:solidFill>
                <a:effectLst/>
                <a:uFillTx/>
                <a:latin typeface="Aptos"/>
              </a:rPr>
              <a:t>Finanzprofil speichern und laden</a:t>
            </a:r>
            <a:endParaRPr lang="de-DE" sz="960" b="0" u="none" strike="noStrike">
              <a:solidFill>
                <a:srgbClr val="000000"/>
              </a:solidFill>
              <a:effectLst/>
              <a:uFillTx/>
              <a:latin typeface="Arial"/>
            </a:endParaRPr>
          </a:p>
        </p:txBody>
      </p:sp>
      <p:sp>
        <p:nvSpPr>
          <p:cNvPr id="273" name="Shape 13"/>
          <p:cNvSpPr/>
          <p:nvPr/>
        </p:nvSpPr>
        <p:spPr>
          <a:xfrm>
            <a:off x="731520" y="2834640"/>
            <a:ext cx="4663080" cy="1051200"/>
          </a:xfrm>
          <a:prstGeom prst="roundRect">
            <a:avLst>
              <a:gd name="adj" fmla="val 6957"/>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274" name="Text 14"/>
          <p:cNvSpPr/>
          <p:nvPr/>
        </p:nvSpPr>
        <p:spPr>
          <a:xfrm>
            <a:off x="932760" y="3017520"/>
            <a:ext cx="42789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user_routes</a:t>
            </a:r>
            <a:endParaRPr lang="de-DE" sz="1350" b="0" u="none" strike="noStrike">
              <a:solidFill>
                <a:srgbClr val="000000"/>
              </a:solidFill>
              <a:effectLst/>
              <a:uFillTx/>
              <a:latin typeface="Arial"/>
            </a:endParaRPr>
          </a:p>
        </p:txBody>
      </p:sp>
      <p:sp>
        <p:nvSpPr>
          <p:cNvPr id="275" name="Text 15"/>
          <p:cNvSpPr/>
          <p:nvPr/>
        </p:nvSpPr>
        <p:spPr>
          <a:xfrm>
            <a:off x="932760" y="3493080"/>
            <a:ext cx="4260600" cy="22824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60" b="0" u="none" strike="noStrike">
                <a:solidFill>
                  <a:srgbClr val="334155"/>
                </a:solidFill>
                <a:effectLst/>
                <a:uFillTx/>
                <a:latin typeface="Aptos"/>
              </a:rPr>
              <a:t>Nutzerdaten</a:t>
            </a:r>
            <a:endParaRPr lang="de-DE" sz="960" b="0" u="none" strike="noStrike">
              <a:solidFill>
                <a:srgbClr val="000000"/>
              </a:solidFill>
              <a:effectLst/>
              <a:uFillTx/>
              <a:latin typeface="Arial"/>
            </a:endParaRPr>
          </a:p>
        </p:txBody>
      </p:sp>
      <p:sp>
        <p:nvSpPr>
          <p:cNvPr id="276" name="Shape 16"/>
          <p:cNvSpPr/>
          <p:nvPr/>
        </p:nvSpPr>
        <p:spPr>
          <a:xfrm>
            <a:off x="6126480" y="2834640"/>
            <a:ext cx="4663080" cy="1051200"/>
          </a:xfrm>
          <a:prstGeom prst="roundRect">
            <a:avLst>
              <a:gd name="adj" fmla="val 6957"/>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277" name="Text 17"/>
          <p:cNvSpPr/>
          <p:nvPr/>
        </p:nvSpPr>
        <p:spPr>
          <a:xfrm>
            <a:off x="6327720" y="3017520"/>
            <a:ext cx="42789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prognosen_routes</a:t>
            </a:r>
            <a:endParaRPr lang="de-DE" sz="1350" b="0" u="none" strike="noStrike">
              <a:solidFill>
                <a:srgbClr val="000000"/>
              </a:solidFill>
              <a:effectLst/>
              <a:uFillTx/>
              <a:latin typeface="Arial"/>
            </a:endParaRPr>
          </a:p>
        </p:txBody>
      </p:sp>
      <p:sp>
        <p:nvSpPr>
          <p:cNvPr id="278" name="Text 18"/>
          <p:cNvSpPr/>
          <p:nvPr/>
        </p:nvSpPr>
        <p:spPr>
          <a:xfrm>
            <a:off x="6327720" y="3493080"/>
            <a:ext cx="4260600" cy="22824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60" b="0" u="none" strike="noStrike">
                <a:solidFill>
                  <a:srgbClr val="334155"/>
                </a:solidFill>
                <a:effectLst/>
                <a:uFillTx/>
                <a:latin typeface="Aptos"/>
              </a:rPr>
              <a:t>Berechnungen und Szenarien</a:t>
            </a:r>
            <a:endParaRPr lang="de-DE" sz="960" b="0" u="none" strike="noStrike">
              <a:solidFill>
                <a:srgbClr val="000000"/>
              </a:solidFill>
              <a:effectLst/>
              <a:uFillTx/>
              <a:latin typeface="Arial"/>
            </a:endParaRPr>
          </a:p>
        </p:txBody>
      </p:sp>
      <p:sp>
        <p:nvSpPr>
          <p:cNvPr id="279" name="Shape 19"/>
          <p:cNvSpPr/>
          <p:nvPr/>
        </p:nvSpPr>
        <p:spPr>
          <a:xfrm>
            <a:off x="731520" y="4343400"/>
            <a:ext cx="4663080" cy="1051200"/>
          </a:xfrm>
          <a:prstGeom prst="roundRect">
            <a:avLst>
              <a:gd name="adj" fmla="val 6957"/>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280" name="Text 20"/>
          <p:cNvSpPr/>
          <p:nvPr/>
        </p:nvSpPr>
        <p:spPr>
          <a:xfrm>
            <a:off x="932760" y="4526280"/>
            <a:ext cx="42789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chat_routes</a:t>
            </a:r>
            <a:endParaRPr lang="de-DE" sz="1350" b="0" u="none" strike="noStrike">
              <a:solidFill>
                <a:srgbClr val="000000"/>
              </a:solidFill>
              <a:effectLst/>
              <a:uFillTx/>
              <a:latin typeface="Arial"/>
            </a:endParaRPr>
          </a:p>
        </p:txBody>
      </p:sp>
      <p:sp>
        <p:nvSpPr>
          <p:cNvPr id="281" name="Text 21"/>
          <p:cNvSpPr/>
          <p:nvPr/>
        </p:nvSpPr>
        <p:spPr>
          <a:xfrm>
            <a:off x="932760" y="5001840"/>
            <a:ext cx="4260600" cy="22824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60" b="0" u="none" strike="noStrike">
                <a:solidFill>
                  <a:srgbClr val="334155"/>
                </a:solidFill>
                <a:effectLst/>
                <a:uFillTx/>
                <a:latin typeface="Aptos"/>
              </a:rPr>
              <a:t>KI-/Assistenzfunktion</a:t>
            </a:r>
            <a:endParaRPr lang="de-DE" sz="96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282" name="Shape 0"/>
          <p:cNvSpPr/>
          <p:nvPr/>
        </p:nvSpPr>
        <p:spPr>
          <a:xfrm>
            <a:off x="0" y="0"/>
            <a:ext cx="12191400" cy="6857640"/>
          </a:xfrm>
          <a:prstGeom prst="rect">
            <a:avLst/>
          </a:prstGeom>
          <a:solidFill>
            <a:srgbClr val="F8FAFC"/>
          </a:solidFill>
          <a:ln w="12700">
            <a:solidFill>
              <a:srgbClr val="F8FAFC">
                <a:alpha val="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283" name="Shape 1"/>
          <p:cNvSpPr/>
          <p:nvPr/>
        </p:nvSpPr>
        <p:spPr>
          <a:xfrm>
            <a:off x="0" y="0"/>
            <a:ext cx="109440" cy="6857640"/>
          </a:xfrm>
          <a:prstGeom prst="rect">
            <a:avLst/>
          </a:prstGeom>
          <a:solidFill>
            <a:srgbClr val="10B981"/>
          </a:solidFill>
          <a:ln w="12700">
            <a:solidFill>
              <a:srgbClr val="10B981"/>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284" name="Text 2"/>
          <p:cNvSpPr/>
          <p:nvPr/>
        </p:nvSpPr>
        <p:spPr>
          <a:xfrm>
            <a:off x="594360" y="384120"/>
            <a:ext cx="9052200" cy="438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0F172A"/>
                </a:solidFill>
                <a:effectLst/>
                <a:uFillTx/>
                <a:latin typeface="Aptos Display"/>
                <a:ea typeface="Aptos Display"/>
              </a:rPr>
              <a:t>Kommunikation zwischen Frontend und Backend</a:t>
            </a:r>
            <a:endParaRPr lang="de-DE" sz="2400" b="0" u="none" strike="noStrike">
              <a:solidFill>
                <a:srgbClr val="000000"/>
              </a:solidFill>
              <a:effectLst/>
              <a:uFillTx/>
              <a:latin typeface="Arial"/>
            </a:endParaRPr>
          </a:p>
        </p:txBody>
      </p:sp>
      <p:sp>
        <p:nvSpPr>
          <p:cNvPr id="285" name="Text 3"/>
          <p:cNvSpPr/>
          <p:nvPr/>
        </p:nvSpPr>
        <p:spPr>
          <a:xfrm>
            <a:off x="612720" y="850320"/>
            <a:ext cx="96008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4748B"/>
                </a:solidFill>
                <a:effectLst/>
                <a:uFillTx/>
                <a:latin typeface="Aptos"/>
              </a:rPr>
              <a:t>JSON-Daten, Cookies und CORS</a:t>
            </a:r>
            <a:endParaRPr lang="de-DE" sz="950" b="0" u="none" strike="noStrike">
              <a:solidFill>
                <a:srgbClr val="000000"/>
              </a:solidFill>
              <a:effectLst/>
              <a:uFillTx/>
              <a:latin typeface="Arial"/>
            </a:endParaRPr>
          </a:p>
        </p:txBody>
      </p:sp>
      <p:sp>
        <p:nvSpPr>
          <p:cNvPr id="286" name="Shape 4"/>
          <p:cNvSpPr/>
          <p:nvPr/>
        </p:nvSpPr>
        <p:spPr>
          <a:xfrm>
            <a:off x="502920" y="6473880"/>
            <a:ext cx="11201400" cy="360"/>
          </a:xfrm>
          <a:prstGeom prst="line">
            <a:avLst/>
          </a:prstGeom>
          <a:ln w="7620">
            <a:solidFill>
              <a:srgbClr val="CBD5E1">
                <a:alpha val="70000"/>
              </a:srgbClr>
            </a:solidFill>
            <a:round/>
          </a:ln>
        </p:spPr>
        <p:style>
          <a:lnRef idx="0"/>
          <a:fillRef idx="0"/>
          <a:effectRef idx="0"/>
          <a:fontRef idx="minor"/>
        </p:style>
        <p:txBody>
          <a:bodyPr lIns="90000" tIns="-44640" rIns="90000" bIns="-44640" anchor="t" anchorCtr="1">
            <a:noAutofit/>
          </a:bodyPr>
          <a:p>
            <a:endParaRPr lang="de-DE" sz="1800" b="0" u="none" strike="noStrike">
              <a:solidFill>
                <a:srgbClr val="000000"/>
              </a:solidFill>
              <a:effectLst/>
              <a:uFillTx/>
              <a:latin typeface="Arial"/>
            </a:endParaRPr>
          </a:p>
        </p:txBody>
      </p:sp>
      <p:sp>
        <p:nvSpPr>
          <p:cNvPr id="287" name="Text 5"/>
          <p:cNvSpPr/>
          <p:nvPr/>
        </p:nvSpPr>
        <p:spPr>
          <a:xfrm>
            <a:off x="567000" y="6519600"/>
            <a:ext cx="530316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4748B"/>
                </a:solidFill>
                <a:effectLst/>
                <a:uFillTx/>
                <a:latin typeface="Aptos"/>
                <a:ea typeface="Aptos"/>
              </a:rPr>
              <a:t>Teil 2 · Technologie &amp; Architektur</a:t>
            </a:r>
            <a:endParaRPr lang="de-DE" sz="750" b="0" u="none" strike="noStrike">
              <a:solidFill>
                <a:srgbClr val="000000"/>
              </a:solidFill>
              <a:effectLst/>
              <a:uFillTx/>
              <a:latin typeface="Arial"/>
            </a:endParaRPr>
          </a:p>
        </p:txBody>
      </p:sp>
      <p:sp>
        <p:nvSpPr>
          <p:cNvPr id="288" name="Text 6"/>
          <p:cNvSpPr/>
          <p:nvPr/>
        </p:nvSpPr>
        <p:spPr>
          <a:xfrm>
            <a:off x="11201400" y="6519600"/>
            <a:ext cx="45684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50" b="0" u="none" strike="noStrike">
                <a:solidFill>
                  <a:srgbClr val="64748B"/>
                </a:solidFill>
                <a:effectLst/>
                <a:uFillTx/>
                <a:latin typeface="Aptos"/>
                <a:ea typeface="Aptos"/>
              </a:rPr>
              <a:t>14</a:t>
            </a:r>
            <a:endParaRPr lang="de-DE" sz="750" b="0" u="none" strike="noStrike">
              <a:solidFill>
                <a:srgbClr val="000000"/>
              </a:solidFill>
              <a:effectLst/>
              <a:uFillTx/>
              <a:latin typeface="Arial"/>
            </a:endParaRPr>
          </a:p>
        </p:txBody>
      </p:sp>
      <p:sp>
        <p:nvSpPr>
          <p:cNvPr id="289" name="Shape 7"/>
          <p:cNvSpPr/>
          <p:nvPr/>
        </p:nvSpPr>
        <p:spPr>
          <a:xfrm>
            <a:off x="731520" y="1572840"/>
            <a:ext cx="1630440" cy="731160"/>
          </a:xfrm>
          <a:prstGeom prst="chevron">
            <a:avLst>
              <a:gd name="adj" fmla="val 50000"/>
            </a:avLst>
          </a:prstGeom>
          <a:solidFill>
            <a:srgbClr val="2563EB"/>
          </a:solidFill>
          <a:ln w="12700">
            <a:solidFill>
              <a:srgbClr val="2563EB"/>
            </a:solidFill>
            <a:round/>
          </a:ln>
        </p:spPr>
        <p:style>
          <a:lnRef idx="0"/>
          <a:fillRef idx="0"/>
          <a:effectRef idx="0"/>
          <a:fontRef idx="minor"/>
        </p:style>
        <p:txBody>
          <a:bodyPr lIns="90000" tIns="45000" rIns="90000" bIns="45000" anchor="t">
            <a:noAutofit/>
          </a:bodyPr>
          <a:p>
            <a:endParaRPr lang="de-DE" sz="1800" b="0" u="none" strike="noStrike">
              <a:solidFill>
                <a:srgbClr val="FFFFFF"/>
              </a:solidFill>
              <a:effectLst/>
              <a:uFillTx/>
              <a:latin typeface="Arial"/>
            </a:endParaRPr>
          </a:p>
        </p:txBody>
      </p:sp>
      <p:sp>
        <p:nvSpPr>
          <p:cNvPr id="290" name="Text 8"/>
          <p:cNvSpPr/>
          <p:nvPr/>
        </p:nvSpPr>
        <p:spPr>
          <a:xfrm>
            <a:off x="804600" y="1783080"/>
            <a:ext cx="1483920" cy="25560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20" b="1" u="none" strike="noStrike">
                <a:solidFill>
                  <a:srgbClr val="FFFFFF"/>
                </a:solidFill>
                <a:effectLst/>
                <a:uFillTx/>
                <a:latin typeface="Aptos"/>
              </a:rPr>
              <a:t>Formular</a:t>
            </a:r>
            <a:endParaRPr lang="de-DE" sz="920" b="0" u="none" strike="noStrike">
              <a:solidFill>
                <a:srgbClr val="000000"/>
              </a:solidFill>
              <a:effectLst/>
              <a:uFillTx/>
              <a:latin typeface="Arial"/>
            </a:endParaRPr>
          </a:p>
        </p:txBody>
      </p:sp>
      <p:sp>
        <p:nvSpPr>
          <p:cNvPr id="291" name="Shape 9"/>
          <p:cNvSpPr/>
          <p:nvPr/>
        </p:nvSpPr>
        <p:spPr>
          <a:xfrm>
            <a:off x="2526840" y="1572840"/>
            <a:ext cx="1630440" cy="731160"/>
          </a:xfrm>
          <a:prstGeom prst="chevron">
            <a:avLst>
              <a:gd name="adj" fmla="val 50000"/>
            </a:avLst>
          </a:prstGeom>
          <a:solidFill>
            <a:srgbClr val="FFFFFF"/>
          </a:solidFill>
          <a:ln w="12700">
            <a:solidFill>
              <a:srgbClr val="2563EB"/>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292" name="Text 10"/>
          <p:cNvSpPr/>
          <p:nvPr/>
        </p:nvSpPr>
        <p:spPr>
          <a:xfrm>
            <a:off x="2599920" y="1783080"/>
            <a:ext cx="1483920" cy="25560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20" b="1" u="none" strike="noStrike">
                <a:solidFill>
                  <a:srgbClr val="0F172A"/>
                </a:solidFill>
                <a:effectLst/>
                <a:uFillTx/>
                <a:latin typeface="Aptos"/>
              </a:rPr>
              <a:t>HTTP Request</a:t>
            </a:r>
            <a:endParaRPr lang="de-DE" sz="920" b="0" u="none" strike="noStrike">
              <a:solidFill>
                <a:srgbClr val="000000"/>
              </a:solidFill>
              <a:effectLst/>
              <a:uFillTx/>
              <a:latin typeface="Arial"/>
            </a:endParaRPr>
          </a:p>
        </p:txBody>
      </p:sp>
      <p:sp>
        <p:nvSpPr>
          <p:cNvPr id="293" name="Shape 11"/>
          <p:cNvSpPr/>
          <p:nvPr/>
        </p:nvSpPr>
        <p:spPr>
          <a:xfrm>
            <a:off x="4322160" y="1572840"/>
            <a:ext cx="1630440" cy="731160"/>
          </a:xfrm>
          <a:prstGeom prst="chevron">
            <a:avLst>
              <a:gd name="adj" fmla="val 50000"/>
            </a:avLst>
          </a:prstGeom>
          <a:solidFill>
            <a:srgbClr val="FFFFFF"/>
          </a:solidFill>
          <a:ln w="12700">
            <a:solidFill>
              <a:srgbClr val="2563EB"/>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294" name="Text 12"/>
          <p:cNvSpPr/>
          <p:nvPr/>
        </p:nvSpPr>
        <p:spPr>
          <a:xfrm>
            <a:off x="4395240" y="1783080"/>
            <a:ext cx="1483920" cy="25560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20" b="1" u="none" strike="noStrike">
                <a:solidFill>
                  <a:srgbClr val="0F172A"/>
                </a:solidFill>
                <a:effectLst/>
                <a:uFillTx/>
                <a:latin typeface="Aptos"/>
              </a:rPr>
              <a:t>Flask Route</a:t>
            </a:r>
            <a:endParaRPr lang="de-DE" sz="920" b="0" u="none" strike="noStrike">
              <a:solidFill>
                <a:srgbClr val="000000"/>
              </a:solidFill>
              <a:effectLst/>
              <a:uFillTx/>
              <a:latin typeface="Arial"/>
            </a:endParaRPr>
          </a:p>
        </p:txBody>
      </p:sp>
      <p:sp>
        <p:nvSpPr>
          <p:cNvPr id="295" name="Shape 13"/>
          <p:cNvSpPr/>
          <p:nvPr/>
        </p:nvSpPr>
        <p:spPr>
          <a:xfrm>
            <a:off x="6117480" y="1572840"/>
            <a:ext cx="1630440" cy="731160"/>
          </a:xfrm>
          <a:prstGeom prst="chevron">
            <a:avLst>
              <a:gd name="adj" fmla="val 50000"/>
            </a:avLst>
          </a:prstGeom>
          <a:solidFill>
            <a:srgbClr val="FFFFFF"/>
          </a:solidFill>
          <a:ln w="12700">
            <a:solidFill>
              <a:srgbClr val="2563EB"/>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296" name="Text 14"/>
          <p:cNvSpPr/>
          <p:nvPr/>
        </p:nvSpPr>
        <p:spPr>
          <a:xfrm>
            <a:off x="6190560" y="1783080"/>
            <a:ext cx="1483920" cy="25560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20" b="1" u="none" strike="noStrike">
                <a:solidFill>
                  <a:srgbClr val="0F172A"/>
                </a:solidFill>
                <a:effectLst/>
                <a:uFillTx/>
                <a:latin typeface="Aptos"/>
              </a:rPr>
              <a:t>Service</a:t>
            </a:r>
            <a:endParaRPr lang="de-DE" sz="920" b="0" u="none" strike="noStrike">
              <a:solidFill>
                <a:srgbClr val="000000"/>
              </a:solidFill>
              <a:effectLst/>
              <a:uFillTx/>
              <a:latin typeface="Arial"/>
            </a:endParaRPr>
          </a:p>
        </p:txBody>
      </p:sp>
      <p:sp>
        <p:nvSpPr>
          <p:cNvPr id="297" name="Shape 15"/>
          <p:cNvSpPr/>
          <p:nvPr/>
        </p:nvSpPr>
        <p:spPr>
          <a:xfrm>
            <a:off x="7912440" y="1572840"/>
            <a:ext cx="1630440" cy="731160"/>
          </a:xfrm>
          <a:prstGeom prst="chevron">
            <a:avLst>
              <a:gd name="adj" fmla="val 50000"/>
            </a:avLst>
          </a:prstGeom>
          <a:solidFill>
            <a:srgbClr val="FFFFFF"/>
          </a:solidFill>
          <a:ln w="12700">
            <a:solidFill>
              <a:srgbClr val="2563EB"/>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298" name="Text 16"/>
          <p:cNvSpPr/>
          <p:nvPr/>
        </p:nvSpPr>
        <p:spPr>
          <a:xfrm>
            <a:off x="7985880" y="1783080"/>
            <a:ext cx="1483920" cy="25560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20" b="1" u="none" strike="noStrike">
                <a:solidFill>
                  <a:srgbClr val="0F172A"/>
                </a:solidFill>
                <a:effectLst/>
                <a:uFillTx/>
                <a:latin typeface="Aptos"/>
              </a:rPr>
              <a:t>DB Antwort</a:t>
            </a:r>
            <a:endParaRPr lang="de-DE" sz="920" b="0" u="none" strike="noStrike">
              <a:solidFill>
                <a:srgbClr val="000000"/>
              </a:solidFill>
              <a:effectLst/>
              <a:uFillTx/>
              <a:latin typeface="Arial"/>
            </a:endParaRPr>
          </a:p>
        </p:txBody>
      </p:sp>
      <p:sp>
        <p:nvSpPr>
          <p:cNvPr id="299" name="Shape 17"/>
          <p:cNvSpPr/>
          <p:nvPr/>
        </p:nvSpPr>
        <p:spPr>
          <a:xfrm>
            <a:off x="9707760" y="1572840"/>
            <a:ext cx="1630440" cy="731160"/>
          </a:xfrm>
          <a:prstGeom prst="chevron">
            <a:avLst>
              <a:gd name="adj" fmla="val 50000"/>
            </a:avLst>
          </a:prstGeom>
          <a:solidFill>
            <a:srgbClr val="FFFFFF"/>
          </a:solidFill>
          <a:ln w="12700">
            <a:solidFill>
              <a:srgbClr val="2563EB"/>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300" name="Text 18"/>
          <p:cNvSpPr/>
          <p:nvPr/>
        </p:nvSpPr>
        <p:spPr>
          <a:xfrm>
            <a:off x="9781200" y="1783080"/>
            <a:ext cx="1483920" cy="25560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20" b="1" u="none" strike="noStrike">
                <a:solidFill>
                  <a:srgbClr val="0F172A"/>
                </a:solidFill>
                <a:effectLst/>
                <a:uFillTx/>
                <a:latin typeface="Aptos"/>
              </a:rPr>
              <a:t>UI Update</a:t>
            </a:r>
            <a:endParaRPr lang="de-DE" sz="920" b="0" u="none" strike="noStrike">
              <a:solidFill>
                <a:srgbClr val="000000"/>
              </a:solidFill>
              <a:effectLst/>
              <a:uFillTx/>
              <a:latin typeface="Arial"/>
            </a:endParaRPr>
          </a:p>
        </p:txBody>
      </p:sp>
      <p:sp>
        <p:nvSpPr>
          <p:cNvPr id="301" name="Shape 19"/>
          <p:cNvSpPr/>
          <p:nvPr/>
        </p:nvSpPr>
        <p:spPr>
          <a:xfrm>
            <a:off x="868680" y="3063240"/>
            <a:ext cx="3337200" cy="1416960"/>
          </a:xfrm>
          <a:prstGeom prst="roundRect">
            <a:avLst>
              <a:gd name="adj" fmla="val 5161"/>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302" name="Text 20"/>
          <p:cNvSpPr/>
          <p:nvPr/>
        </p:nvSpPr>
        <p:spPr>
          <a:xfrm>
            <a:off x="1033200" y="3227760"/>
            <a:ext cx="41112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2563EB"/>
                </a:solidFill>
                <a:effectLst/>
                <a:uFillTx/>
                <a:latin typeface="Aptos"/>
              </a:rPr>
              <a:t>{}</a:t>
            </a:r>
            <a:endParaRPr lang="de-DE" sz="1800" b="0" u="none" strike="noStrike">
              <a:solidFill>
                <a:srgbClr val="000000"/>
              </a:solidFill>
              <a:effectLst/>
              <a:uFillTx/>
              <a:latin typeface="Arial"/>
            </a:endParaRPr>
          </a:p>
        </p:txBody>
      </p:sp>
      <p:sp>
        <p:nvSpPr>
          <p:cNvPr id="303" name="Text 21"/>
          <p:cNvSpPr/>
          <p:nvPr/>
        </p:nvSpPr>
        <p:spPr>
          <a:xfrm>
            <a:off x="1527120" y="3246120"/>
            <a:ext cx="2514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JSON als Austauschformat</a:t>
            </a:r>
            <a:endParaRPr lang="de-DE" sz="1350" b="0" u="none" strike="noStrike">
              <a:solidFill>
                <a:srgbClr val="000000"/>
              </a:solidFill>
              <a:effectLst/>
              <a:uFillTx/>
              <a:latin typeface="Arial"/>
            </a:endParaRPr>
          </a:p>
        </p:txBody>
      </p:sp>
      <p:sp>
        <p:nvSpPr>
          <p:cNvPr id="304" name="Text 22"/>
          <p:cNvSpPr/>
          <p:nvPr/>
        </p:nvSpPr>
        <p:spPr>
          <a:xfrm>
            <a:off x="1069920" y="3721680"/>
            <a:ext cx="2934720" cy="59400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60" b="0" u="none" strike="noStrike">
                <a:solidFill>
                  <a:srgbClr val="334155"/>
                </a:solidFill>
                <a:effectLst/>
                <a:uFillTx/>
                <a:latin typeface="Aptos"/>
              </a:rPr>
              <a:t>Eingaben und Antworten werden strukturiert übertragen.</a:t>
            </a:r>
            <a:endParaRPr lang="de-DE" sz="960" b="0" u="none" strike="noStrike">
              <a:solidFill>
                <a:srgbClr val="000000"/>
              </a:solidFill>
              <a:effectLst/>
              <a:uFillTx/>
              <a:latin typeface="Arial"/>
            </a:endParaRPr>
          </a:p>
        </p:txBody>
      </p:sp>
      <p:sp>
        <p:nvSpPr>
          <p:cNvPr id="305" name="Shape 23"/>
          <p:cNvSpPr/>
          <p:nvPr/>
        </p:nvSpPr>
        <p:spPr>
          <a:xfrm>
            <a:off x="4434840" y="3063240"/>
            <a:ext cx="3337200" cy="1416960"/>
          </a:xfrm>
          <a:prstGeom prst="roundRect">
            <a:avLst>
              <a:gd name="adj" fmla="val 5161"/>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306" name="Text 24"/>
          <p:cNvSpPr/>
          <p:nvPr/>
        </p:nvSpPr>
        <p:spPr>
          <a:xfrm>
            <a:off x="4599360" y="3227760"/>
            <a:ext cx="41112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10B981"/>
                </a:solidFill>
                <a:effectLst/>
                <a:uFillTx/>
                <a:latin typeface="Aptos"/>
              </a:rPr>
              <a:t>🍪</a:t>
            </a:r>
            <a:endParaRPr lang="de-DE" sz="1800" b="0" u="none" strike="noStrike">
              <a:solidFill>
                <a:srgbClr val="000000"/>
              </a:solidFill>
              <a:effectLst/>
              <a:uFillTx/>
              <a:latin typeface="Arial"/>
            </a:endParaRPr>
          </a:p>
        </p:txBody>
      </p:sp>
      <p:sp>
        <p:nvSpPr>
          <p:cNvPr id="307" name="Text 25"/>
          <p:cNvSpPr/>
          <p:nvPr/>
        </p:nvSpPr>
        <p:spPr>
          <a:xfrm>
            <a:off x="5093280" y="3246120"/>
            <a:ext cx="2514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Session-Cookie</a:t>
            </a:r>
            <a:endParaRPr lang="de-DE" sz="1350" b="0" u="none" strike="noStrike">
              <a:solidFill>
                <a:srgbClr val="000000"/>
              </a:solidFill>
              <a:effectLst/>
              <a:uFillTx/>
              <a:latin typeface="Arial"/>
            </a:endParaRPr>
          </a:p>
        </p:txBody>
      </p:sp>
      <p:sp>
        <p:nvSpPr>
          <p:cNvPr id="308" name="Text 26"/>
          <p:cNvSpPr/>
          <p:nvPr/>
        </p:nvSpPr>
        <p:spPr>
          <a:xfrm>
            <a:off x="4636080" y="3721680"/>
            <a:ext cx="2934720" cy="59400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60" b="0" u="none" strike="noStrike">
                <a:solidFill>
                  <a:srgbClr val="334155"/>
                </a:solidFill>
                <a:effectLst/>
                <a:uFillTx/>
                <a:latin typeface="Aptos"/>
              </a:rPr>
              <a:t>Nach dem Login ordnet das Backend Anfragen dem Nutzer zu.</a:t>
            </a:r>
            <a:endParaRPr lang="de-DE" sz="960" b="0" u="none" strike="noStrike">
              <a:solidFill>
                <a:srgbClr val="000000"/>
              </a:solidFill>
              <a:effectLst/>
              <a:uFillTx/>
              <a:latin typeface="Arial"/>
            </a:endParaRPr>
          </a:p>
        </p:txBody>
      </p:sp>
      <p:sp>
        <p:nvSpPr>
          <p:cNvPr id="309" name="Shape 27"/>
          <p:cNvSpPr/>
          <p:nvPr/>
        </p:nvSpPr>
        <p:spPr>
          <a:xfrm>
            <a:off x="8001000" y="3063240"/>
            <a:ext cx="3337200" cy="1416960"/>
          </a:xfrm>
          <a:prstGeom prst="roundRect">
            <a:avLst>
              <a:gd name="adj" fmla="val 5161"/>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310" name="Text 28"/>
          <p:cNvSpPr/>
          <p:nvPr/>
        </p:nvSpPr>
        <p:spPr>
          <a:xfrm>
            <a:off x="8165520" y="3227760"/>
            <a:ext cx="41112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F59E0B"/>
                </a:solidFill>
                <a:effectLst/>
                <a:uFillTx/>
                <a:latin typeface="Aptos"/>
              </a:rPr>
              <a:t>↔</a:t>
            </a:r>
            <a:endParaRPr lang="de-DE" sz="1800" b="0" u="none" strike="noStrike">
              <a:solidFill>
                <a:srgbClr val="000000"/>
              </a:solidFill>
              <a:effectLst/>
              <a:uFillTx/>
              <a:latin typeface="Arial"/>
            </a:endParaRPr>
          </a:p>
        </p:txBody>
      </p:sp>
      <p:sp>
        <p:nvSpPr>
          <p:cNvPr id="311" name="Text 29"/>
          <p:cNvSpPr/>
          <p:nvPr/>
        </p:nvSpPr>
        <p:spPr>
          <a:xfrm>
            <a:off x="8659440" y="3246120"/>
            <a:ext cx="2514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CORS</a:t>
            </a:r>
            <a:endParaRPr lang="de-DE" sz="1350" b="0" u="none" strike="noStrike">
              <a:solidFill>
                <a:srgbClr val="000000"/>
              </a:solidFill>
              <a:effectLst/>
              <a:uFillTx/>
              <a:latin typeface="Arial"/>
            </a:endParaRPr>
          </a:p>
        </p:txBody>
      </p:sp>
      <p:sp>
        <p:nvSpPr>
          <p:cNvPr id="312" name="Text 30"/>
          <p:cNvSpPr/>
          <p:nvPr/>
        </p:nvSpPr>
        <p:spPr>
          <a:xfrm>
            <a:off x="8202240" y="3721680"/>
            <a:ext cx="2934720" cy="59400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60" b="0" u="none" strike="noStrike">
                <a:solidFill>
                  <a:srgbClr val="334155"/>
                </a:solidFill>
                <a:effectLst/>
                <a:uFillTx/>
                <a:latin typeface="Aptos"/>
              </a:rPr>
              <a:t>Erlaubt lokale Frontend-Ports und überträgt Credentials.</a:t>
            </a:r>
            <a:endParaRPr lang="de-DE" sz="96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313" name="Shape 0"/>
          <p:cNvSpPr/>
          <p:nvPr/>
        </p:nvSpPr>
        <p:spPr>
          <a:xfrm>
            <a:off x="0" y="0"/>
            <a:ext cx="12191400" cy="6857640"/>
          </a:xfrm>
          <a:prstGeom prst="rect">
            <a:avLst/>
          </a:prstGeom>
          <a:solidFill>
            <a:srgbClr val="F8FAFC"/>
          </a:solidFill>
          <a:ln w="12700">
            <a:solidFill>
              <a:srgbClr val="F8FAFC">
                <a:alpha val="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314" name="Shape 1"/>
          <p:cNvSpPr/>
          <p:nvPr/>
        </p:nvSpPr>
        <p:spPr>
          <a:xfrm>
            <a:off x="0" y="0"/>
            <a:ext cx="109440" cy="6857640"/>
          </a:xfrm>
          <a:prstGeom prst="rect">
            <a:avLst/>
          </a:prstGeom>
          <a:solidFill>
            <a:srgbClr val="10B981"/>
          </a:solidFill>
          <a:ln w="12700">
            <a:solidFill>
              <a:srgbClr val="10B981"/>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315" name="Text 2"/>
          <p:cNvSpPr/>
          <p:nvPr/>
        </p:nvSpPr>
        <p:spPr>
          <a:xfrm>
            <a:off x="594360" y="384120"/>
            <a:ext cx="9052200" cy="438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0F172A"/>
                </a:solidFill>
                <a:effectLst/>
                <a:uFillTx/>
                <a:latin typeface="Aptos Display"/>
                <a:ea typeface="Aptos Display"/>
              </a:rPr>
              <a:t>Docker-Setup</a:t>
            </a:r>
            <a:endParaRPr lang="de-DE" sz="2400" b="0" u="none" strike="noStrike">
              <a:solidFill>
                <a:srgbClr val="000000"/>
              </a:solidFill>
              <a:effectLst/>
              <a:uFillTx/>
              <a:latin typeface="Arial"/>
            </a:endParaRPr>
          </a:p>
        </p:txBody>
      </p:sp>
      <p:sp>
        <p:nvSpPr>
          <p:cNvPr id="316" name="Text 3"/>
          <p:cNvSpPr/>
          <p:nvPr/>
        </p:nvSpPr>
        <p:spPr>
          <a:xfrm>
            <a:off x="612720" y="850320"/>
            <a:ext cx="96008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4748B"/>
                </a:solidFill>
                <a:effectLst/>
                <a:uFillTx/>
                <a:latin typeface="Aptos"/>
              </a:rPr>
              <a:t>Zwei Services für einen reproduzierbaren Start</a:t>
            </a:r>
            <a:endParaRPr lang="de-DE" sz="950" b="0" u="none" strike="noStrike">
              <a:solidFill>
                <a:srgbClr val="000000"/>
              </a:solidFill>
              <a:effectLst/>
              <a:uFillTx/>
              <a:latin typeface="Arial"/>
            </a:endParaRPr>
          </a:p>
        </p:txBody>
      </p:sp>
      <p:sp>
        <p:nvSpPr>
          <p:cNvPr id="317" name="Shape 4"/>
          <p:cNvSpPr/>
          <p:nvPr/>
        </p:nvSpPr>
        <p:spPr>
          <a:xfrm>
            <a:off x="502920" y="6473880"/>
            <a:ext cx="11201400" cy="360"/>
          </a:xfrm>
          <a:prstGeom prst="line">
            <a:avLst/>
          </a:prstGeom>
          <a:ln w="7620">
            <a:solidFill>
              <a:srgbClr val="CBD5E1">
                <a:alpha val="70000"/>
              </a:srgbClr>
            </a:solidFill>
            <a:round/>
          </a:ln>
        </p:spPr>
        <p:style>
          <a:lnRef idx="0"/>
          <a:fillRef idx="0"/>
          <a:effectRef idx="0"/>
          <a:fontRef idx="minor"/>
        </p:style>
        <p:txBody>
          <a:bodyPr lIns="90000" tIns="-44640" rIns="90000" bIns="-44640" anchor="t" anchorCtr="1">
            <a:noAutofit/>
          </a:bodyPr>
          <a:p>
            <a:endParaRPr lang="de-DE" sz="1800" b="0" u="none" strike="noStrike">
              <a:solidFill>
                <a:srgbClr val="000000"/>
              </a:solidFill>
              <a:effectLst/>
              <a:uFillTx/>
              <a:latin typeface="Arial"/>
            </a:endParaRPr>
          </a:p>
        </p:txBody>
      </p:sp>
      <p:sp>
        <p:nvSpPr>
          <p:cNvPr id="318" name="Text 5"/>
          <p:cNvSpPr/>
          <p:nvPr/>
        </p:nvSpPr>
        <p:spPr>
          <a:xfrm>
            <a:off x="567000" y="6519600"/>
            <a:ext cx="530316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4748B"/>
                </a:solidFill>
                <a:effectLst/>
                <a:uFillTx/>
                <a:latin typeface="Aptos"/>
                <a:ea typeface="Aptos"/>
              </a:rPr>
              <a:t>Teil 2 · Technologie &amp; Architektur</a:t>
            </a:r>
            <a:endParaRPr lang="de-DE" sz="750" b="0" u="none" strike="noStrike">
              <a:solidFill>
                <a:srgbClr val="000000"/>
              </a:solidFill>
              <a:effectLst/>
              <a:uFillTx/>
              <a:latin typeface="Arial"/>
            </a:endParaRPr>
          </a:p>
        </p:txBody>
      </p:sp>
      <p:sp>
        <p:nvSpPr>
          <p:cNvPr id="319" name="Text 6"/>
          <p:cNvSpPr/>
          <p:nvPr/>
        </p:nvSpPr>
        <p:spPr>
          <a:xfrm>
            <a:off x="11201400" y="6519600"/>
            <a:ext cx="45684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50" b="0" u="none" strike="noStrike">
                <a:solidFill>
                  <a:srgbClr val="64748B"/>
                </a:solidFill>
                <a:effectLst/>
                <a:uFillTx/>
                <a:latin typeface="Aptos"/>
                <a:ea typeface="Aptos"/>
              </a:rPr>
              <a:t>15</a:t>
            </a:r>
            <a:endParaRPr lang="de-DE" sz="750" b="0" u="none" strike="noStrike">
              <a:solidFill>
                <a:srgbClr val="000000"/>
              </a:solidFill>
              <a:effectLst/>
              <a:uFillTx/>
              <a:latin typeface="Arial"/>
            </a:endParaRPr>
          </a:p>
        </p:txBody>
      </p:sp>
      <p:sp>
        <p:nvSpPr>
          <p:cNvPr id="320" name="Shape 7"/>
          <p:cNvSpPr/>
          <p:nvPr/>
        </p:nvSpPr>
        <p:spPr>
          <a:xfrm>
            <a:off x="731520" y="1371600"/>
            <a:ext cx="5120280" cy="4388760"/>
          </a:xfrm>
          <a:prstGeom prst="roundRect">
            <a:avLst>
              <a:gd name="adj" fmla="val 1667"/>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321" name="Text 8"/>
          <p:cNvSpPr/>
          <p:nvPr/>
        </p:nvSpPr>
        <p:spPr>
          <a:xfrm>
            <a:off x="932760" y="1554480"/>
            <a:ext cx="47361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Backend-Service</a:t>
            </a:r>
            <a:endParaRPr lang="de-DE" sz="1350" b="0" u="none" strike="noStrike">
              <a:solidFill>
                <a:srgbClr val="000000"/>
              </a:solidFill>
              <a:effectLst/>
              <a:uFillTx/>
              <a:latin typeface="Arial"/>
            </a:endParaRPr>
          </a:p>
        </p:txBody>
      </p:sp>
      <p:sp>
        <p:nvSpPr>
          <p:cNvPr id="322" name="Text 9"/>
          <p:cNvSpPr/>
          <p:nvPr/>
        </p:nvSpPr>
        <p:spPr>
          <a:xfrm>
            <a:off x="987480" y="1993320"/>
            <a:ext cx="4617360" cy="342864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pPr>
            <a:r>
              <a:rPr lang="en-US" sz="1200" b="0" u="none" strike="noStrike">
                <a:solidFill>
                  <a:srgbClr val="334155"/>
                </a:solidFill>
                <a:effectLst/>
                <a:uFillTx/>
                <a:latin typeface="Aptos"/>
              </a:rPr>
              <a:t>Build aus backend/Dockerfile</a:t>
            </a:r>
            <a:endParaRPr lang="de-DE" sz="1200" b="0" u="none" strike="noStrike">
              <a:solidFill>
                <a:srgbClr val="000000"/>
              </a:solidFill>
              <a:effectLst/>
              <a:uFillTx/>
              <a:latin typeface="Arial"/>
            </a:endParaRPr>
          </a:p>
          <a:p>
            <a:pPr defTabSz="914400">
              <a:lnSpc>
                <a:spcPct val="100000"/>
              </a:lnSpc>
            </a:pPr>
            <a:r>
              <a:rPr lang="en-US" sz="1200" b="0" u="none" strike="noStrike">
                <a:solidFill>
                  <a:srgbClr val="334155"/>
                </a:solidFill>
                <a:effectLst/>
                <a:uFillTx/>
                <a:latin typeface="Aptos"/>
              </a:rPr>
              <a:t>Port 5000 nach außen</a:t>
            </a:r>
            <a:endParaRPr lang="de-DE" sz="1200" b="0" u="none" strike="noStrike">
              <a:solidFill>
                <a:srgbClr val="000000"/>
              </a:solidFill>
              <a:effectLst/>
              <a:uFillTx/>
              <a:latin typeface="Arial"/>
            </a:endParaRPr>
          </a:p>
          <a:p>
            <a:pPr defTabSz="914400">
              <a:lnSpc>
                <a:spcPct val="100000"/>
              </a:lnSpc>
            </a:pPr>
            <a:r>
              <a:rPr lang="en-US" sz="1200" b="0" u="none" strike="noStrike">
                <a:solidFill>
                  <a:srgbClr val="334155"/>
                </a:solidFill>
                <a:effectLst/>
                <a:uFillTx/>
                <a:latin typeface="Aptos"/>
              </a:rPr>
              <a:t>liest .env</a:t>
            </a:r>
            <a:endParaRPr lang="de-DE" sz="1200" b="0" u="none" strike="noStrike">
              <a:solidFill>
                <a:srgbClr val="000000"/>
              </a:solidFill>
              <a:effectLst/>
              <a:uFillTx/>
              <a:latin typeface="Arial"/>
            </a:endParaRPr>
          </a:p>
          <a:p>
            <a:pPr defTabSz="914400">
              <a:lnSpc>
                <a:spcPct val="100000"/>
              </a:lnSpc>
            </a:pPr>
            <a:r>
              <a:rPr lang="en-US" sz="1200" b="0" u="none" strike="noStrike">
                <a:solidFill>
                  <a:srgbClr val="334155"/>
                </a:solidFill>
                <a:effectLst/>
                <a:uFillTx/>
                <a:latin typeface="Aptos"/>
              </a:rPr>
              <a:t>Debug-Modus in der Entwicklung</a:t>
            </a:r>
            <a:endParaRPr lang="de-DE" sz="1200" b="0" u="none" strike="noStrike">
              <a:solidFill>
                <a:srgbClr val="000000"/>
              </a:solidFill>
              <a:effectLst/>
              <a:uFillTx/>
              <a:latin typeface="Arial"/>
            </a:endParaRPr>
          </a:p>
          <a:p>
            <a:pPr defTabSz="914400">
              <a:lnSpc>
                <a:spcPct val="100000"/>
              </a:lnSpc>
            </a:pPr>
            <a:r>
              <a:rPr lang="en-US" sz="1200" b="0" u="none" strike="noStrike">
                <a:solidFill>
                  <a:srgbClr val="334155"/>
                </a:solidFill>
                <a:effectLst/>
                <a:uFillTx/>
                <a:latin typeface="Aptos"/>
              </a:rPr>
              <a:t>Volume für schnellen Codewechsel</a:t>
            </a:r>
            <a:endParaRPr lang="de-DE" sz="1200" b="0" u="none" strike="noStrike">
              <a:solidFill>
                <a:srgbClr val="000000"/>
              </a:solidFill>
              <a:effectLst/>
              <a:uFillTx/>
              <a:latin typeface="Arial"/>
            </a:endParaRPr>
          </a:p>
        </p:txBody>
      </p:sp>
      <p:sp>
        <p:nvSpPr>
          <p:cNvPr id="323" name="Shape 10"/>
          <p:cNvSpPr/>
          <p:nvPr/>
        </p:nvSpPr>
        <p:spPr>
          <a:xfrm>
            <a:off x="6309360" y="1371600"/>
            <a:ext cx="5120280" cy="4388760"/>
          </a:xfrm>
          <a:prstGeom prst="roundRect">
            <a:avLst>
              <a:gd name="adj" fmla="val 1667"/>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324" name="Text 11"/>
          <p:cNvSpPr/>
          <p:nvPr/>
        </p:nvSpPr>
        <p:spPr>
          <a:xfrm>
            <a:off x="6510600" y="1554480"/>
            <a:ext cx="47361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Frontend-Service</a:t>
            </a:r>
            <a:endParaRPr lang="de-DE" sz="1350" b="0" u="none" strike="noStrike">
              <a:solidFill>
                <a:srgbClr val="000000"/>
              </a:solidFill>
              <a:effectLst/>
              <a:uFillTx/>
              <a:latin typeface="Arial"/>
            </a:endParaRPr>
          </a:p>
        </p:txBody>
      </p:sp>
      <p:sp>
        <p:nvSpPr>
          <p:cNvPr id="325" name="Text 12"/>
          <p:cNvSpPr/>
          <p:nvPr/>
        </p:nvSpPr>
        <p:spPr>
          <a:xfrm>
            <a:off x="6565320" y="1993320"/>
            <a:ext cx="4617360" cy="342864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pPr>
            <a:r>
              <a:rPr lang="en-US" sz="1200" b="0" u="none" strike="noStrike">
                <a:solidFill>
                  <a:srgbClr val="334155"/>
                </a:solidFill>
                <a:effectLst/>
                <a:uFillTx/>
                <a:latin typeface="Aptos"/>
              </a:rPr>
              <a:t>Build aus frontend/Dockerfile</a:t>
            </a:r>
            <a:endParaRPr lang="de-DE" sz="1200" b="0" u="none" strike="noStrike">
              <a:solidFill>
                <a:srgbClr val="000000"/>
              </a:solidFill>
              <a:effectLst/>
              <a:uFillTx/>
              <a:latin typeface="Arial"/>
            </a:endParaRPr>
          </a:p>
          <a:p>
            <a:pPr defTabSz="914400">
              <a:lnSpc>
                <a:spcPct val="100000"/>
              </a:lnSpc>
            </a:pPr>
            <a:r>
              <a:rPr lang="en-US" sz="1200" b="0" u="none" strike="noStrike">
                <a:solidFill>
                  <a:srgbClr val="334155"/>
                </a:solidFill>
                <a:effectLst/>
                <a:uFillTx/>
                <a:latin typeface="Aptos"/>
              </a:rPr>
              <a:t>Port 5173 nach außen</a:t>
            </a:r>
            <a:endParaRPr lang="de-DE" sz="1200" b="0" u="none" strike="noStrike">
              <a:solidFill>
                <a:srgbClr val="000000"/>
              </a:solidFill>
              <a:effectLst/>
              <a:uFillTx/>
              <a:latin typeface="Arial"/>
            </a:endParaRPr>
          </a:p>
          <a:p>
            <a:pPr defTabSz="914400">
              <a:lnSpc>
                <a:spcPct val="100000"/>
              </a:lnSpc>
            </a:pPr>
            <a:r>
              <a:rPr lang="en-US" sz="1200" b="0" u="none" strike="noStrike">
                <a:solidFill>
                  <a:srgbClr val="334155"/>
                </a:solidFill>
                <a:effectLst/>
                <a:uFillTx/>
                <a:latin typeface="Aptos"/>
              </a:rPr>
              <a:t>abhängig vom Backend</a:t>
            </a:r>
            <a:endParaRPr lang="de-DE" sz="1200" b="0" u="none" strike="noStrike">
              <a:solidFill>
                <a:srgbClr val="000000"/>
              </a:solidFill>
              <a:effectLst/>
              <a:uFillTx/>
              <a:latin typeface="Arial"/>
            </a:endParaRPr>
          </a:p>
          <a:p>
            <a:pPr defTabSz="914400">
              <a:lnSpc>
                <a:spcPct val="100000"/>
              </a:lnSpc>
            </a:pPr>
            <a:r>
              <a:rPr lang="en-US" sz="1200" b="0" u="none" strike="noStrike">
                <a:solidFill>
                  <a:srgbClr val="334155"/>
                </a:solidFill>
                <a:effectLst/>
                <a:uFillTx/>
                <a:latin typeface="Aptos"/>
              </a:rPr>
              <a:t>Node-Modules im Container</a:t>
            </a:r>
            <a:endParaRPr lang="de-DE" sz="1200" b="0" u="none" strike="noStrike">
              <a:solidFill>
                <a:srgbClr val="000000"/>
              </a:solidFill>
              <a:effectLst/>
              <a:uFillTx/>
              <a:latin typeface="Arial"/>
            </a:endParaRPr>
          </a:p>
          <a:p>
            <a:pPr defTabSz="914400">
              <a:lnSpc>
                <a:spcPct val="100000"/>
              </a:lnSpc>
            </a:pPr>
            <a:r>
              <a:rPr lang="en-US" sz="1200" b="0" u="none" strike="noStrike">
                <a:solidFill>
                  <a:srgbClr val="334155"/>
                </a:solidFill>
                <a:effectLst/>
                <a:uFillTx/>
                <a:latin typeface="Aptos"/>
              </a:rPr>
              <a:t>Start über Docker Compose</a:t>
            </a:r>
            <a:endParaRPr lang="de-DE"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326" name="Shape 0"/>
          <p:cNvSpPr/>
          <p:nvPr/>
        </p:nvSpPr>
        <p:spPr>
          <a:xfrm>
            <a:off x="0" y="0"/>
            <a:ext cx="12191400" cy="6857640"/>
          </a:xfrm>
          <a:prstGeom prst="rect">
            <a:avLst/>
          </a:prstGeom>
          <a:solidFill>
            <a:srgbClr val="F8FAFC"/>
          </a:solidFill>
          <a:ln w="12700">
            <a:solidFill>
              <a:srgbClr val="F8FAFC">
                <a:alpha val="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327" name="Shape 1"/>
          <p:cNvSpPr/>
          <p:nvPr/>
        </p:nvSpPr>
        <p:spPr>
          <a:xfrm>
            <a:off x="0" y="0"/>
            <a:ext cx="109440" cy="6857640"/>
          </a:xfrm>
          <a:prstGeom prst="rect">
            <a:avLst/>
          </a:prstGeom>
          <a:solidFill>
            <a:srgbClr val="10B981"/>
          </a:solidFill>
          <a:ln w="12700">
            <a:solidFill>
              <a:srgbClr val="10B981"/>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328" name="Text 2"/>
          <p:cNvSpPr/>
          <p:nvPr/>
        </p:nvSpPr>
        <p:spPr>
          <a:xfrm>
            <a:off x="594360" y="384120"/>
            <a:ext cx="9052200" cy="438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0F172A"/>
                </a:solidFill>
                <a:effectLst/>
                <a:uFillTx/>
                <a:latin typeface="Aptos Display"/>
                <a:ea typeface="Aptos Display"/>
              </a:rPr>
              <a:t>Architektur: Stärken &amp; Grenzen</a:t>
            </a:r>
            <a:endParaRPr lang="de-DE" sz="2400" b="0" u="none" strike="noStrike">
              <a:solidFill>
                <a:srgbClr val="000000"/>
              </a:solidFill>
              <a:effectLst/>
              <a:uFillTx/>
              <a:latin typeface="Arial"/>
            </a:endParaRPr>
          </a:p>
        </p:txBody>
      </p:sp>
      <p:sp>
        <p:nvSpPr>
          <p:cNvPr id="329" name="Text 3"/>
          <p:cNvSpPr/>
          <p:nvPr/>
        </p:nvSpPr>
        <p:spPr>
          <a:xfrm>
            <a:off x="612720" y="850320"/>
            <a:ext cx="96008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4748B"/>
                </a:solidFill>
                <a:effectLst/>
                <a:uFillTx/>
                <a:latin typeface="Aptos"/>
              </a:rPr>
              <a:t>Einordnung für den Prototyp</a:t>
            </a:r>
            <a:endParaRPr lang="de-DE" sz="950" b="0" u="none" strike="noStrike">
              <a:solidFill>
                <a:srgbClr val="000000"/>
              </a:solidFill>
              <a:effectLst/>
              <a:uFillTx/>
              <a:latin typeface="Arial"/>
            </a:endParaRPr>
          </a:p>
        </p:txBody>
      </p:sp>
      <p:sp>
        <p:nvSpPr>
          <p:cNvPr id="330" name="Shape 4"/>
          <p:cNvSpPr/>
          <p:nvPr/>
        </p:nvSpPr>
        <p:spPr>
          <a:xfrm>
            <a:off x="502920" y="6473880"/>
            <a:ext cx="11201400" cy="360"/>
          </a:xfrm>
          <a:prstGeom prst="line">
            <a:avLst/>
          </a:prstGeom>
          <a:ln w="7620">
            <a:solidFill>
              <a:srgbClr val="CBD5E1">
                <a:alpha val="70000"/>
              </a:srgbClr>
            </a:solidFill>
            <a:round/>
          </a:ln>
        </p:spPr>
        <p:style>
          <a:lnRef idx="0"/>
          <a:fillRef idx="0"/>
          <a:effectRef idx="0"/>
          <a:fontRef idx="minor"/>
        </p:style>
        <p:txBody>
          <a:bodyPr lIns="90000" tIns="-44640" rIns="90000" bIns="-44640" anchor="t" anchorCtr="1">
            <a:noAutofit/>
          </a:bodyPr>
          <a:p>
            <a:endParaRPr lang="de-DE" sz="1800" b="0" u="none" strike="noStrike">
              <a:solidFill>
                <a:srgbClr val="000000"/>
              </a:solidFill>
              <a:effectLst/>
              <a:uFillTx/>
              <a:latin typeface="Arial"/>
            </a:endParaRPr>
          </a:p>
        </p:txBody>
      </p:sp>
      <p:sp>
        <p:nvSpPr>
          <p:cNvPr id="331" name="Text 5"/>
          <p:cNvSpPr/>
          <p:nvPr/>
        </p:nvSpPr>
        <p:spPr>
          <a:xfrm>
            <a:off x="567000" y="6519600"/>
            <a:ext cx="530316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4748B"/>
                </a:solidFill>
                <a:effectLst/>
                <a:uFillTx/>
                <a:latin typeface="Aptos"/>
                <a:ea typeface="Aptos"/>
              </a:rPr>
              <a:t>Teil 2 · Technologie &amp; Architektur</a:t>
            </a:r>
            <a:endParaRPr lang="de-DE" sz="750" b="0" u="none" strike="noStrike">
              <a:solidFill>
                <a:srgbClr val="000000"/>
              </a:solidFill>
              <a:effectLst/>
              <a:uFillTx/>
              <a:latin typeface="Arial"/>
            </a:endParaRPr>
          </a:p>
        </p:txBody>
      </p:sp>
      <p:sp>
        <p:nvSpPr>
          <p:cNvPr id="332" name="Text 6"/>
          <p:cNvSpPr/>
          <p:nvPr/>
        </p:nvSpPr>
        <p:spPr>
          <a:xfrm>
            <a:off x="11201400" y="6519600"/>
            <a:ext cx="45684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50" b="0" u="none" strike="noStrike">
                <a:solidFill>
                  <a:srgbClr val="64748B"/>
                </a:solidFill>
                <a:effectLst/>
                <a:uFillTx/>
                <a:latin typeface="Aptos"/>
                <a:ea typeface="Aptos"/>
              </a:rPr>
              <a:t>16</a:t>
            </a:r>
            <a:endParaRPr lang="de-DE" sz="750" b="0" u="none" strike="noStrike">
              <a:solidFill>
                <a:srgbClr val="000000"/>
              </a:solidFill>
              <a:effectLst/>
              <a:uFillTx/>
              <a:latin typeface="Arial"/>
            </a:endParaRPr>
          </a:p>
        </p:txBody>
      </p:sp>
      <p:sp>
        <p:nvSpPr>
          <p:cNvPr id="333" name="Shape 7"/>
          <p:cNvSpPr/>
          <p:nvPr/>
        </p:nvSpPr>
        <p:spPr>
          <a:xfrm>
            <a:off x="731520" y="1371600"/>
            <a:ext cx="5120280" cy="4388760"/>
          </a:xfrm>
          <a:prstGeom prst="roundRect">
            <a:avLst>
              <a:gd name="adj" fmla="val 1667"/>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334" name="Text 8"/>
          <p:cNvSpPr/>
          <p:nvPr/>
        </p:nvSpPr>
        <p:spPr>
          <a:xfrm>
            <a:off x="932760" y="1554480"/>
            <a:ext cx="47361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Stärken</a:t>
            </a:r>
            <a:endParaRPr lang="de-DE" sz="1350" b="0" u="none" strike="noStrike">
              <a:solidFill>
                <a:srgbClr val="000000"/>
              </a:solidFill>
              <a:effectLst/>
              <a:uFillTx/>
              <a:latin typeface="Arial"/>
            </a:endParaRPr>
          </a:p>
        </p:txBody>
      </p:sp>
      <p:sp>
        <p:nvSpPr>
          <p:cNvPr id="335" name="Text 9"/>
          <p:cNvSpPr/>
          <p:nvPr/>
        </p:nvSpPr>
        <p:spPr>
          <a:xfrm>
            <a:off x="987480" y="1993320"/>
            <a:ext cx="4617360" cy="342864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pPr>
            <a:r>
              <a:rPr lang="en-US" sz="1200" b="0" u="none" strike="noStrike">
                <a:solidFill>
                  <a:srgbClr val="334155"/>
                </a:solidFill>
                <a:effectLst/>
                <a:uFillTx/>
                <a:latin typeface="Aptos"/>
              </a:rPr>
              <a:t>Klare Trennung von UI, API und Datenbank</a:t>
            </a:r>
            <a:endParaRPr lang="de-DE" sz="1200" b="0" u="none" strike="noStrike">
              <a:solidFill>
                <a:srgbClr val="000000"/>
              </a:solidFill>
              <a:effectLst/>
              <a:uFillTx/>
              <a:latin typeface="Arial"/>
            </a:endParaRPr>
          </a:p>
          <a:p>
            <a:pPr defTabSz="914400">
              <a:lnSpc>
                <a:spcPct val="100000"/>
              </a:lnSpc>
            </a:pPr>
            <a:r>
              <a:rPr lang="en-US" sz="1200" b="0" u="none" strike="noStrike">
                <a:solidFill>
                  <a:srgbClr val="334155"/>
                </a:solidFill>
                <a:effectLst/>
                <a:uFillTx/>
                <a:latin typeface="Aptos"/>
              </a:rPr>
              <a:t>Modulare Routenstruktur</a:t>
            </a:r>
            <a:endParaRPr lang="de-DE" sz="1200" b="0" u="none" strike="noStrike">
              <a:solidFill>
                <a:srgbClr val="000000"/>
              </a:solidFill>
              <a:effectLst/>
              <a:uFillTx/>
              <a:latin typeface="Arial"/>
            </a:endParaRPr>
          </a:p>
          <a:p>
            <a:pPr defTabSz="914400">
              <a:lnSpc>
                <a:spcPct val="100000"/>
              </a:lnSpc>
            </a:pPr>
            <a:r>
              <a:rPr lang="en-US" sz="1200" b="0" u="none" strike="noStrike">
                <a:solidFill>
                  <a:srgbClr val="334155"/>
                </a:solidFill>
                <a:effectLst/>
                <a:uFillTx/>
                <a:latin typeface="Aptos"/>
              </a:rPr>
              <a:t>Schnelle lokale Entwicklung</a:t>
            </a:r>
            <a:endParaRPr lang="de-DE" sz="1200" b="0" u="none" strike="noStrike">
              <a:solidFill>
                <a:srgbClr val="000000"/>
              </a:solidFill>
              <a:effectLst/>
              <a:uFillTx/>
              <a:latin typeface="Arial"/>
            </a:endParaRPr>
          </a:p>
          <a:p>
            <a:pPr defTabSz="914400">
              <a:lnSpc>
                <a:spcPct val="100000"/>
              </a:lnSpc>
            </a:pPr>
            <a:r>
              <a:rPr lang="en-US" sz="1200" b="0" u="none" strike="noStrike">
                <a:solidFill>
                  <a:srgbClr val="334155"/>
                </a:solidFill>
                <a:effectLst/>
                <a:uFillTx/>
                <a:latin typeface="Aptos"/>
              </a:rPr>
              <a:t>Gute Grundlage für Erweiterungen</a:t>
            </a:r>
            <a:endParaRPr lang="de-DE" sz="1200" b="0" u="none" strike="noStrike">
              <a:solidFill>
                <a:srgbClr val="000000"/>
              </a:solidFill>
              <a:effectLst/>
              <a:uFillTx/>
              <a:latin typeface="Arial"/>
            </a:endParaRPr>
          </a:p>
        </p:txBody>
      </p:sp>
      <p:sp>
        <p:nvSpPr>
          <p:cNvPr id="336" name="Shape 10"/>
          <p:cNvSpPr/>
          <p:nvPr/>
        </p:nvSpPr>
        <p:spPr>
          <a:xfrm>
            <a:off x="6309360" y="1371600"/>
            <a:ext cx="5120280" cy="4388760"/>
          </a:xfrm>
          <a:prstGeom prst="roundRect">
            <a:avLst>
              <a:gd name="adj" fmla="val 1667"/>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337" name="Text 11"/>
          <p:cNvSpPr/>
          <p:nvPr/>
        </p:nvSpPr>
        <p:spPr>
          <a:xfrm>
            <a:off x="6510600" y="1554480"/>
            <a:ext cx="47361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Grenzen</a:t>
            </a:r>
            <a:endParaRPr lang="de-DE" sz="1350" b="0" u="none" strike="noStrike">
              <a:solidFill>
                <a:srgbClr val="000000"/>
              </a:solidFill>
              <a:effectLst/>
              <a:uFillTx/>
              <a:latin typeface="Arial"/>
            </a:endParaRPr>
          </a:p>
        </p:txBody>
      </p:sp>
      <p:sp>
        <p:nvSpPr>
          <p:cNvPr id="338" name="Text 12"/>
          <p:cNvSpPr/>
          <p:nvPr/>
        </p:nvSpPr>
        <p:spPr>
          <a:xfrm>
            <a:off x="6565320" y="1993320"/>
            <a:ext cx="4617360" cy="342864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pPr>
            <a:r>
              <a:rPr lang="en-US" sz="1200" b="0" u="none" strike="noStrike">
                <a:solidFill>
                  <a:srgbClr val="334155"/>
                </a:solidFill>
                <a:effectLst/>
                <a:uFillTx/>
                <a:latin typeface="Aptos"/>
              </a:rPr>
              <a:t>Noch kein produktiver Betrieb</a:t>
            </a:r>
            <a:endParaRPr lang="de-DE" sz="1200" b="0" u="none" strike="noStrike">
              <a:solidFill>
                <a:srgbClr val="000000"/>
              </a:solidFill>
              <a:effectLst/>
              <a:uFillTx/>
              <a:latin typeface="Arial"/>
            </a:endParaRPr>
          </a:p>
          <a:p>
            <a:pPr defTabSz="914400">
              <a:lnSpc>
                <a:spcPct val="100000"/>
              </a:lnSpc>
            </a:pPr>
            <a:r>
              <a:rPr lang="en-US" sz="1200" b="0" u="none" strike="noStrike">
                <a:solidFill>
                  <a:srgbClr val="334155"/>
                </a:solidFill>
                <a:effectLst/>
                <a:uFillTx/>
                <a:latin typeface="Aptos"/>
              </a:rPr>
              <a:t>Sicherheits-Hardening ausbaufähig</a:t>
            </a:r>
            <a:endParaRPr lang="de-DE" sz="1200" b="0" u="none" strike="noStrike">
              <a:solidFill>
                <a:srgbClr val="000000"/>
              </a:solidFill>
              <a:effectLst/>
              <a:uFillTx/>
              <a:latin typeface="Arial"/>
            </a:endParaRPr>
          </a:p>
          <a:p>
            <a:pPr defTabSz="914400">
              <a:lnSpc>
                <a:spcPct val="100000"/>
              </a:lnSpc>
            </a:pPr>
            <a:r>
              <a:rPr lang="en-US" sz="1200" b="0" u="none" strike="noStrike">
                <a:solidFill>
                  <a:srgbClr val="334155"/>
                </a:solidFill>
                <a:effectLst/>
                <a:uFillTx/>
                <a:latin typeface="Aptos"/>
              </a:rPr>
              <a:t>Keine vollständige API-Spezifikation</a:t>
            </a:r>
            <a:endParaRPr lang="de-DE" sz="1200" b="0" u="none" strike="noStrike">
              <a:solidFill>
                <a:srgbClr val="000000"/>
              </a:solidFill>
              <a:effectLst/>
              <a:uFillTx/>
              <a:latin typeface="Arial"/>
            </a:endParaRPr>
          </a:p>
          <a:p>
            <a:pPr defTabSz="914400">
              <a:lnSpc>
                <a:spcPct val="100000"/>
              </a:lnSpc>
            </a:pPr>
            <a:r>
              <a:rPr lang="en-US" sz="1200" b="0" u="none" strike="noStrike">
                <a:solidFill>
                  <a:srgbClr val="334155"/>
                </a:solidFill>
                <a:effectLst/>
                <a:uFillTx/>
                <a:latin typeface="Aptos"/>
              </a:rPr>
              <a:t>Deployment über Docker erst lokal beschrieben</a:t>
            </a:r>
            <a:endParaRPr lang="de-DE"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339" name="Shape 0"/>
          <p:cNvSpPr/>
          <p:nvPr/>
        </p:nvSpPr>
        <p:spPr>
          <a:xfrm>
            <a:off x="0" y="0"/>
            <a:ext cx="12191400" cy="6857640"/>
          </a:xfrm>
          <a:prstGeom prst="rect">
            <a:avLst/>
          </a:prstGeom>
          <a:solidFill>
            <a:srgbClr val="0F172A"/>
          </a:solidFill>
          <a:ln w="12700">
            <a:solidFill>
              <a:srgbClr val="0F172A"/>
            </a:solidFill>
            <a:round/>
          </a:ln>
        </p:spPr>
        <p:style>
          <a:lnRef idx="0"/>
          <a:fillRef idx="0"/>
          <a:effectRef idx="0"/>
          <a:fontRef idx="minor"/>
        </p:style>
        <p:txBody>
          <a:bodyPr lIns="90000" tIns="45000" rIns="90000" bIns="45000" anchor="t">
            <a:noAutofit/>
          </a:bodyPr>
          <a:p>
            <a:endParaRPr lang="de-DE" sz="1800" b="0" u="none" strike="noStrike">
              <a:solidFill>
                <a:srgbClr val="FFFFFF"/>
              </a:solidFill>
              <a:effectLst/>
              <a:uFillTx/>
              <a:latin typeface="Arial"/>
            </a:endParaRPr>
          </a:p>
        </p:txBody>
      </p:sp>
      <p:sp>
        <p:nvSpPr>
          <p:cNvPr id="340" name="Shape 1"/>
          <p:cNvSpPr/>
          <p:nvPr/>
        </p:nvSpPr>
        <p:spPr>
          <a:xfrm>
            <a:off x="0" y="0"/>
            <a:ext cx="12191400" cy="200880"/>
          </a:xfrm>
          <a:prstGeom prst="rect">
            <a:avLst/>
          </a:prstGeom>
          <a:solidFill>
            <a:srgbClr val="F59E0B"/>
          </a:solidFill>
          <a:ln w="12700">
            <a:solidFill>
              <a:srgbClr val="F59E0B"/>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341" name="Text 2"/>
          <p:cNvSpPr/>
          <p:nvPr/>
        </p:nvSpPr>
        <p:spPr>
          <a:xfrm>
            <a:off x="685800" y="914400"/>
            <a:ext cx="123408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F59E0B"/>
                </a:solidFill>
                <a:effectLst/>
                <a:uFillTx/>
                <a:latin typeface="Aptos"/>
              </a:rPr>
              <a:t>Teil 3</a:t>
            </a:r>
            <a:endParaRPr lang="de-DE" sz="1300" b="0" u="none" strike="noStrike">
              <a:solidFill>
                <a:srgbClr val="FFFFFF"/>
              </a:solidFill>
              <a:effectLst/>
              <a:uFillTx/>
              <a:latin typeface="Arial"/>
            </a:endParaRPr>
          </a:p>
        </p:txBody>
      </p:sp>
      <p:sp>
        <p:nvSpPr>
          <p:cNvPr id="342" name="Text 3"/>
          <p:cNvSpPr/>
          <p:nvPr/>
        </p:nvSpPr>
        <p:spPr>
          <a:xfrm>
            <a:off x="685800" y="1325880"/>
            <a:ext cx="8046360" cy="7311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3400" b="1" u="none" strike="noStrike">
                <a:solidFill>
                  <a:srgbClr val="FFFFFF"/>
                </a:solidFill>
                <a:effectLst/>
                <a:uFillTx/>
                <a:latin typeface="Aptos"/>
              </a:rPr>
              <a:t>Datenbank &amp; Migration</a:t>
            </a:r>
            <a:endParaRPr lang="de-DE" sz="3400" b="0" u="none" strike="noStrike">
              <a:solidFill>
                <a:srgbClr val="FFFFFF"/>
              </a:solidFill>
              <a:effectLst/>
              <a:uFillTx/>
              <a:latin typeface="Arial"/>
            </a:endParaRPr>
          </a:p>
        </p:txBody>
      </p:sp>
      <p:sp>
        <p:nvSpPr>
          <p:cNvPr id="343" name="Text 4"/>
          <p:cNvSpPr/>
          <p:nvPr/>
        </p:nvSpPr>
        <p:spPr>
          <a:xfrm>
            <a:off x="713160" y="2176200"/>
            <a:ext cx="50288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CBD5E1"/>
                </a:solidFill>
                <a:effectLst/>
                <a:uFillTx/>
                <a:latin typeface="Aptos"/>
              </a:rPr>
              <a:t>Grit Unzner</a:t>
            </a:r>
            <a:endParaRPr lang="de-DE" sz="1300" b="0" u="none" strike="noStrike">
              <a:solidFill>
                <a:srgbClr val="FFFFFF"/>
              </a:solidFill>
              <a:effectLst/>
              <a:uFillTx/>
              <a:latin typeface="Arial"/>
            </a:endParaRPr>
          </a:p>
        </p:txBody>
      </p:sp>
      <p:sp>
        <p:nvSpPr>
          <p:cNvPr id="344" name="Text 5"/>
          <p:cNvSpPr/>
          <p:nvPr/>
        </p:nvSpPr>
        <p:spPr>
          <a:xfrm>
            <a:off x="9235440" y="1188720"/>
            <a:ext cx="1462680" cy="1279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5800" b="0" u="none" strike="noStrike">
                <a:solidFill>
                  <a:srgbClr val="F59E0B"/>
                </a:solidFill>
                <a:effectLst/>
                <a:uFillTx/>
                <a:latin typeface="Aptos"/>
              </a:rPr>
              <a:t>🗄</a:t>
            </a:r>
            <a:endParaRPr lang="de-DE" sz="5800" b="0" u="none" strike="noStrike">
              <a:solidFill>
                <a:srgbClr val="FFFFFF"/>
              </a:solidFill>
              <a:effectLst/>
              <a:uFillTx/>
              <a:latin typeface="Arial"/>
            </a:endParaRPr>
          </a:p>
        </p:txBody>
      </p:sp>
      <p:sp>
        <p:nvSpPr>
          <p:cNvPr id="345" name="Shape 6"/>
          <p:cNvSpPr/>
          <p:nvPr/>
        </p:nvSpPr>
        <p:spPr>
          <a:xfrm>
            <a:off x="713160" y="2816280"/>
            <a:ext cx="10607040" cy="360"/>
          </a:xfrm>
          <a:prstGeom prst="line">
            <a:avLst/>
          </a:prstGeom>
          <a:ln w="12700">
            <a:solidFill>
              <a:srgbClr val="334155"/>
            </a:solidFill>
            <a:round/>
          </a:ln>
        </p:spPr>
        <p:style>
          <a:lnRef idx="0"/>
          <a:fillRef idx="0"/>
          <a:effectRef idx="0"/>
          <a:fontRef idx="minor"/>
        </p:style>
        <p:txBody>
          <a:bodyPr lIns="90000" tIns="-44640" rIns="90000" bIns="-44640" anchor="t" anchorCtr="1">
            <a:noAutofit/>
          </a:bodyPr>
          <a:p>
            <a:endParaRPr lang="de-DE" sz="1800" b="0" u="none" strike="noStrike">
              <a:solidFill>
                <a:srgbClr val="FFFFFF"/>
              </a:solidFill>
              <a:effectLst/>
              <a:uFillTx/>
              <a:latin typeface="Arial"/>
            </a:endParaRPr>
          </a:p>
        </p:txBody>
      </p:sp>
      <p:sp>
        <p:nvSpPr>
          <p:cNvPr id="346" name="Text 7"/>
          <p:cNvSpPr/>
          <p:nvPr/>
        </p:nvSpPr>
        <p:spPr>
          <a:xfrm>
            <a:off x="749880" y="3127320"/>
            <a:ext cx="201132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FFFFFF"/>
                </a:solidFill>
                <a:effectLst/>
                <a:uFillTx/>
                <a:latin typeface="Aptos"/>
              </a:rPr>
              <a:t>Ziel dieses Abschnitts</a:t>
            </a:r>
            <a:endParaRPr lang="de-DE" sz="1200" b="0" u="none" strike="noStrike">
              <a:solidFill>
                <a:srgbClr val="FFFFFF"/>
              </a:solidFill>
              <a:effectLst/>
              <a:uFillTx/>
              <a:latin typeface="Arial"/>
            </a:endParaRPr>
          </a:p>
        </p:txBody>
      </p:sp>
      <p:sp>
        <p:nvSpPr>
          <p:cNvPr id="347" name="Text 8"/>
          <p:cNvSpPr/>
          <p:nvPr/>
        </p:nvSpPr>
        <p:spPr>
          <a:xfrm>
            <a:off x="749880" y="3474720"/>
            <a:ext cx="7497720" cy="59400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600" b="0" u="none" strike="noStrike">
                <a:solidFill>
                  <a:srgbClr val="E2E8F0"/>
                </a:solidFill>
                <a:effectLst/>
                <a:uFillTx/>
                <a:latin typeface="Aptos"/>
              </a:rPr>
              <a:t>Warum wurde das Datenmodell umgestellt und wie wurden JSON-Strukturen relational abgebildet?</a:t>
            </a:r>
            <a:endParaRPr lang="de-DE" sz="1600" b="0" u="none" strike="noStrike">
              <a:solidFill>
                <a:srgbClr val="FFFFFF"/>
              </a:solidFill>
              <a:effectLst/>
              <a:uFillTx/>
              <a:latin typeface="Arial"/>
            </a:endParaRPr>
          </a:p>
        </p:txBody>
      </p:sp>
      <p:sp>
        <p:nvSpPr>
          <p:cNvPr id="348" name="Text 9"/>
          <p:cNvSpPr/>
          <p:nvPr/>
        </p:nvSpPr>
        <p:spPr>
          <a:xfrm>
            <a:off x="11174040" y="6473880"/>
            <a:ext cx="45684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50" b="0" u="none" strike="noStrike">
                <a:solidFill>
                  <a:srgbClr val="94A3B8"/>
                </a:solidFill>
                <a:effectLst/>
                <a:uFillTx/>
                <a:latin typeface="Aptos"/>
              </a:rPr>
              <a:t>17</a:t>
            </a:r>
            <a:endParaRPr lang="de-DE" sz="7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349" name="Shape 0"/>
          <p:cNvSpPr/>
          <p:nvPr/>
        </p:nvSpPr>
        <p:spPr>
          <a:xfrm>
            <a:off x="6480000" y="4500000"/>
            <a:ext cx="4140000" cy="1080000"/>
          </a:xfrm>
          <a:prstGeom prst="rect">
            <a:avLst/>
          </a:prstGeom>
          <a:solidFill>
            <a:srgbClr val="F8FAFC"/>
          </a:solidFill>
          <a:ln w="12700">
            <a:solidFill>
              <a:srgbClr val="F8FAFC">
                <a:alpha val="0"/>
              </a:srgbClr>
            </a:solidFill>
            <a:round/>
          </a:ln>
        </p:spPr>
        <p:style>
          <a:lnRef idx="0"/>
          <a:fillRef idx="0"/>
          <a:effectRef idx="0"/>
          <a:fontRef idx="minor"/>
        </p:style>
        <p:txBody>
          <a:bodyPr lIns="90000" tIns="45000" rIns="90000" bIns="45000" anchor="t">
            <a:noAutofit/>
          </a:bodyPr>
          <a:p>
            <a:pPr marL="216000" indent="-216000" defTabSz="914400">
              <a:lnSpc>
                <a:spcPct val="100000"/>
              </a:lnSpc>
              <a:buClr>
                <a:srgbClr val="000000"/>
              </a:buClr>
              <a:buSzPct val="45000"/>
              <a:buFont typeface="Wingdings" charset="2"/>
              <a:buChar char=""/>
            </a:pPr>
            <a:r>
              <a:rPr lang="en-US" sz="1400" b="0" u="none" strike="noStrike">
                <a:solidFill>
                  <a:srgbClr val="334155"/>
                </a:solidFill>
                <a:effectLst/>
                <a:uFillTx/>
                <a:latin typeface="Aptos"/>
              </a:rPr>
              <a:t>Supabase mit PostgreSQL</a:t>
            </a:r>
            <a:endParaRPr lang="de-DE" sz="1400" b="0" u="none" strike="noStrike">
              <a:solidFill>
                <a:srgbClr val="000000"/>
              </a:solidFill>
              <a:effectLst/>
              <a:uFillTx/>
              <a:latin typeface="Arial"/>
            </a:endParaRPr>
          </a:p>
          <a:p>
            <a:pPr marL="216000" indent="-216000" defTabSz="914400">
              <a:lnSpc>
                <a:spcPct val="100000"/>
              </a:lnSpc>
              <a:buClr>
                <a:srgbClr val="000000"/>
              </a:buClr>
              <a:buSzPct val="45000"/>
              <a:buFont typeface="Wingdings" charset="2"/>
              <a:buChar char=""/>
            </a:pPr>
            <a:r>
              <a:rPr lang="en-US" sz="1400" b="0" u="none" strike="noStrike">
                <a:solidFill>
                  <a:srgbClr val="334155"/>
                </a:solidFill>
                <a:effectLst/>
                <a:uFillTx/>
                <a:latin typeface="Aptos"/>
              </a:rPr>
              <a:t>Relationale Tabellen und Beziehungen</a:t>
            </a:r>
            <a:endParaRPr lang="de-DE" sz="1400" b="0" u="none" strike="noStrike">
              <a:solidFill>
                <a:srgbClr val="000000"/>
              </a:solidFill>
              <a:effectLst/>
              <a:uFillTx/>
              <a:latin typeface="Arial"/>
            </a:endParaRPr>
          </a:p>
          <a:p>
            <a:pPr marL="216000" indent="-216000" defTabSz="914400">
              <a:lnSpc>
                <a:spcPct val="100000"/>
              </a:lnSpc>
              <a:buClr>
                <a:srgbClr val="000000"/>
              </a:buClr>
              <a:buSzPct val="45000"/>
              <a:buFont typeface="Wingdings" charset="2"/>
              <a:buChar char=""/>
            </a:pPr>
            <a:r>
              <a:rPr lang="en-US" sz="1400" b="0" u="none" strike="noStrike">
                <a:solidFill>
                  <a:srgbClr val="334155"/>
                </a:solidFill>
                <a:effectLst/>
                <a:uFillTx/>
                <a:latin typeface="Aptos"/>
              </a:rPr>
              <a:t>Gezielte CRUD-Operationen</a:t>
            </a:r>
            <a:endParaRPr lang="de-DE" sz="1400" b="0" u="none" strike="noStrike">
              <a:solidFill>
                <a:srgbClr val="000000"/>
              </a:solidFill>
              <a:effectLst/>
              <a:uFillTx/>
              <a:latin typeface="Arial"/>
            </a:endParaRPr>
          </a:p>
          <a:p>
            <a:pPr marL="216000" indent="-216000" defTabSz="914400">
              <a:lnSpc>
                <a:spcPct val="100000"/>
              </a:lnSpc>
              <a:buClr>
                <a:srgbClr val="000000"/>
              </a:buClr>
              <a:buSzPct val="45000"/>
              <a:buFont typeface="Wingdings" charset="2"/>
              <a:buChar char=""/>
            </a:pPr>
            <a:r>
              <a:rPr lang="en-US" sz="1400" b="0" u="none" strike="noStrike">
                <a:solidFill>
                  <a:srgbClr val="334155"/>
                </a:solidFill>
                <a:effectLst/>
                <a:uFillTx/>
                <a:latin typeface="Aptos"/>
              </a:rPr>
              <a:t>Bessere Konsistenz und Abfragen</a:t>
            </a:r>
            <a:endParaRPr lang="de-DE" sz="1400" b="0" u="none" strike="noStrike">
              <a:solidFill>
                <a:srgbClr val="000000"/>
              </a:solidFill>
              <a:effectLst/>
              <a:uFillTx/>
              <a:latin typeface="Arial"/>
            </a:endParaRPr>
          </a:p>
        </p:txBody>
      </p:sp>
      <p:sp>
        <p:nvSpPr>
          <p:cNvPr id="350" name="Shape 1"/>
          <p:cNvSpPr/>
          <p:nvPr/>
        </p:nvSpPr>
        <p:spPr>
          <a:xfrm>
            <a:off x="0" y="0"/>
            <a:ext cx="109440" cy="6857640"/>
          </a:xfrm>
          <a:prstGeom prst="rect">
            <a:avLst/>
          </a:prstGeom>
          <a:solidFill>
            <a:srgbClr val="10B981"/>
          </a:solidFill>
          <a:ln w="12700">
            <a:solidFill>
              <a:srgbClr val="10B981"/>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351" name="Text 2"/>
          <p:cNvSpPr/>
          <p:nvPr/>
        </p:nvSpPr>
        <p:spPr>
          <a:xfrm>
            <a:off x="594360" y="384120"/>
            <a:ext cx="9052200" cy="438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0F172A"/>
                </a:solidFill>
                <a:effectLst/>
                <a:uFillTx/>
                <a:latin typeface="Aptos Display"/>
                <a:ea typeface="Aptos Display"/>
              </a:rPr>
              <a:t>Ausgangslage der Datenhaltung</a:t>
            </a:r>
            <a:endParaRPr lang="de-DE" sz="2400" b="0" u="none" strike="noStrike">
              <a:solidFill>
                <a:srgbClr val="000000"/>
              </a:solidFill>
              <a:effectLst/>
              <a:uFillTx/>
              <a:latin typeface="Arial"/>
            </a:endParaRPr>
          </a:p>
        </p:txBody>
      </p:sp>
      <p:sp>
        <p:nvSpPr>
          <p:cNvPr id="352" name="Text 3"/>
          <p:cNvSpPr/>
          <p:nvPr/>
        </p:nvSpPr>
        <p:spPr>
          <a:xfrm>
            <a:off x="612720" y="850320"/>
            <a:ext cx="96008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64748B"/>
                </a:solidFill>
                <a:effectLst/>
                <a:uFillTx/>
                <a:latin typeface="Aptos"/>
              </a:rPr>
              <a:t>Von Azure Cosmos DB / JSON zur relationalen Datenbank</a:t>
            </a:r>
            <a:endParaRPr lang="de-DE" sz="1200" b="0" u="none" strike="noStrike">
              <a:solidFill>
                <a:srgbClr val="000000"/>
              </a:solidFill>
              <a:effectLst/>
              <a:uFillTx/>
              <a:latin typeface="Arial"/>
            </a:endParaRPr>
          </a:p>
        </p:txBody>
      </p:sp>
      <p:sp>
        <p:nvSpPr>
          <p:cNvPr id="353" name="Shape 4"/>
          <p:cNvSpPr/>
          <p:nvPr/>
        </p:nvSpPr>
        <p:spPr>
          <a:xfrm>
            <a:off x="502920" y="6473880"/>
            <a:ext cx="11201400" cy="360"/>
          </a:xfrm>
          <a:prstGeom prst="line">
            <a:avLst/>
          </a:prstGeom>
          <a:ln w="7620">
            <a:solidFill>
              <a:srgbClr val="CBD5E1">
                <a:alpha val="70000"/>
              </a:srgbClr>
            </a:solidFill>
            <a:round/>
          </a:ln>
        </p:spPr>
        <p:style>
          <a:lnRef idx="0"/>
          <a:fillRef idx="0"/>
          <a:effectRef idx="0"/>
          <a:fontRef idx="minor"/>
        </p:style>
        <p:txBody>
          <a:bodyPr lIns="90000" tIns="-44640" rIns="90000" bIns="-44640" anchor="t" anchorCtr="1">
            <a:noAutofit/>
          </a:bodyPr>
          <a:p>
            <a:endParaRPr lang="de-DE" sz="1800" b="0" u="none" strike="noStrike">
              <a:solidFill>
                <a:srgbClr val="000000"/>
              </a:solidFill>
              <a:effectLst/>
              <a:uFillTx/>
              <a:latin typeface="Arial"/>
            </a:endParaRPr>
          </a:p>
        </p:txBody>
      </p:sp>
      <p:sp>
        <p:nvSpPr>
          <p:cNvPr id="354" name="Text 5"/>
          <p:cNvSpPr/>
          <p:nvPr/>
        </p:nvSpPr>
        <p:spPr>
          <a:xfrm>
            <a:off x="567000" y="6519600"/>
            <a:ext cx="530316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4748B"/>
                </a:solidFill>
                <a:effectLst/>
                <a:uFillTx/>
                <a:latin typeface="Aptos"/>
                <a:ea typeface="Aptos"/>
              </a:rPr>
              <a:t>Teil 3 · Datenbank &amp; Migration</a:t>
            </a:r>
            <a:endParaRPr lang="de-DE" sz="750" b="0" u="none" strike="noStrike">
              <a:solidFill>
                <a:srgbClr val="000000"/>
              </a:solidFill>
              <a:effectLst/>
              <a:uFillTx/>
              <a:latin typeface="Arial"/>
            </a:endParaRPr>
          </a:p>
        </p:txBody>
      </p:sp>
      <p:sp>
        <p:nvSpPr>
          <p:cNvPr id="355" name="Text 6"/>
          <p:cNvSpPr/>
          <p:nvPr/>
        </p:nvSpPr>
        <p:spPr>
          <a:xfrm>
            <a:off x="11201400" y="6519600"/>
            <a:ext cx="45684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50" b="0" u="none" strike="noStrike">
                <a:solidFill>
                  <a:srgbClr val="64748B"/>
                </a:solidFill>
                <a:effectLst/>
                <a:uFillTx/>
                <a:latin typeface="Aptos"/>
                <a:ea typeface="Aptos"/>
              </a:rPr>
              <a:t>18</a:t>
            </a:r>
            <a:endParaRPr lang="de-DE" sz="750" b="0" u="none" strike="noStrike">
              <a:solidFill>
                <a:srgbClr val="000000"/>
              </a:solidFill>
              <a:effectLst/>
              <a:uFillTx/>
              <a:latin typeface="Arial"/>
            </a:endParaRPr>
          </a:p>
        </p:txBody>
      </p:sp>
      <p:sp>
        <p:nvSpPr>
          <p:cNvPr id="356" name="Text 8"/>
          <p:cNvSpPr/>
          <p:nvPr/>
        </p:nvSpPr>
        <p:spPr>
          <a:xfrm>
            <a:off x="932760" y="1554480"/>
            <a:ext cx="47361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Ursprünglicher Ansatz</a:t>
            </a:r>
            <a:endParaRPr lang="de-DE" sz="1350" b="0" u="none" strike="noStrike">
              <a:solidFill>
                <a:srgbClr val="000000"/>
              </a:solidFill>
              <a:effectLst/>
              <a:uFillTx/>
              <a:latin typeface="Arial"/>
            </a:endParaRPr>
          </a:p>
        </p:txBody>
      </p:sp>
      <p:sp>
        <p:nvSpPr>
          <p:cNvPr id="357" name="Text 9"/>
          <p:cNvSpPr/>
          <p:nvPr/>
        </p:nvSpPr>
        <p:spPr>
          <a:xfrm>
            <a:off x="987480" y="1993320"/>
            <a:ext cx="4617360" cy="342864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pPr>
            <a:endParaRPr lang="de-DE" sz="1800" b="0" u="none" strike="noStrike">
              <a:solidFill>
                <a:srgbClr val="000000"/>
              </a:solidFill>
              <a:effectLst/>
              <a:uFillTx/>
              <a:latin typeface="Arial"/>
            </a:endParaRPr>
          </a:p>
        </p:txBody>
      </p:sp>
      <p:sp>
        <p:nvSpPr>
          <p:cNvPr id="358" name="Text 11"/>
          <p:cNvSpPr/>
          <p:nvPr/>
        </p:nvSpPr>
        <p:spPr>
          <a:xfrm>
            <a:off x="6510600" y="1554480"/>
            <a:ext cx="47361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Neuer Ansatz</a:t>
            </a:r>
            <a:endParaRPr lang="de-DE" sz="1350" b="0" u="none" strike="noStrike">
              <a:solidFill>
                <a:srgbClr val="000000"/>
              </a:solidFill>
              <a:effectLst/>
              <a:uFillTx/>
              <a:latin typeface="Arial"/>
            </a:endParaRPr>
          </a:p>
        </p:txBody>
      </p:sp>
      <p:sp>
        <p:nvSpPr>
          <p:cNvPr id="359" name="Text 12"/>
          <p:cNvSpPr/>
          <p:nvPr/>
        </p:nvSpPr>
        <p:spPr>
          <a:xfrm>
            <a:off x="6565320" y="1993320"/>
            <a:ext cx="4617360" cy="342864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pPr>
            <a:endParaRPr lang="de-DE" sz="1800" b="0" u="none" strike="noStrike">
              <a:solidFill>
                <a:srgbClr val="000000"/>
              </a:solidFill>
              <a:effectLst/>
              <a:uFillTx/>
              <a:latin typeface="Arial"/>
            </a:endParaRPr>
          </a:p>
        </p:txBody>
      </p:sp>
      <p:pic>
        <p:nvPicPr>
          <p:cNvPr id="360" name=""/>
          <p:cNvPicPr/>
          <p:nvPr/>
        </p:nvPicPr>
        <p:blipFill>
          <a:blip r:embed="rId1"/>
          <a:stretch/>
        </p:blipFill>
        <p:spPr>
          <a:xfrm>
            <a:off x="900000" y="2340000"/>
            <a:ext cx="1826640" cy="1826640"/>
          </a:xfrm>
          <a:prstGeom prst="rect">
            <a:avLst/>
          </a:prstGeom>
          <a:noFill/>
          <a:ln w="0">
            <a:noFill/>
          </a:ln>
        </p:spPr>
      </p:pic>
      <p:sp>
        <p:nvSpPr>
          <p:cNvPr id="361" name=""/>
          <p:cNvSpPr txBox="1"/>
          <p:nvPr/>
        </p:nvSpPr>
        <p:spPr>
          <a:xfrm>
            <a:off x="765000" y="4415400"/>
            <a:ext cx="4455000" cy="983160"/>
          </a:xfrm>
          <a:prstGeom prst="rect">
            <a:avLst/>
          </a:prstGeom>
          <a:noFill/>
          <a:ln w="0">
            <a:noFill/>
          </a:ln>
        </p:spPr>
        <p:txBody>
          <a:bodyPr lIns="90000" tIns="45000" rIns="90000" bIns="45000" anchor="t">
            <a:spAutoFit/>
          </a:bodyPr>
          <a:p>
            <a:pPr marL="216000" indent="-216000" defTabSz="914400">
              <a:lnSpc>
                <a:spcPct val="100000"/>
              </a:lnSpc>
              <a:buClr>
                <a:srgbClr val="000000"/>
              </a:buClr>
              <a:buSzPct val="45000"/>
              <a:buFont typeface="Wingdings" charset="2"/>
              <a:buChar char=""/>
            </a:pPr>
            <a:r>
              <a:rPr lang="en-US" sz="1400" b="0" u="none" strike="noStrike">
                <a:solidFill>
                  <a:srgbClr val="334155"/>
                </a:solidFill>
                <a:effectLst/>
                <a:uFillTx/>
                <a:latin typeface="Aptos"/>
              </a:rPr>
              <a:t>Dokumentenorientierte Speicherung</a:t>
            </a:r>
            <a:endParaRPr lang="de-DE" sz="1400" b="0" u="none" strike="noStrike">
              <a:solidFill>
                <a:srgbClr val="000000"/>
              </a:solidFill>
              <a:effectLst/>
              <a:uFillTx/>
              <a:latin typeface="Arial"/>
            </a:endParaRPr>
          </a:p>
          <a:p>
            <a:pPr marL="216000" indent="-216000" defTabSz="914400">
              <a:lnSpc>
                <a:spcPct val="100000"/>
              </a:lnSpc>
              <a:buClr>
                <a:srgbClr val="000000"/>
              </a:buClr>
              <a:buSzPct val="45000"/>
              <a:buFont typeface="Wingdings" charset="2"/>
              <a:buChar char=""/>
            </a:pPr>
            <a:r>
              <a:rPr lang="en-US" sz="1400" b="0" u="none" strike="noStrike">
                <a:solidFill>
                  <a:srgbClr val="334155"/>
                </a:solidFill>
                <a:effectLst/>
                <a:uFillTx/>
                <a:latin typeface="Aptos"/>
              </a:rPr>
              <a:t>Finanzprofil als größeres JSON-Objekt</a:t>
            </a:r>
            <a:endParaRPr lang="de-DE" sz="1400" b="0" u="none" strike="noStrike">
              <a:solidFill>
                <a:srgbClr val="000000"/>
              </a:solidFill>
              <a:effectLst/>
              <a:uFillTx/>
              <a:latin typeface="Arial"/>
            </a:endParaRPr>
          </a:p>
          <a:p>
            <a:pPr marL="216000" indent="-216000" defTabSz="914400">
              <a:lnSpc>
                <a:spcPct val="100000"/>
              </a:lnSpc>
              <a:buClr>
                <a:srgbClr val="000000"/>
              </a:buClr>
              <a:buSzPct val="45000"/>
              <a:buFont typeface="Wingdings" charset="2"/>
              <a:buChar char=""/>
            </a:pPr>
            <a:r>
              <a:rPr lang="en-US" sz="1400" b="0" u="none" strike="noStrike">
                <a:solidFill>
                  <a:srgbClr val="334155"/>
                </a:solidFill>
                <a:effectLst/>
                <a:uFillTx/>
                <a:latin typeface="Aptos"/>
              </a:rPr>
              <a:t>Ziele und Szenarien als eingebettete Arrays</a:t>
            </a:r>
            <a:endParaRPr lang="de-DE" sz="1400" b="0" u="none" strike="noStrike">
              <a:solidFill>
                <a:srgbClr val="000000"/>
              </a:solidFill>
              <a:effectLst/>
              <a:uFillTx/>
              <a:latin typeface="Arial"/>
            </a:endParaRPr>
          </a:p>
          <a:p>
            <a:pPr marL="216000" indent="-216000" defTabSz="914400">
              <a:lnSpc>
                <a:spcPct val="100000"/>
              </a:lnSpc>
              <a:buClr>
                <a:srgbClr val="000000"/>
              </a:buClr>
              <a:buSzPct val="45000"/>
              <a:buFont typeface="Wingdings" charset="2"/>
              <a:buChar char=""/>
            </a:pPr>
            <a:r>
              <a:rPr lang="en-US" sz="1400" b="0" u="none" strike="noStrike">
                <a:solidFill>
                  <a:srgbClr val="334155"/>
                </a:solidFill>
                <a:effectLst/>
                <a:uFillTx/>
                <a:latin typeface="Aptos"/>
              </a:rPr>
              <a:t>Flexibel, aber schwerer gezielt zu ändern</a:t>
            </a:r>
            <a:endParaRPr lang="de-DE" sz="1400" b="0" u="none" strike="noStrike">
              <a:solidFill>
                <a:srgbClr val="000000"/>
              </a:solidFill>
              <a:effectLst/>
              <a:uFillTx/>
              <a:latin typeface="Arial"/>
            </a:endParaRPr>
          </a:p>
        </p:txBody>
      </p:sp>
      <p:pic>
        <p:nvPicPr>
          <p:cNvPr id="362" name=""/>
          <p:cNvPicPr/>
          <p:nvPr/>
        </p:nvPicPr>
        <p:blipFill>
          <a:blip r:embed="rId2"/>
          <a:stretch/>
        </p:blipFill>
        <p:spPr>
          <a:xfrm>
            <a:off x="6532200" y="2520000"/>
            <a:ext cx="2886840" cy="1620000"/>
          </a:xfrm>
          <a:prstGeom prst="rect">
            <a:avLst/>
          </a:prstGeom>
          <a:noFill/>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3" name="Textfeld 2"/>
          <p:cNvSpPr/>
          <p:nvPr/>
        </p:nvSpPr>
        <p:spPr>
          <a:xfrm>
            <a:off x="3048840" y="3244320"/>
            <a:ext cx="6096960" cy="369000"/>
          </a:xfrm>
          <a:prstGeom prst="rect">
            <a:avLst/>
          </a:prstGeom>
          <a:noFill/>
          <a:ln w="0">
            <a:noFill/>
          </a:ln>
        </p:spPr>
        <p:style>
          <a:lnRef idx="0"/>
          <a:fillRef idx="0"/>
          <a:effectRef idx="0"/>
          <a:fontRef idx="minor"/>
        </p:style>
        <p:txBody>
          <a:bodyPr lIns="90000" tIns="45000" rIns="90000" bIns="45000" anchor="t">
            <a:spAutoFit/>
          </a:bodyPr>
          <a:p>
            <a:endParaRPr lang="de-DE" sz="1800" b="0" u="none" strike="noStrike">
              <a:solidFill>
                <a:schemeClr val="dk1"/>
              </a:solidFill>
              <a:effectLst/>
              <a:uFillTx/>
              <a:latin typeface="Aptos"/>
            </a:endParaRPr>
          </a:p>
        </p:txBody>
      </p:sp>
      <p:sp>
        <p:nvSpPr>
          <p:cNvPr id="364" name="Textfeld 4"/>
          <p:cNvSpPr/>
          <p:nvPr/>
        </p:nvSpPr>
        <p:spPr>
          <a:xfrm>
            <a:off x="3048840" y="3244320"/>
            <a:ext cx="6096960" cy="369000"/>
          </a:xfrm>
          <a:prstGeom prst="rect">
            <a:avLst/>
          </a:prstGeom>
          <a:noFill/>
          <a:ln w="0">
            <a:noFill/>
          </a:ln>
        </p:spPr>
        <p:style>
          <a:lnRef idx="0"/>
          <a:fillRef idx="0"/>
          <a:effectRef idx="0"/>
          <a:fontRef idx="minor"/>
        </p:style>
        <p:txBody>
          <a:bodyPr lIns="90000" tIns="45000" rIns="90000" bIns="45000" anchor="t">
            <a:spAutoFit/>
          </a:bodyPr>
          <a:p>
            <a:endParaRPr lang="de-DE" sz="1800" b="0" u="none" strike="noStrike">
              <a:solidFill>
                <a:schemeClr val="dk1"/>
              </a:solidFill>
              <a:effectLst/>
              <a:uFillTx/>
              <a:latin typeface="Aptos"/>
            </a:endParaRPr>
          </a:p>
        </p:txBody>
      </p:sp>
      <p:sp>
        <p:nvSpPr>
          <p:cNvPr id="365" name="Textfeld 6"/>
          <p:cNvSpPr/>
          <p:nvPr/>
        </p:nvSpPr>
        <p:spPr>
          <a:xfrm>
            <a:off x="3048840" y="3244320"/>
            <a:ext cx="6096960" cy="369000"/>
          </a:xfrm>
          <a:prstGeom prst="rect">
            <a:avLst/>
          </a:prstGeom>
          <a:noFill/>
          <a:ln w="0">
            <a:noFill/>
          </a:ln>
        </p:spPr>
        <p:style>
          <a:lnRef idx="0"/>
          <a:fillRef idx="0"/>
          <a:effectRef idx="0"/>
          <a:fontRef idx="minor"/>
        </p:style>
        <p:txBody>
          <a:bodyPr lIns="90000" tIns="45000" rIns="90000" bIns="45000" anchor="t">
            <a:spAutoFit/>
          </a:bodyPr>
          <a:p>
            <a:endParaRPr lang="de-DE" sz="1800" b="0" u="none" strike="noStrike">
              <a:solidFill>
                <a:schemeClr val="dk1"/>
              </a:solidFill>
              <a:effectLst/>
              <a:uFillTx/>
              <a:latin typeface="Aptos"/>
            </a:endParaRPr>
          </a:p>
        </p:txBody>
      </p:sp>
      <p:pic>
        <p:nvPicPr>
          <p:cNvPr id="366" name="Grafik 1" descr="Ein Bild, das Text, Screenshot, Schrift, Zahl enthält.&#10;&#10;KI-generierte Inhalte können fehlerhaft sein."/>
          <p:cNvPicPr/>
          <p:nvPr/>
        </p:nvPicPr>
        <p:blipFill>
          <a:blip r:embed="rId1"/>
          <a:stretch/>
        </p:blipFill>
        <p:spPr>
          <a:xfrm>
            <a:off x="0" y="182520"/>
            <a:ext cx="12191760" cy="6492600"/>
          </a:xfrm>
          <a:prstGeom prst="rect">
            <a:avLst/>
          </a:prstGeom>
          <a:noFill/>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367" name="Shape 0"/>
          <p:cNvSpPr/>
          <p:nvPr/>
        </p:nvSpPr>
        <p:spPr>
          <a:xfrm>
            <a:off x="0" y="0"/>
            <a:ext cx="12191400" cy="6857640"/>
          </a:xfrm>
          <a:prstGeom prst="rect">
            <a:avLst/>
          </a:prstGeom>
          <a:solidFill>
            <a:srgbClr val="F8FAFC"/>
          </a:solidFill>
          <a:ln w="12700">
            <a:solidFill>
              <a:srgbClr val="F8FAFC">
                <a:alpha val="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368" name="Shape 1"/>
          <p:cNvSpPr/>
          <p:nvPr/>
        </p:nvSpPr>
        <p:spPr>
          <a:xfrm>
            <a:off x="0" y="0"/>
            <a:ext cx="109440" cy="6857640"/>
          </a:xfrm>
          <a:prstGeom prst="rect">
            <a:avLst/>
          </a:prstGeom>
          <a:solidFill>
            <a:srgbClr val="10B981"/>
          </a:solidFill>
          <a:ln w="12700">
            <a:solidFill>
              <a:srgbClr val="10B981"/>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369" name="Text 2"/>
          <p:cNvSpPr/>
          <p:nvPr/>
        </p:nvSpPr>
        <p:spPr>
          <a:xfrm>
            <a:off x="594360" y="384120"/>
            <a:ext cx="9052200" cy="438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0F172A"/>
                </a:solidFill>
                <a:effectLst/>
                <a:uFillTx/>
                <a:latin typeface="Aptos Display"/>
                <a:ea typeface="Aptos Display"/>
              </a:rPr>
              <a:t>Vorteile relationaler Tabellen gegenüber JSON</a:t>
            </a:r>
            <a:endParaRPr lang="de-DE" sz="2400" b="0" u="none" strike="noStrike">
              <a:solidFill>
                <a:srgbClr val="000000"/>
              </a:solidFill>
              <a:effectLst/>
              <a:uFillTx/>
              <a:latin typeface="Arial"/>
            </a:endParaRPr>
          </a:p>
        </p:txBody>
      </p:sp>
      <p:sp>
        <p:nvSpPr>
          <p:cNvPr id="370" name="Text 3"/>
          <p:cNvSpPr/>
          <p:nvPr/>
        </p:nvSpPr>
        <p:spPr>
          <a:xfrm>
            <a:off x="612720" y="850320"/>
            <a:ext cx="96008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endParaRPr lang="de-DE" sz="1800" b="0" u="none" strike="noStrike">
              <a:solidFill>
                <a:srgbClr val="000000"/>
              </a:solidFill>
              <a:effectLst/>
              <a:uFillTx/>
              <a:latin typeface="Arial"/>
            </a:endParaRPr>
          </a:p>
        </p:txBody>
      </p:sp>
      <p:sp>
        <p:nvSpPr>
          <p:cNvPr id="371" name="Shape 4"/>
          <p:cNvSpPr/>
          <p:nvPr/>
        </p:nvSpPr>
        <p:spPr>
          <a:xfrm>
            <a:off x="502920" y="6473880"/>
            <a:ext cx="11201400" cy="360"/>
          </a:xfrm>
          <a:prstGeom prst="line">
            <a:avLst/>
          </a:prstGeom>
          <a:ln w="7620">
            <a:solidFill>
              <a:srgbClr val="CBD5E1">
                <a:alpha val="70000"/>
              </a:srgbClr>
            </a:solidFill>
            <a:round/>
          </a:ln>
        </p:spPr>
        <p:style>
          <a:lnRef idx="0"/>
          <a:fillRef idx="0"/>
          <a:effectRef idx="0"/>
          <a:fontRef idx="minor"/>
        </p:style>
        <p:txBody>
          <a:bodyPr lIns="90000" tIns="-44640" rIns="90000" bIns="-44640" anchor="t" anchorCtr="1">
            <a:noAutofit/>
          </a:bodyPr>
          <a:p>
            <a:endParaRPr lang="de-DE" sz="1800" b="0" u="none" strike="noStrike">
              <a:solidFill>
                <a:srgbClr val="000000"/>
              </a:solidFill>
              <a:effectLst/>
              <a:uFillTx/>
              <a:latin typeface="Arial"/>
            </a:endParaRPr>
          </a:p>
        </p:txBody>
      </p:sp>
      <p:sp>
        <p:nvSpPr>
          <p:cNvPr id="372" name="Text 5"/>
          <p:cNvSpPr/>
          <p:nvPr/>
        </p:nvSpPr>
        <p:spPr>
          <a:xfrm>
            <a:off x="567000" y="6519600"/>
            <a:ext cx="530316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4748B"/>
                </a:solidFill>
                <a:effectLst/>
                <a:uFillTx/>
                <a:latin typeface="Aptos"/>
                <a:ea typeface="Aptos"/>
              </a:rPr>
              <a:t>Teil 3 · Datenbank &amp; Migration</a:t>
            </a:r>
            <a:endParaRPr lang="de-DE" sz="750" b="0" u="none" strike="noStrike">
              <a:solidFill>
                <a:srgbClr val="000000"/>
              </a:solidFill>
              <a:effectLst/>
              <a:uFillTx/>
              <a:latin typeface="Arial"/>
            </a:endParaRPr>
          </a:p>
        </p:txBody>
      </p:sp>
      <p:sp>
        <p:nvSpPr>
          <p:cNvPr id="373" name="Text 6"/>
          <p:cNvSpPr/>
          <p:nvPr/>
        </p:nvSpPr>
        <p:spPr>
          <a:xfrm>
            <a:off x="11201400" y="6519600"/>
            <a:ext cx="45684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50" b="0" u="none" strike="noStrike">
                <a:solidFill>
                  <a:srgbClr val="64748B"/>
                </a:solidFill>
                <a:effectLst/>
                <a:uFillTx/>
                <a:latin typeface="Aptos"/>
                <a:ea typeface="Aptos"/>
              </a:rPr>
              <a:t>20</a:t>
            </a:r>
            <a:endParaRPr lang="de-DE" sz="750" b="0" u="none" strike="noStrike">
              <a:solidFill>
                <a:srgbClr val="000000"/>
              </a:solidFill>
              <a:effectLst/>
              <a:uFillTx/>
              <a:latin typeface="Arial"/>
            </a:endParaRPr>
          </a:p>
        </p:txBody>
      </p:sp>
      <p:sp>
        <p:nvSpPr>
          <p:cNvPr id="374" name="Text 7"/>
          <p:cNvSpPr/>
          <p:nvPr/>
        </p:nvSpPr>
        <p:spPr>
          <a:xfrm>
            <a:off x="914400" y="1417320"/>
            <a:ext cx="22856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0F172A"/>
                </a:solidFill>
                <a:effectLst/>
                <a:uFillTx/>
                <a:latin typeface="Aptos"/>
              </a:rPr>
              <a:t>Kriterium</a:t>
            </a:r>
            <a:endParaRPr lang="de-DE" sz="1100" b="0" u="none" strike="noStrike">
              <a:solidFill>
                <a:srgbClr val="000000"/>
              </a:solidFill>
              <a:effectLst/>
              <a:uFillTx/>
              <a:latin typeface="Arial"/>
            </a:endParaRPr>
          </a:p>
        </p:txBody>
      </p:sp>
      <p:sp>
        <p:nvSpPr>
          <p:cNvPr id="375" name="Text 8"/>
          <p:cNvSpPr/>
          <p:nvPr/>
        </p:nvSpPr>
        <p:spPr>
          <a:xfrm>
            <a:off x="3703320" y="1417320"/>
            <a:ext cx="292572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0F172A"/>
                </a:solidFill>
                <a:effectLst/>
                <a:uFillTx/>
                <a:latin typeface="Aptos"/>
              </a:rPr>
              <a:t>JSON im Profil</a:t>
            </a:r>
            <a:endParaRPr lang="de-DE" sz="1100" b="0" u="none" strike="noStrike">
              <a:solidFill>
                <a:srgbClr val="000000"/>
              </a:solidFill>
              <a:effectLst/>
              <a:uFillTx/>
              <a:latin typeface="Arial"/>
            </a:endParaRPr>
          </a:p>
        </p:txBody>
      </p:sp>
      <p:sp>
        <p:nvSpPr>
          <p:cNvPr id="376" name="Text 9"/>
          <p:cNvSpPr/>
          <p:nvPr/>
        </p:nvSpPr>
        <p:spPr>
          <a:xfrm>
            <a:off x="7315200" y="1417320"/>
            <a:ext cx="3200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0F172A"/>
                </a:solidFill>
                <a:effectLst/>
                <a:uFillTx/>
                <a:latin typeface="Aptos"/>
              </a:rPr>
              <a:t>Relationale Tabellen</a:t>
            </a:r>
            <a:endParaRPr lang="de-DE" sz="1100" b="0" u="none" strike="noStrike">
              <a:solidFill>
                <a:srgbClr val="000000"/>
              </a:solidFill>
              <a:effectLst/>
              <a:uFillTx/>
              <a:latin typeface="Arial"/>
            </a:endParaRPr>
          </a:p>
        </p:txBody>
      </p:sp>
      <p:sp>
        <p:nvSpPr>
          <p:cNvPr id="377" name="Shape 10"/>
          <p:cNvSpPr/>
          <p:nvPr/>
        </p:nvSpPr>
        <p:spPr>
          <a:xfrm>
            <a:off x="822960" y="1810440"/>
            <a:ext cx="10423800" cy="475200"/>
          </a:xfrm>
          <a:prstGeom prst="roundRect">
            <a:avLst>
              <a:gd name="adj" fmla="val 7692"/>
            </a:avLst>
          </a:prstGeom>
          <a:solidFill>
            <a:srgbClr val="FFFFFF"/>
          </a:solidFill>
          <a:ln w="6350">
            <a:solidFill>
              <a:srgbClr val="CBD5E1"/>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378" name="Text 11"/>
          <p:cNvSpPr/>
          <p:nvPr/>
        </p:nvSpPr>
        <p:spPr>
          <a:xfrm>
            <a:off x="960120" y="1947600"/>
            <a:ext cx="2422800" cy="145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1" u="none" strike="noStrike">
                <a:solidFill>
                  <a:srgbClr val="334155"/>
                </a:solidFill>
                <a:effectLst/>
                <a:uFillTx/>
                <a:latin typeface="Aptos"/>
              </a:rPr>
              <a:t>Einzelnes Ziel ändern</a:t>
            </a:r>
            <a:endParaRPr lang="de-DE" sz="950" b="0" u="none" strike="noStrike">
              <a:solidFill>
                <a:srgbClr val="000000"/>
              </a:solidFill>
              <a:effectLst/>
              <a:uFillTx/>
              <a:latin typeface="Arial"/>
            </a:endParaRPr>
          </a:p>
        </p:txBody>
      </p:sp>
      <p:sp>
        <p:nvSpPr>
          <p:cNvPr id="379" name="Text 12"/>
          <p:cNvSpPr/>
          <p:nvPr/>
        </p:nvSpPr>
        <p:spPr>
          <a:xfrm>
            <a:off x="3703320" y="1947600"/>
            <a:ext cx="3062880" cy="1458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950" b="0" u="none" strike="noStrike">
                <a:solidFill>
                  <a:srgbClr val="334155"/>
                </a:solidFill>
                <a:effectLst/>
                <a:uFillTx/>
                <a:latin typeface="Aptos"/>
              </a:rPr>
              <a:t>Profil komplett lesen/schreiben</a:t>
            </a:r>
            <a:endParaRPr lang="de-DE" sz="950" b="0" u="none" strike="noStrike">
              <a:solidFill>
                <a:srgbClr val="000000"/>
              </a:solidFill>
              <a:effectLst/>
              <a:uFillTx/>
              <a:latin typeface="Arial"/>
            </a:endParaRPr>
          </a:p>
        </p:txBody>
      </p:sp>
      <p:sp>
        <p:nvSpPr>
          <p:cNvPr id="380" name="Text 13"/>
          <p:cNvSpPr/>
          <p:nvPr/>
        </p:nvSpPr>
        <p:spPr>
          <a:xfrm>
            <a:off x="7315200" y="1947600"/>
            <a:ext cx="3291480" cy="1458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950" b="0" u="none" strike="noStrike">
                <a:solidFill>
                  <a:srgbClr val="047857"/>
                </a:solidFill>
                <a:effectLst/>
                <a:uFillTx/>
                <a:latin typeface="Aptos"/>
              </a:rPr>
              <a:t>gezieltes UPDATE auf Ziel</a:t>
            </a:r>
            <a:endParaRPr lang="de-DE" sz="950" b="0" u="none" strike="noStrike">
              <a:solidFill>
                <a:srgbClr val="000000"/>
              </a:solidFill>
              <a:effectLst/>
              <a:uFillTx/>
              <a:latin typeface="Arial"/>
            </a:endParaRPr>
          </a:p>
        </p:txBody>
      </p:sp>
      <p:sp>
        <p:nvSpPr>
          <p:cNvPr id="381" name="Shape 14"/>
          <p:cNvSpPr/>
          <p:nvPr/>
        </p:nvSpPr>
        <p:spPr>
          <a:xfrm>
            <a:off x="822960" y="2496240"/>
            <a:ext cx="10423800" cy="475200"/>
          </a:xfrm>
          <a:prstGeom prst="roundRect">
            <a:avLst>
              <a:gd name="adj" fmla="val 7692"/>
            </a:avLst>
          </a:prstGeom>
          <a:solidFill>
            <a:srgbClr val="FFFFFF"/>
          </a:solidFill>
          <a:ln w="6350">
            <a:solidFill>
              <a:srgbClr val="CBD5E1"/>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382" name="Text 15"/>
          <p:cNvSpPr/>
          <p:nvPr/>
        </p:nvSpPr>
        <p:spPr>
          <a:xfrm>
            <a:off x="960120" y="2633400"/>
            <a:ext cx="2422800" cy="145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1" u="none" strike="noStrike">
                <a:solidFill>
                  <a:srgbClr val="334155"/>
                </a:solidFill>
                <a:effectLst/>
                <a:uFillTx/>
                <a:latin typeface="Aptos"/>
              </a:rPr>
              <a:t>Abfragen</a:t>
            </a:r>
            <a:endParaRPr lang="de-DE" sz="950" b="0" u="none" strike="noStrike">
              <a:solidFill>
                <a:srgbClr val="000000"/>
              </a:solidFill>
              <a:effectLst/>
              <a:uFillTx/>
              <a:latin typeface="Arial"/>
            </a:endParaRPr>
          </a:p>
        </p:txBody>
      </p:sp>
      <p:sp>
        <p:nvSpPr>
          <p:cNvPr id="383" name="Text 16"/>
          <p:cNvSpPr/>
          <p:nvPr/>
        </p:nvSpPr>
        <p:spPr>
          <a:xfrm>
            <a:off x="3703320" y="2633400"/>
            <a:ext cx="3062880" cy="1458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950" b="0" u="none" strike="noStrike">
                <a:solidFill>
                  <a:srgbClr val="334155"/>
                </a:solidFill>
                <a:effectLst/>
                <a:uFillTx/>
                <a:latin typeface="Aptos"/>
              </a:rPr>
              <a:t>komplexer über JSON-Struktur</a:t>
            </a:r>
            <a:endParaRPr lang="de-DE" sz="950" b="0" u="none" strike="noStrike">
              <a:solidFill>
                <a:srgbClr val="000000"/>
              </a:solidFill>
              <a:effectLst/>
              <a:uFillTx/>
              <a:latin typeface="Arial"/>
            </a:endParaRPr>
          </a:p>
        </p:txBody>
      </p:sp>
      <p:sp>
        <p:nvSpPr>
          <p:cNvPr id="384" name="Text 17"/>
          <p:cNvSpPr/>
          <p:nvPr/>
        </p:nvSpPr>
        <p:spPr>
          <a:xfrm>
            <a:off x="7315200" y="2633400"/>
            <a:ext cx="3291480" cy="1458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950" b="0" u="none" strike="noStrike">
                <a:solidFill>
                  <a:srgbClr val="047857"/>
                </a:solidFill>
                <a:effectLst/>
                <a:uFillTx/>
                <a:latin typeface="Aptos"/>
              </a:rPr>
              <a:t>direkt über SQL</a:t>
            </a:r>
            <a:endParaRPr lang="de-DE" sz="950" b="0" u="none" strike="noStrike">
              <a:solidFill>
                <a:srgbClr val="000000"/>
              </a:solidFill>
              <a:effectLst/>
              <a:uFillTx/>
              <a:latin typeface="Arial"/>
            </a:endParaRPr>
          </a:p>
        </p:txBody>
      </p:sp>
      <p:sp>
        <p:nvSpPr>
          <p:cNvPr id="385" name="Shape 18"/>
          <p:cNvSpPr/>
          <p:nvPr/>
        </p:nvSpPr>
        <p:spPr>
          <a:xfrm>
            <a:off x="822960" y="3182040"/>
            <a:ext cx="10423800" cy="475200"/>
          </a:xfrm>
          <a:prstGeom prst="roundRect">
            <a:avLst>
              <a:gd name="adj" fmla="val 7692"/>
            </a:avLst>
          </a:prstGeom>
          <a:solidFill>
            <a:srgbClr val="FFFFFF"/>
          </a:solidFill>
          <a:ln w="6350">
            <a:solidFill>
              <a:srgbClr val="CBD5E1"/>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386" name="Text 19"/>
          <p:cNvSpPr/>
          <p:nvPr/>
        </p:nvSpPr>
        <p:spPr>
          <a:xfrm>
            <a:off x="960120" y="3319200"/>
            <a:ext cx="2422800" cy="145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1" u="none" strike="noStrike">
                <a:solidFill>
                  <a:srgbClr val="334155"/>
                </a:solidFill>
                <a:effectLst/>
                <a:uFillTx/>
                <a:latin typeface="Aptos"/>
              </a:rPr>
              <a:t>Konsistenz</a:t>
            </a:r>
            <a:endParaRPr lang="de-DE" sz="950" b="0" u="none" strike="noStrike">
              <a:solidFill>
                <a:srgbClr val="000000"/>
              </a:solidFill>
              <a:effectLst/>
              <a:uFillTx/>
              <a:latin typeface="Arial"/>
            </a:endParaRPr>
          </a:p>
        </p:txBody>
      </p:sp>
      <p:sp>
        <p:nvSpPr>
          <p:cNvPr id="387" name="Text 20"/>
          <p:cNvSpPr/>
          <p:nvPr/>
        </p:nvSpPr>
        <p:spPr>
          <a:xfrm>
            <a:off x="3703320" y="3319200"/>
            <a:ext cx="3062880" cy="1458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950" b="0" u="none" strike="noStrike">
                <a:solidFill>
                  <a:srgbClr val="334155"/>
                </a:solidFill>
                <a:effectLst/>
                <a:uFillTx/>
                <a:latin typeface="Aptos"/>
              </a:rPr>
              <a:t>erfolgt durch Anwendungscode</a:t>
            </a:r>
            <a:endParaRPr lang="de-DE" sz="950" b="0" u="none" strike="noStrike">
              <a:solidFill>
                <a:srgbClr val="000000"/>
              </a:solidFill>
              <a:effectLst/>
              <a:uFillTx/>
              <a:latin typeface="Arial"/>
            </a:endParaRPr>
          </a:p>
        </p:txBody>
      </p:sp>
      <p:sp>
        <p:nvSpPr>
          <p:cNvPr id="388" name="Text 21"/>
          <p:cNvSpPr/>
          <p:nvPr/>
        </p:nvSpPr>
        <p:spPr>
          <a:xfrm>
            <a:off x="7315200" y="3319200"/>
            <a:ext cx="3291480" cy="1458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950" b="0" u="none" strike="noStrike">
                <a:solidFill>
                  <a:srgbClr val="047857"/>
                </a:solidFill>
                <a:effectLst/>
                <a:uFillTx/>
                <a:latin typeface="Aptos"/>
              </a:rPr>
              <a:t>Constraints und Fremdschlüssel</a:t>
            </a:r>
            <a:endParaRPr lang="de-DE" sz="950" b="0" u="none" strike="noStrike">
              <a:solidFill>
                <a:srgbClr val="000000"/>
              </a:solidFill>
              <a:effectLst/>
              <a:uFillTx/>
              <a:latin typeface="Arial"/>
            </a:endParaRPr>
          </a:p>
        </p:txBody>
      </p:sp>
      <p:sp>
        <p:nvSpPr>
          <p:cNvPr id="389" name="Shape 22"/>
          <p:cNvSpPr/>
          <p:nvPr/>
        </p:nvSpPr>
        <p:spPr>
          <a:xfrm>
            <a:off x="822960" y="3867840"/>
            <a:ext cx="10423800" cy="475200"/>
          </a:xfrm>
          <a:prstGeom prst="roundRect">
            <a:avLst>
              <a:gd name="adj" fmla="val 7692"/>
            </a:avLst>
          </a:prstGeom>
          <a:solidFill>
            <a:srgbClr val="FFFFFF"/>
          </a:solidFill>
          <a:ln w="6350">
            <a:solidFill>
              <a:srgbClr val="CBD5E1"/>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390" name="Text 23"/>
          <p:cNvSpPr/>
          <p:nvPr/>
        </p:nvSpPr>
        <p:spPr>
          <a:xfrm>
            <a:off x="960120" y="4005000"/>
            <a:ext cx="2422800" cy="145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1" u="none" strike="noStrike">
                <a:solidFill>
                  <a:srgbClr val="334155"/>
                </a:solidFill>
                <a:effectLst/>
                <a:uFillTx/>
                <a:latin typeface="Aptos"/>
              </a:rPr>
              <a:t>Erweiterbarkeit</a:t>
            </a:r>
            <a:endParaRPr lang="de-DE" sz="950" b="0" u="none" strike="noStrike">
              <a:solidFill>
                <a:srgbClr val="000000"/>
              </a:solidFill>
              <a:effectLst/>
              <a:uFillTx/>
              <a:latin typeface="Arial"/>
            </a:endParaRPr>
          </a:p>
        </p:txBody>
      </p:sp>
      <p:sp>
        <p:nvSpPr>
          <p:cNvPr id="391" name="Text 24"/>
          <p:cNvSpPr/>
          <p:nvPr/>
        </p:nvSpPr>
        <p:spPr>
          <a:xfrm>
            <a:off x="3703320" y="4005000"/>
            <a:ext cx="3062880" cy="1458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950" b="0" u="none" strike="noStrike">
                <a:solidFill>
                  <a:srgbClr val="334155"/>
                </a:solidFill>
                <a:effectLst/>
                <a:uFillTx/>
                <a:latin typeface="Aptos"/>
              </a:rPr>
              <a:t>schnell am Anfang</a:t>
            </a:r>
            <a:endParaRPr lang="de-DE" sz="950" b="0" u="none" strike="noStrike">
              <a:solidFill>
                <a:srgbClr val="000000"/>
              </a:solidFill>
              <a:effectLst/>
              <a:uFillTx/>
              <a:latin typeface="Arial"/>
            </a:endParaRPr>
          </a:p>
        </p:txBody>
      </p:sp>
      <p:sp>
        <p:nvSpPr>
          <p:cNvPr id="392" name="Text 25"/>
          <p:cNvSpPr/>
          <p:nvPr/>
        </p:nvSpPr>
        <p:spPr>
          <a:xfrm>
            <a:off x="7315200" y="4005000"/>
            <a:ext cx="3291480" cy="1458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950" b="0" u="none" strike="noStrike">
                <a:solidFill>
                  <a:srgbClr val="047857"/>
                </a:solidFill>
                <a:effectLst/>
                <a:uFillTx/>
                <a:latin typeface="Aptos"/>
              </a:rPr>
              <a:t>stabiler bei wachsendem Modell</a:t>
            </a:r>
            <a:endParaRPr lang="de-DE" sz="950" b="0" u="none" strike="noStrike">
              <a:solidFill>
                <a:srgbClr val="000000"/>
              </a:solidFill>
              <a:effectLst/>
              <a:uFillTx/>
              <a:latin typeface="Arial"/>
            </a:endParaRPr>
          </a:p>
        </p:txBody>
      </p:sp>
      <p:sp>
        <p:nvSpPr>
          <p:cNvPr id="393" name="Text 26"/>
          <p:cNvSpPr/>
          <p:nvPr/>
        </p:nvSpPr>
        <p:spPr>
          <a:xfrm>
            <a:off x="914400" y="4983480"/>
            <a:ext cx="969228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0F172A"/>
                </a:solidFill>
                <a:effectLst/>
                <a:uFillTx/>
                <a:latin typeface="Aptos"/>
              </a:rPr>
              <a:t>Entscheidung: JSON war flexibel, relationale Tabellen wurden für den Prototyp langfristig robuster.</a:t>
            </a:r>
            <a:endParaRPr lang="de-DE"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394" name="Shape 0"/>
          <p:cNvSpPr/>
          <p:nvPr/>
        </p:nvSpPr>
        <p:spPr>
          <a:xfrm>
            <a:off x="0" y="0"/>
            <a:ext cx="12191400" cy="6857640"/>
          </a:xfrm>
          <a:prstGeom prst="rect">
            <a:avLst/>
          </a:prstGeom>
          <a:solidFill>
            <a:srgbClr val="F8FAFC"/>
          </a:solidFill>
          <a:ln w="12700">
            <a:solidFill>
              <a:srgbClr val="F8FAFC">
                <a:alpha val="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395" name="Shape 1"/>
          <p:cNvSpPr/>
          <p:nvPr/>
        </p:nvSpPr>
        <p:spPr>
          <a:xfrm>
            <a:off x="0" y="0"/>
            <a:ext cx="109440" cy="6857640"/>
          </a:xfrm>
          <a:prstGeom prst="rect">
            <a:avLst/>
          </a:prstGeom>
          <a:solidFill>
            <a:srgbClr val="10B981"/>
          </a:solidFill>
          <a:ln w="12700">
            <a:solidFill>
              <a:srgbClr val="10B981"/>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396" name="Text 2"/>
          <p:cNvSpPr/>
          <p:nvPr/>
        </p:nvSpPr>
        <p:spPr>
          <a:xfrm>
            <a:off x="594360" y="384120"/>
            <a:ext cx="9052200" cy="438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0F172A"/>
                </a:solidFill>
                <a:effectLst/>
                <a:uFillTx/>
                <a:latin typeface="Aptos Display"/>
                <a:ea typeface="Aptos Display"/>
              </a:rPr>
              <a:t>Migrationsablauf</a:t>
            </a:r>
            <a:endParaRPr lang="de-DE" sz="2400" b="0" u="none" strike="noStrike">
              <a:solidFill>
                <a:srgbClr val="000000"/>
              </a:solidFill>
              <a:effectLst/>
              <a:uFillTx/>
              <a:latin typeface="Arial"/>
            </a:endParaRPr>
          </a:p>
        </p:txBody>
      </p:sp>
      <p:sp>
        <p:nvSpPr>
          <p:cNvPr id="397" name="Text 3"/>
          <p:cNvSpPr/>
          <p:nvPr/>
        </p:nvSpPr>
        <p:spPr>
          <a:xfrm>
            <a:off x="612720" y="850320"/>
            <a:ext cx="96008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64748B"/>
                </a:solidFill>
                <a:effectLst/>
                <a:uFillTx/>
                <a:latin typeface="Aptos"/>
              </a:rPr>
              <a:t>Bestehende JSON-Strukturen in SQL-Tabellen überführen</a:t>
            </a:r>
            <a:endParaRPr lang="de-DE" sz="1200" b="0" u="none" strike="noStrike">
              <a:solidFill>
                <a:srgbClr val="000000"/>
              </a:solidFill>
              <a:effectLst/>
              <a:uFillTx/>
              <a:latin typeface="Arial"/>
            </a:endParaRPr>
          </a:p>
        </p:txBody>
      </p:sp>
      <p:sp>
        <p:nvSpPr>
          <p:cNvPr id="398" name="Shape 4"/>
          <p:cNvSpPr/>
          <p:nvPr/>
        </p:nvSpPr>
        <p:spPr>
          <a:xfrm>
            <a:off x="502920" y="6473880"/>
            <a:ext cx="11201400" cy="360"/>
          </a:xfrm>
          <a:prstGeom prst="line">
            <a:avLst/>
          </a:prstGeom>
          <a:ln w="7620">
            <a:solidFill>
              <a:srgbClr val="CBD5E1">
                <a:alpha val="70000"/>
              </a:srgbClr>
            </a:solidFill>
            <a:round/>
          </a:ln>
        </p:spPr>
        <p:style>
          <a:lnRef idx="0"/>
          <a:fillRef idx="0"/>
          <a:effectRef idx="0"/>
          <a:fontRef idx="minor"/>
        </p:style>
        <p:txBody>
          <a:bodyPr lIns="90000" tIns="-44640" rIns="90000" bIns="-44640" anchor="t" anchorCtr="1">
            <a:noAutofit/>
          </a:bodyPr>
          <a:p>
            <a:endParaRPr lang="de-DE" sz="1800" b="0" u="none" strike="noStrike">
              <a:solidFill>
                <a:srgbClr val="000000"/>
              </a:solidFill>
              <a:effectLst/>
              <a:uFillTx/>
              <a:latin typeface="Arial"/>
            </a:endParaRPr>
          </a:p>
        </p:txBody>
      </p:sp>
      <p:sp>
        <p:nvSpPr>
          <p:cNvPr id="399" name="Text 5"/>
          <p:cNvSpPr/>
          <p:nvPr/>
        </p:nvSpPr>
        <p:spPr>
          <a:xfrm>
            <a:off x="567000" y="6519600"/>
            <a:ext cx="530316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4748B"/>
                </a:solidFill>
                <a:effectLst/>
                <a:uFillTx/>
                <a:latin typeface="Aptos"/>
                <a:ea typeface="Aptos"/>
              </a:rPr>
              <a:t>Teil 3 · Datenbank &amp; Migration</a:t>
            </a:r>
            <a:endParaRPr lang="de-DE" sz="750" b="0" u="none" strike="noStrike">
              <a:solidFill>
                <a:srgbClr val="000000"/>
              </a:solidFill>
              <a:effectLst/>
              <a:uFillTx/>
              <a:latin typeface="Arial"/>
            </a:endParaRPr>
          </a:p>
        </p:txBody>
      </p:sp>
      <p:sp>
        <p:nvSpPr>
          <p:cNvPr id="400" name="Text 6"/>
          <p:cNvSpPr/>
          <p:nvPr/>
        </p:nvSpPr>
        <p:spPr>
          <a:xfrm>
            <a:off x="11201400" y="6519600"/>
            <a:ext cx="45684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50" b="0" u="none" strike="noStrike">
                <a:solidFill>
                  <a:srgbClr val="64748B"/>
                </a:solidFill>
                <a:effectLst/>
                <a:uFillTx/>
                <a:latin typeface="Aptos"/>
                <a:ea typeface="Aptos"/>
              </a:rPr>
              <a:t>21</a:t>
            </a:r>
            <a:endParaRPr lang="de-DE" sz="750" b="0" u="none" strike="noStrike">
              <a:solidFill>
                <a:srgbClr val="000000"/>
              </a:solidFill>
              <a:effectLst/>
              <a:uFillTx/>
              <a:latin typeface="Arial"/>
            </a:endParaRPr>
          </a:p>
        </p:txBody>
      </p:sp>
      <p:sp>
        <p:nvSpPr>
          <p:cNvPr id="401" name="Shape 7"/>
          <p:cNvSpPr/>
          <p:nvPr/>
        </p:nvSpPr>
        <p:spPr>
          <a:xfrm>
            <a:off x="685800" y="1645920"/>
            <a:ext cx="2026080" cy="731160"/>
          </a:xfrm>
          <a:prstGeom prst="chevron">
            <a:avLst>
              <a:gd name="adj" fmla="val 50000"/>
            </a:avLst>
          </a:prstGeom>
          <a:solidFill>
            <a:srgbClr val="F59E0B"/>
          </a:solidFill>
          <a:ln w="12700">
            <a:solidFill>
              <a:srgbClr val="F59E0B"/>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402" name="Text 8"/>
          <p:cNvSpPr/>
          <p:nvPr/>
        </p:nvSpPr>
        <p:spPr>
          <a:xfrm>
            <a:off x="832320" y="1856160"/>
            <a:ext cx="1879560" cy="255600"/>
          </a:xfrm>
          <a:prstGeom prst="rect">
            <a:avLst/>
          </a:prstGeom>
          <a:noFill/>
          <a:ln w="0">
            <a:noFill/>
          </a:ln>
        </p:spPr>
        <p:style>
          <a:lnRef idx="0"/>
          <a:fillRef idx="0"/>
          <a:effectRef idx="0"/>
          <a:fontRef idx="minor"/>
        </p:style>
        <p:txBody>
          <a:bodyPr lIns="0" tIns="0" rIns="0" bIns="0" anchor="ctr">
            <a:normAutofit lnSpcReduction="9999"/>
          </a:bodyPr>
          <a:p>
            <a:pPr algn="ctr" defTabSz="914400">
              <a:lnSpc>
                <a:spcPct val="100000"/>
              </a:lnSpc>
              <a:tabLst>
                <a:tab pos="0" algn="l"/>
              </a:tabLst>
            </a:pPr>
            <a:r>
              <a:rPr lang="en-US" sz="920" b="1" u="none" strike="noStrike">
                <a:solidFill>
                  <a:srgbClr val="FFFFFF"/>
                </a:solidFill>
                <a:effectLst/>
                <a:uFillTx/>
                <a:latin typeface="Aptos"/>
              </a:rPr>
              <a:t>Tabellen erweitern und neuanlegen</a:t>
            </a:r>
            <a:endParaRPr lang="de-DE" sz="920" b="0" u="none" strike="noStrike">
              <a:solidFill>
                <a:srgbClr val="000000"/>
              </a:solidFill>
              <a:effectLst/>
              <a:uFillTx/>
              <a:latin typeface="Arial"/>
            </a:endParaRPr>
          </a:p>
        </p:txBody>
      </p:sp>
      <p:sp>
        <p:nvSpPr>
          <p:cNvPr id="403" name="Shape 9"/>
          <p:cNvSpPr/>
          <p:nvPr/>
        </p:nvSpPr>
        <p:spPr>
          <a:xfrm>
            <a:off x="2876760" y="1645920"/>
            <a:ext cx="2026080" cy="731160"/>
          </a:xfrm>
          <a:prstGeom prst="chevron">
            <a:avLst>
              <a:gd name="adj" fmla="val 50000"/>
            </a:avLst>
          </a:prstGeom>
          <a:solidFill>
            <a:srgbClr val="FFFFFF"/>
          </a:solidFill>
          <a:ln w="12700">
            <a:solidFill>
              <a:srgbClr val="F59E0B"/>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404" name="Text 10"/>
          <p:cNvSpPr/>
          <p:nvPr/>
        </p:nvSpPr>
        <p:spPr>
          <a:xfrm>
            <a:off x="2949840" y="1856160"/>
            <a:ext cx="1879560" cy="25560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20" b="1" u="none" strike="noStrike">
                <a:solidFill>
                  <a:srgbClr val="0F172A"/>
                </a:solidFill>
                <a:effectLst/>
                <a:uFillTx/>
                <a:latin typeface="Aptos"/>
              </a:rPr>
              <a:t>Profile lesen</a:t>
            </a:r>
            <a:endParaRPr lang="de-DE" sz="920" b="0" u="none" strike="noStrike">
              <a:solidFill>
                <a:srgbClr val="000000"/>
              </a:solidFill>
              <a:effectLst/>
              <a:uFillTx/>
              <a:latin typeface="Arial"/>
            </a:endParaRPr>
          </a:p>
        </p:txBody>
      </p:sp>
      <p:sp>
        <p:nvSpPr>
          <p:cNvPr id="405" name="Shape 11"/>
          <p:cNvSpPr/>
          <p:nvPr/>
        </p:nvSpPr>
        <p:spPr>
          <a:xfrm>
            <a:off x="5067720" y="1645920"/>
            <a:ext cx="2026080" cy="731160"/>
          </a:xfrm>
          <a:prstGeom prst="chevron">
            <a:avLst>
              <a:gd name="adj" fmla="val 50000"/>
            </a:avLst>
          </a:prstGeom>
          <a:solidFill>
            <a:srgbClr val="FFFFFF"/>
          </a:solidFill>
          <a:ln w="12700">
            <a:solidFill>
              <a:srgbClr val="F59E0B"/>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406" name="Text 12"/>
          <p:cNvSpPr/>
          <p:nvPr/>
        </p:nvSpPr>
        <p:spPr>
          <a:xfrm>
            <a:off x="5140800" y="1856160"/>
            <a:ext cx="1879560" cy="25560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20" b="1" u="none" strike="noStrike">
                <a:solidFill>
                  <a:srgbClr val="0F172A"/>
                </a:solidFill>
                <a:effectLst/>
                <a:uFillTx/>
                <a:latin typeface="Aptos"/>
              </a:rPr>
              <a:t>Daten extrahieren</a:t>
            </a:r>
            <a:endParaRPr lang="de-DE" sz="920" b="0" u="none" strike="noStrike">
              <a:solidFill>
                <a:srgbClr val="000000"/>
              </a:solidFill>
              <a:effectLst/>
              <a:uFillTx/>
              <a:latin typeface="Arial"/>
            </a:endParaRPr>
          </a:p>
        </p:txBody>
      </p:sp>
      <p:sp>
        <p:nvSpPr>
          <p:cNvPr id="407" name="Shape 13"/>
          <p:cNvSpPr/>
          <p:nvPr/>
        </p:nvSpPr>
        <p:spPr>
          <a:xfrm>
            <a:off x="7258680" y="1645920"/>
            <a:ext cx="2026080" cy="731160"/>
          </a:xfrm>
          <a:prstGeom prst="chevron">
            <a:avLst>
              <a:gd name="adj" fmla="val 50000"/>
            </a:avLst>
          </a:prstGeom>
          <a:solidFill>
            <a:srgbClr val="FFFFFF"/>
          </a:solidFill>
          <a:ln w="12700">
            <a:solidFill>
              <a:srgbClr val="F59E0B"/>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408" name="Text 14"/>
          <p:cNvSpPr/>
          <p:nvPr/>
        </p:nvSpPr>
        <p:spPr>
          <a:xfrm>
            <a:off x="7405200" y="1856160"/>
            <a:ext cx="1879560" cy="25560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20" b="1" u="none" strike="noStrike">
                <a:solidFill>
                  <a:srgbClr val="0F172A"/>
                </a:solidFill>
                <a:effectLst/>
                <a:uFillTx/>
                <a:latin typeface="Aptos"/>
              </a:rPr>
              <a:t>Datensätze einfügen</a:t>
            </a:r>
            <a:endParaRPr lang="de-DE" sz="920" b="0" u="none" strike="noStrike">
              <a:solidFill>
                <a:srgbClr val="000000"/>
              </a:solidFill>
              <a:effectLst/>
              <a:uFillTx/>
              <a:latin typeface="Arial"/>
            </a:endParaRPr>
          </a:p>
        </p:txBody>
      </p:sp>
      <p:sp>
        <p:nvSpPr>
          <p:cNvPr id="409" name="Shape 15"/>
          <p:cNvSpPr/>
          <p:nvPr/>
        </p:nvSpPr>
        <p:spPr>
          <a:xfrm>
            <a:off x="9449280" y="1645920"/>
            <a:ext cx="2026080" cy="731160"/>
          </a:xfrm>
          <a:prstGeom prst="chevron">
            <a:avLst>
              <a:gd name="adj" fmla="val 50000"/>
            </a:avLst>
          </a:prstGeom>
          <a:solidFill>
            <a:srgbClr val="FFFFFF"/>
          </a:solidFill>
          <a:ln w="12700">
            <a:solidFill>
              <a:srgbClr val="F59E0B"/>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410" name="Text 16"/>
          <p:cNvSpPr/>
          <p:nvPr/>
        </p:nvSpPr>
        <p:spPr>
          <a:xfrm>
            <a:off x="9522720" y="1856160"/>
            <a:ext cx="1879560" cy="25560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20" b="1" u="none" strike="noStrike">
                <a:solidFill>
                  <a:srgbClr val="0F172A"/>
                </a:solidFill>
                <a:effectLst/>
                <a:uFillTx/>
                <a:latin typeface="Aptos"/>
              </a:rPr>
              <a:t>Zuordnung prüfen</a:t>
            </a:r>
            <a:endParaRPr lang="de-DE" sz="920" b="0" u="none" strike="noStrike">
              <a:solidFill>
                <a:srgbClr val="000000"/>
              </a:solidFill>
              <a:effectLst/>
              <a:uFillTx/>
              <a:latin typeface="Arial"/>
            </a:endParaRPr>
          </a:p>
        </p:txBody>
      </p:sp>
      <p:sp>
        <p:nvSpPr>
          <p:cNvPr id="411" name="Shape 17"/>
          <p:cNvSpPr/>
          <p:nvPr/>
        </p:nvSpPr>
        <p:spPr>
          <a:xfrm>
            <a:off x="868680" y="3154680"/>
            <a:ext cx="3017160" cy="1371240"/>
          </a:xfrm>
          <a:prstGeom prst="roundRect">
            <a:avLst>
              <a:gd name="adj" fmla="val 5333"/>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412" name="Text 18"/>
          <p:cNvSpPr/>
          <p:nvPr/>
        </p:nvSpPr>
        <p:spPr>
          <a:xfrm>
            <a:off x="1033200" y="3319200"/>
            <a:ext cx="41112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F59E0B"/>
                </a:solidFill>
                <a:effectLst/>
                <a:uFillTx/>
                <a:latin typeface="Aptos"/>
              </a:rPr>
              <a:t>⚙</a:t>
            </a:r>
            <a:endParaRPr lang="de-DE" sz="1800" b="0" u="none" strike="noStrike">
              <a:solidFill>
                <a:srgbClr val="000000"/>
              </a:solidFill>
              <a:effectLst/>
              <a:uFillTx/>
              <a:latin typeface="Arial"/>
            </a:endParaRPr>
          </a:p>
        </p:txBody>
      </p:sp>
      <p:sp>
        <p:nvSpPr>
          <p:cNvPr id="413" name="Text 19"/>
          <p:cNvSpPr/>
          <p:nvPr/>
        </p:nvSpPr>
        <p:spPr>
          <a:xfrm>
            <a:off x="1527120" y="3337560"/>
            <a:ext cx="219420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Migrationsskript</a:t>
            </a:r>
            <a:endParaRPr lang="de-DE" sz="1350" b="0" u="none" strike="noStrike">
              <a:solidFill>
                <a:srgbClr val="000000"/>
              </a:solidFill>
              <a:effectLst/>
              <a:uFillTx/>
              <a:latin typeface="Arial"/>
            </a:endParaRPr>
          </a:p>
        </p:txBody>
      </p:sp>
      <p:sp>
        <p:nvSpPr>
          <p:cNvPr id="414" name="Text 20"/>
          <p:cNvSpPr/>
          <p:nvPr/>
        </p:nvSpPr>
        <p:spPr>
          <a:xfrm>
            <a:off x="1069920" y="3813120"/>
            <a:ext cx="2614680" cy="54828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60" b="0" u="none" strike="noStrike">
                <a:solidFill>
                  <a:srgbClr val="334155"/>
                </a:solidFill>
                <a:effectLst/>
                <a:uFillTx/>
                <a:latin typeface="Aptos"/>
              </a:rPr>
              <a:t>migrate_json_to_sql.py überführt Ziele und Lebensereignisse aus JSON in SQL-Tabellen.</a:t>
            </a:r>
            <a:endParaRPr lang="de-DE" sz="960" b="0" u="none" strike="noStrike">
              <a:solidFill>
                <a:srgbClr val="000000"/>
              </a:solidFill>
              <a:effectLst/>
              <a:uFillTx/>
              <a:latin typeface="Arial"/>
            </a:endParaRPr>
          </a:p>
        </p:txBody>
      </p:sp>
      <p:sp>
        <p:nvSpPr>
          <p:cNvPr id="415" name="Shape 21"/>
          <p:cNvSpPr/>
          <p:nvPr/>
        </p:nvSpPr>
        <p:spPr>
          <a:xfrm>
            <a:off x="4434840" y="3154680"/>
            <a:ext cx="3017160" cy="1371240"/>
          </a:xfrm>
          <a:prstGeom prst="roundRect">
            <a:avLst>
              <a:gd name="adj" fmla="val 5333"/>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416" name="Text 22"/>
          <p:cNvSpPr/>
          <p:nvPr/>
        </p:nvSpPr>
        <p:spPr>
          <a:xfrm>
            <a:off x="4599360" y="3319200"/>
            <a:ext cx="41112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2563EB"/>
                </a:solidFill>
                <a:effectLst/>
                <a:uFillTx/>
                <a:latin typeface="Aptos"/>
              </a:rPr>
              <a:t>✓</a:t>
            </a:r>
            <a:endParaRPr lang="de-DE" sz="1800" b="0" u="none" strike="noStrike">
              <a:solidFill>
                <a:srgbClr val="000000"/>
              </a:solidFill>
              <a:effectLst/>
              <a:uFillTx/>
              <a:latin typeface="Arial"/>
            </a:endParaRPr>
          </a:p>
        </p:txBody>
      </p:sp>
      <p:sp>
        <p:nvSpPr>
          <p:cNvPr id="417" name="Text 23"/>
          <p:cNvSpPr/>
          <p:nvPr/>
        </p:nvSpPr>
        <p:spPr>
          <a:xfrm>
            <a:off x="5093280" y="3337560"/>
            <a:ext cx="219420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Kontrolle</a:t>
            </a:r>
            <a:endParaRPr lang="de-DE" sz="1350" b="0" u="none" strike="noStrike">
              <a:solidFill>
                <a:srgbClr val="000000"/>
              </a:solidFill>
              <a:effectLst/>
              <a:uFillTx/>
              <a:latin typeface="Arial"/>
            </a:endParaRPr>
          </a:p>
        </p:txBody>
      </p:sp>
      <p:sp>
        <p:nvSpPr>
          <p:cNvPr id="418" name="Text 24"/>
          <p:cNvSpPr/>
          <p:nvPr/>
        </p:nvSpPr>
        <p:spPr>
          <a:xfrm>
            <a:off x="4636080" y="3813120"/>
            <a:ext cx="2614680" cy="54828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60" b="0" u="none" strike="noStrike">
                <a:solidFill>
                  <a:srgbClr val="334155"/>
                </a:solidFill>
                <a:effectLst/>
                <a:uFillTx/>
                <a:latin typeface="Aptos"/>
              </a:rPr>
              <a:t>Nach der Migration müssen Anzahl und Zuordnung der Datensätze geprüft werden.</a:t>
            </a:r>
            <a:endParaRPr lang="de-DE" sz="960" b="0" u="none" strike="noStrike">
              <a:solidFill>
                <a:srgbClr val="000000"/>
              </a:solidFill>
              <a:effectLst/>
              <a:uFillTx/>
              <a:latin typeface="Arial"/>
            </a:endParaRPr>
          </a:p>
        </p:txBody>
      </p:sp>
      <p:sp>
        <p:nvSpPr>
          <p:cNvPr id="419" name="Shape 25"/>
          <p:cNvSpPr/>
          <p:nvPr/>
        </p:nvSpPr>
        <p:spPr>
          <a:xfrm>
            <a:off x="8001000" y="3154680"/>
            <a:ext cx="3017160" cy="1371240"/>
          </a:xfrm>
          <a:prstGeom prst="roundRect">
            <a:avLst>
              <a:gd name="adj" fmla="val 5333"/>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420" name="Text 26"/>
          <p:cNvSpPr/>
          <p:nvPr/>
        </p:nvSpPr>
        <p:spPr>
          <a:xfrm>
            <a:off x="8165520" y="3319200"/>
            <a:ext cx="41112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E11D48"/>
                </a:solidFill>
                <a:effectLst/>
                <a:uFillTx/>
                <a:latin typeface="Aptos"/>
              </a:rPr>
              <a:t>!</a:t>
            </a:r>
            <a:endParaRPr lang="de-DE" sz="1800" b="0" u="none" strike="noStrike">
              <a:solidFill>
                <a:srgbClr val="000000"/>
              </a:solidFill>
              <a:effectLst/>
              <a:uFillTx/>
              <a:latin typeface="Arial"/>
            </a:endParaRPr>
          </a:p>
        </p:txBody>
      </p:sp>
      <p:sp>
        <p:nvSpPr>
          <p:cNvPr id="421" name="Text 27"/>
          <p:cNvSpPr/>
          <p:nvPr/>
        </p:nvSpPr>
        <p:spPr>
          <a:xfrm>
            <a:off x="8659440" y="3337560"/>
            <a:ext cx="219420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Risiko</a:t>
            </a:r>
            <a:endParaRPr lang="de-DE" sz="1350" b="0" u="none" strike="noStrike">
              <a:solidFill>
                <a:srgbClr val="000000"/>
              </a:solidFill>
              <a:effectLst/>
              <a:uFillTx/>
              <a:latin typeface="Arial"/>
            </a:endParaRPr>
          </a:p>
        </p:txBody>
      </p:sp>
      <p:sp>
        <p:nvSpPr>
          <p:cNvPr id="422" name="Text 28"/>
          <p:cNvSpPr/>
          <p:nvPr/>
        </p:nvSpPr>
        <p:spPr>
          <a:xfrm>
            <a:off x="8202240" y="3813120"/>
            <a:ext cx="2614680" cy="54828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60" b="0" u="none" strike="noStrike">
                <a:solidFill>
                  <a:srgbClr val="334155"/>
                </a:solidFill>
                <a:effectLst/>
                <a:uFillTx/>
                <a:latin typeface="Aptos"/>
              </a:rPr>
              <a:t>Teilweise Migrationen können Inkonsistenzen erzeugen; produktiv wären Transaktionen wichtig.</a:t>
            </a:r>
            <a:endParaRPr lang="de-DE" sz="96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423" name="Shape 0"/>
          <p:cNvSpPr/>
          <p:nvPr/>
        </p:nvSpPr>
        <p:spPr>
          <a:xfrm>
            <a:off x="0" y="0"/>
            <a:ext cx="12191400" cy="6857640"/>
          </a:xfrm>
          <a:prstGeom prst="rect">
            <a:avLst/>
          </a:prstGeom>
          <a:solidFill>
            <a:srgbClr val="F8FAFC"/>
          </a:solidFill>
          <a:ln w="12700">
            <a:solidFill>
              <a:srgbClr val="F8FAFC">
                <a:alpha val="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424" name="Shape 1"/>
          <p:cNvSpPr/>
          <p:nvPr/>
        </p:nvSpPr>
        <p:spPr>
          <a:xfrm>
            <a:off x="0" y="0"/>
            <a:ext cx="109440" cy="6857640"/>
          </a:xfrm>
          <a:prstGeom prst="rect">
            <a:avLst/>
          </a:prstGeom>
          <a:solidFill>
            <a:srgbClr val="10B981"/>
          </a:solidFill>
          <a:ln w="12700">
            <a:solidFill>
              <a:srgbClr val="10B981"/>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425" name="Text 2"/>
          <p:cNvSpPr/>
          <p:nvPr/>
        </p:nvSpPr>
        <p:spPr>
          <a:xfrm>
            <a:off x="594360" y="384120"/>
            <a:ext cx="9052200" cy="438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0F172A"/>
                </a:solidFill>
                <a:effectLst/>
                <a:uFillTx/>
                <a:latin typeface="Aptos Display"/>
                <a:ea typeface="Aptos Display"/>
              </a:rPr>
              <a:t>Datenbankdesign: Bewertung</a:t>
            </a:r>
            <a:endParaRPr lang="de-DE" sz="2400" b="0" u="none" strike="noStrike">
              <a:solidFill>
                <a:srgbClr val="000000"/>
              </a:solidFill>
              <a:effectLst/>
              <a:uFillTx/>
              <a:latin typeface="Arial"/>
            </a:endParaRPr>
          </a:p>
        </p:txBody>
      </p:sp>
      <p:sp>
        <p:nvSpPr>
          <p:cNvPr id="426" name="Text 3"/>
          <p:cNvSpPr/>
          <p:nvPr/>
        </p:nvSpPr>
        <p:spPr>
          <a:xfrm>
            <a:off x="612720" y="850320"/>
            <a:ext cx="96008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64748B"/>
                </a:solidFill>
                <a:effectLst/>
                <a:uFillTx/>
                <a:latin typeface="Aptos"/>
              </a:rPr>
              <a:t>Was durch die Umstellung gewonnen wurde</a:t>
            </a:r>
            <a:endParaRPr lang="de-DE" sz="1200" b="0" u="none" strike="noStrike">
              <a:solidFill>
                <a:srgbClr val="000000"/>
              </a:solidFill>
              <a:effectLst/>
              <a:uFillTx/>
              <a:latin typeface="Arial"/>
            </a:endParaRPr>
          </a:p>
        </p:txBody>
      </p:sp>
      <p:sp>
        <p:nvSpPr>
          <p:cNvPr id="427" name="Shape 4"/>
          <p:cNvSpPr/>
          <p:nvPr/>
        </p:nvSpPr>
        <p:spPr>
          <a:xfrm>
            <a:off x="502920" y="6473880"/>
            <a:ext cx="11201400" cy="360"/>
          </a:xfrm>
          <a:prstGeom prst="line">
            <a:avLst/>
          </a:prstGeom>
          <a:ln w="7620">
            <a:solidFill>
              <a:srgbClr val="CBD5E1">
                <a:alpha val="70000"/>
              </a:srgbClr>
            </a:solidFill>
            <a:round/>
          </a:ln>
        </p:spPr>
        <p:style>
          <a:lnRef idx="0"/>
          <a:fillRef idx="0"/>
          <a:effectRef idx="0"/>
          <a:fontRef idx="minor"/>
        </p:style>
        <p:txBody>
          <a:bodyPr lIns="90000" tIns="-44640" rIns="90000" bIns="-44640" anchor="t" anchorCtr="1">
            <a:noAutofit/>
          </a:bodyPr>
          <a:p>
            <a:endParaRPr lang="de-DE" sz="1800" b="0" u="none" strike="noStrike">
              <a:solidFill>
                <a:srgbClr val="000000"/>
              </a:solidFill>
              <a:effectLst/>
              <a:uFillTx/>
              <a:latin typeface="Arial"/>
            </a:endParaRPr>
          </a:p>
        </p:txBody>
      </p:sp>
      <p:sp>
        <p:nvSpPr>
          <p:cNvPr id="428" name="Text 5"/>
          <p:cNvSpPr/>
          <p:nvPr/>
        </p:nvSpPr>
        <p:spPr>
          <a:xfrm>
            <a:off x="567000" y="6519600"/>
            <a:ext cx="530316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4748B"/>
                </a:solidFill>
                <a:effectLst/>
                <a:uFillTx/>
                <a:latin typeface="Aptos"/>
                <a:ea typeface="Aptos"/>
              </a:rPr>
              <a:t>Teil 3 · Datenbank &amp; Migration</a:t>
            </a:r>
            <a:endParaRPr lang="de-DE" sz="750" b="0" u="none" strike="noStrike">
              <a:solidFill>
                <a:srgbClr val="000000"/>
              </a:solidFill>
              <a:effectLst/>
              <a:uFillTx/>
              <a:latin typeface="Arial"/>
            </a:endParaRPr>
          </a:p>
        </p:txBody>
      </p:sp>
      <p:sp>
        <p:nvSpPr>
          <p:cNvPr id="429" name="Text 6"/>
          <p:cNvSpPr/>
          <p:nvPr/>
        </p:nvSpPr>
        <p:spPr>
          <a:xfrm>
            <a:off x="11201400" y="6519600"/>
            <a:ext cx="45684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50" b="0" u="none" strike="noStrike">
                <a:solidFill>
                  <a:srgbClr val="64748B"/>
                </a:solidFill>
                <a:effectLst/>
                <a:uFillTx/>
                <a:latin typeface="Aptos"/>
                <a:ea typeface="Aptos"/>
              </a:rPr>
              <a:t>22</a:t>
            </a:r>
            <a:endParaRPr lang="de-DE" sz="750" b="0" u="none" strike="noStrike">
              <a:solidFill>
                <a:srgbClr val="000000"/>
              </a:solidFill>
              <a:effectLst/>
              <a:uFillTx/>
              <a:latin typeface="Arial"/>
            </a:endParaRPr>
          </a:p>
        </p:txBody>
      </p:sp>
      <p:sp>
        <p:nvSpPr>
          <p:cNvPr id="430" name="Text 7"/>
          <p:cNvSpPr/>
          <p:nvPr/>
        </p:nvSpPr>
        <p:spPr>
          <a:xfrm>
            <a:off x="914400" y="1600200"/>
            <a:ext cx="1005480" cy="685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4000" b="1" u="none" strike="noStrike">
                <a:solidFill>
                  <a:srgbClr val="10B981"/>
                </a:solidFill>
                <a:effectLst/>
                <a:uFillTx/>
                <a:latin typeface="Aptos"/>
              </a:rPr>
              <a:t>1</a:t>
            </a:r>
            <a:endParaRPr lang="de-DE" sz="4000" b="0" u="none" strike="noStrike">
              <a:solidFill>
                <a:srgbClr val="000000"/>
              </a:solidFill>
              <a:effectLst/>
              <a:uFillTx/>
              <a:latin typeface="Arial"/>
            </a:endParaRPr>
          </a:p>
        </p:txBody>
      </p:sp>
      <p:sp>
        <p:nvSpPr>
          <p:cNvPr id="431" name="Text 8"/>
          <p:cNvSpPr/>
          <p:nvPr/>
        </p:nvSpPr>
        <p:spPr>
          <a:xfrm>
            <a:off x="777240" y="2313360"/>
            <a:ext cx="1279800" cy="273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0" u="none" strike="noStrike">
                <a:solidFill>
                  <a:srgbClr val="334155"/>
                </a:solidFill>
                <a:effectLst/>
                <a:uFillTx/>
                <a:latin typeface="Aptos"/>
              </a:rPr>
              <a:t>klare Zuordnung</a:t>
            </a:r>
            <a:endParaRPr lang="de-DE" sz="950" b="0" u="none" strike="noStrike">
              <a:solidFill>
                <a:srgbClr val="000000"/>
              </a:solidFill>
              <a:effectLst/>
              <a:uFillTx/>
              <a:latin typeface="Arial"/>
            </a:endParaRPr>
          </a:p>
        </p:txBody>
      </p:sp>
      <p:sp>
        <p:nvSpPr>
          <p:cNvPr id="432" name="Text 9"/>
          <p:cNvSpPr/>
          <p:nvPr/>
        </p:nvSpPr>
        <p:spPr>
          <a:xfrm>
            <a:off x="2926080" y="1600200"/>
            <a:ext cx="1005480" cy="685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4000" b="1" u="none" strike="noStrike">
                <a:solidFill>
                  <a:srgbClr val="2563EB"/>
                </a:solidFill>
                <a:effectLst/>
                <a:uFillTx/>
                <a:latin typeface="Aptos"/>
              </a:rPr>
              <a:t>2</a:t>
            </a:r>
            <a:endParaRPr lang="de-DE" sz="4000" b="0" u="none" strike="noStrike">
              <a:solidFill>
                <a:srgbClr val="000000"/>
              </a:solidFill>
              <a:effectLst/>
              <a:uFillTx/>
              <a:latin typeface="Arial"/>
            </a:endParaRPr>
          </a:p>
        </p:txBody>
      </p:sp>
      <p:sp>
        <p:nvSpPr>
          <p:cNvPr id="433" name="Text 10"/>
          <p:cNvSpPr/>
          <p:nvPr/>
        </p:nvSpPr>
        <p:spPr>
          <a:xfrm>
            <a:off x="2788920" y="2313360"/>
            <a:ext cx="1279800" cy="273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0" u="none" strike="noStrike">
                <a:solidFill>
                  <a:srgbClr val="334155"/>
                </a:solidFill>
                <a:effectLst/>
                <a:uFillTx/>
                <a:latin typeface="Aptos"/>
              </a:rPr>
              <a:t>bessere Abfragen</a:t>
            </a:r>
            <a:endParaRPr lang="de-DE" sz="950" b="0" u="none" strike="noStrike">
              <a:solidFill>
                <a:srgbClr val="000000"/>
              </a:solidFill>
              <a:effectLst/>
              <a:uFillTx/>
              <a:latin typeface="Arial"/>
            </a:endParaRPr>
          </a:p>
        </p:txBody>
      </p:sp>
      <p:sp>
        <p:nvSpPr>
          <p:cNvPr id="434" name="Text 11"/>
          <p:cNvSpPr/>
          <p:nvPr/>
        </p:nvSpPr>
        <p:spPr>
          <a:xfrm>
            <a:off x="4937760" y="1600200"/>
            <a:ext cx="1005480" cy="685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4000" b="1" u="none" strike="noStrike">
                <a:solidFill>
                  <a:srgbClr val="F59E0B"/>
                </a:solidFill>
                <a:effectLst/>
                <a:uFillTx/>
                <a:latin typeface="Aptos"/>
              </a:rPr>
              <a:t>3</a:t>
            </a:r>
            <a:endParaRPr lang="de-DE" sz="4000" b="0" u="none" strike="noStrike">
              <a:solidFill>
                <a:srgbClr val="000000"/>
              </a:solidFill>
              <a:effectLst/>
              <a:uFillTx/>
              <a:latin typeface="Arial"/>
            </a:endParaRPr>
          </a:p>
        </p:txBody>
      </p:sp>
      <p:sp>
        <p:nvSpPr>
          <p:cNvPr id="435" name="Text 12"/>
          <p:cNvSpPr/>
          <p:nvPr/>
        </p:nvSpPr>
        <p:spPr>
          <a:xfrm>
            <a:off x="4800600" y="2313360"/>
            <a:ext cx="1279800" cy="273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0" u="none" strike="noStrike">
                <a:solidFill>
                  <a:srgbClr val="334155"/>
                </a:solidFill>
                <a:effectLst/>
                <a:uFillTx/>
                <a:latin typeface="Aptos"/>
              </a:rPr>
              <a:t>saubere CRUDs</a:t>
            </a:r>
            <a:endParaRPr lang="de-DE" sz="950" b="0" u="none" strike="noStrike">
              <a:solidFill>
                <a:srgbClr val="000000"/>
              </a:solidFill>
              <a:effectLst/>
              <a:uFillTx/>
              <a:latin typeface="Arial"/>
            </a:endParaRPr>
          </a:p>
        </p:txBody>
      </p:sp>
      <p:sp>
        <p:nvSpPr>
          <p:cNvPr id="436" name="Shape 13"/>
          <p:cNvSpPr/>
          <p:nvPr/>
        </p:nvSpPr>
        <p:spPr>
          <a:xfrm>
            <a:off x="7223760" y="1463040"/>
            <a:ext cx="3474360" cy="1645560"/>
          </a:xfrm>
          <a:prstGeom prst="roundRect">
            <a:avLst>
              <a:gd name="adj" fmla="val 4444"/>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437" name="Text 14"/>
          <p:cNvSpPr/>
          <p:nvPr/>
        </p:nvSpPr>
        <p:spPr>
          <a:xfrm>
            <a:off x="7388280" y="1627560"/>
            <a:ext cx="41112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10B981"/>
                </a:solidFill>
                <a:effectLst/>
                <a:uFillTx/>
                <a:latin typeface="Aptos"/>
              </a:rPr>
              <a:t>↗</a:t>
            </a:r>
            <a:endParaRPr lang="de-DE" sz="1800" b="0" u="none" strike="noStrike">
              <a:solidFill>
                <a:srgbClr val="000000"/>
              </a:solidFill>
              <a:effectLst/>
              <a:uFillTx/>
              <a:latin typeface="Arial"/>
            </a:endParaRPr>
          </a:p>
        </p:txBody>
      </p:sp>
      <p:sp>
        <p:nvSpPr>
          <p:cNvPr id="438" name="Text 15"/>
          <p:cNvSpPr/>
          <p:nvPr/>
        </p:nvSpPr>
        <p:spPr>
          <a:xfrm>
            <a:off x="7882200" y="1645920"/>
            <a:ext cx="265140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Technischer Gewinn</a:t>
            </a:r>
            <a:endParaRPr lang="de-DE" sz="1350" b="0" u="none" strike="noStrike">
              <a:solidFill>
                <a:srgbClr val="000000"/>
              </a:solidFill>
              <a:effectLst/>
              <a:uFillTx/>
              <a:latin typeface="Arial"/>
            </a:endParaRPr>
          </a:p>
        </p:txBody>
      </p:sp>
      <p:sp>
        <p:nvSpPr>
          <p:cNvPr id="439" name="Text 16"/>
          <p:cNvSpPr/>
          <p:nvPr/>
        </p:nvSpPr>
        <p:spPr>
          <a:xfrm>
            <a:off x="7425000" y="2121480"/>
            <a:ext cx="3071880" cy="82260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60" b="0" u="none" strike="noStrike">
                <a:solidFill>
                  <a:srgbClr val="334155"/>
                </a:solidFill>
                <a:effectLst/>
                <a:uFillTx/>
                <a:latin typeface="Aptos"/>
              </a:rPr>
              <a:t>Ziele, Ereignisse und Profile können getrennt verändert, validiert und erweitert werden.</a:t>
            </a:r>
            <a:endParaRPr lang="de-DE" sz="960" b="0" u="none" strike="noStrike">
              <a:solidFill>
                <a:srgbClr val="000000"/>
              </a:solidFill>
              <a:effectLst/>
              <a:uFillTx/>
              <a:latin typeface="Arial"/>
            </a:endParaRPr>
          </a:p>
        </p:txBody>
      </p:sp>
      <p:sp>
        <p:nvSpPr>
          <p:cNvPr id="440" name="Shape 17"/>
          <p:cNvSpPr/>
          <p:nvPr/>
        </p:nvSpPr>
        <p:spPr>
          <a:xfrm>
            <a:off x="868680" y="3977640"/>
            <a:ext cx="4480200" cy="1234080"/>
          </a:xfrm>
          <a:prstGeom prst="roundRect">
            <a:avLst>
              <a:gd name="adj" fmla="val 5926"/>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441" name="Text 18"/>
          <p:cNvSpPr/>
          <p:nvPr/>
        </p:nvSpPr>
        <p:spPr>
          <a:xfrm>
            <a:off x="1033200" y="4142160"/>
            <a:ext cx="41112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334155"/>
                </a:solidFill>
                <a:effectLst/>
                <a:uFillTx/>
                <a:latin typeface="Aptos"/>
              </a:rPr>
              <a:t>…</a:t>
            </a:r>
            <a:endParaRPr lang="de-DE" sz="1800" b="0" u="none" strike="noStrike">
              <a:solidFill>
                <a:srgbClr val="000000"/>
              </a:solidFill>
              <a:effectLst/>
              <a:uFillTx/>
              <a:latin typeface="Arial"/>
            </a:endParaRPr>
          </a:p>
        </p:txBody>
      </p:sp>
      <p:sp>
        <p:nvSpPr>
          <p:cNvPr id="442" name="Text 19"/>
          <p:cNvSpPr/>
          <p:nvPr/>
        </p:nvSpPr>
        <p:spPr>
          <a:xfrm>
            <a:off x="1527120" y="416052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Offener Punkt</a:t>
            </a:r>
            <a:endParaRPr lang="de-DE" sz="1350" b="0" u="none" strike="noStrike">
              <a:solidFill>
                <a:srgbClr val="000000"/>
              </a:solidFill>
              <a:effectLst/>
              <a:uFillTx/>
              <a:latin typeface="Arial"/>
            </a:endParaRPr>
          </a:p>
        </p:txBody>
      </p:sp>
      <p:sp>
        <p:nvSpPr>
          <p:cNvPr id="443" name="Text 20"/>
          <p:cNvSpPr/>
          <p:nvPr/>
        </p:nvSpPr>
        <p:spPr>
          <a:xfrm>
            <a:off x="1069920" y="4636080"/>
            <a:ext cx="4077720" cy="411120"/>
          </a:xfrm>
          <a:prstGeom prst="rect">
            <a:avLst/>
          </a:prstGeom>
          <a:noFill/>
          <a:ln w="0">
            <a:noFill/>
          </a:ln>
        </p:spPr>
        <p:style>
          <a:lnRef idx="0"/>
          <a:fillRef idx="0"/>
          <a:effectRef idx="0"/>
          <a:fontRef idx="minor"/>
        </p:style>
        <p:txBody>
          <a:bodyPr lIns="360" tIns="360" rIns="360" bIns="360" anchor="ctr">
            <a:normAutofit lnSpcReduction="9999"/>
          </a:bodyPr>
          <a:p>
            <a:pPr defTabSz="914400">
              <a:lnSpc>
                <a:spcPct val="100000"/>
              </a:lnSpc>
              <a:tabLst>
                <a:tab pos="0" algn="l"/>
              </a:tabLst>
            </a:pPr>
            <a:r>
              <a:rPr lang="en-US" sz="960" b="0" u="none" strike="noStrike">
                <a:solidFill>
                  <a:srgbClr val="334155"/>
                </a:solidFill>
                <a:effectLst/>
                <a:uFillTx/>
                <a:latin typeface="Aptos"/>
              </a:rPr>
              <a:t>Die Datenbank könnte mit historischen Daten erweitert werden, um z. B. ein früheres Gehalt oder einen früheren Kontostand speichern zu können.</a:t>
            </a:r>
            <a:endParaRPr lang="de-DE" sz="960" b="0" u="none" strike="noStrike">
              <a:solidFill>
                <a:srgbClr val="000000"/>
              </a:solidFill>
              <a:effectLst/>
              <a:uFillTx/>
              <a:latin typeface="Arial"/>
            </a:endParaRPr>
          </a:p>
        </p:txBody>
      </p:sp>
      <p:sp>
        <p:nvSpPr>
          <p:cNvPr id="444" name="Shape 21"/>
          <p:cNvSpPr/>
          <p:nvPr/>
        </p:nvSpPr>
        <p:spPr>
          <a:xfrm>
            <a:off x="5806440" y="3977640"/>
            <a:ext cx="4480200" cy="1234080"/>
          </a:xfrm>
          <a:prstGeom prst="roundRect">
            <a:avLst>
              <a:gd name="adj" fmla="val 5926"/>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445" name="Text 22"/>
          <p:cNvSpPr/>
          <p:nvPr/>
        </p:nvSpPr>
        <p:spPr>
          <a:xfrm>
            <a:off x="5970960" y="4142160"/>
            <a:ext cx="41112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2563EB"/>
                </a:solidFill>
                <a:effectLst/>
                <a:uFillTx/>
                <a:latin typeface="Aptos"/>
              </a:rPr>
              <a:t>→</a:t>
            </a:r>
            <a:endParaRPr lang="de-DE" sz="1800" b="0" u="none" strike="noStrike">
              <a:solidFill>
                <a:srgbClr val="000000"/>
              </a:solidFill>
              <a:effectLst/>
              <a:uFillTx/>
              <a:latin typeface="Arial"/>
            </a:endParaRPr>
          </a:p>
        </p:txBody>
      </p:sp>
      <p:sp>
        <p:nvSpPr>
          <p:cNvPr id="446" name="Text 23"/>
          <p:cNvSpPr/>
          <p:nvPr/>
        </p:nvSpPr>
        <p:spPr>
          <a:xfrm>
            <a:off x="6464880" y="416052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Übergabe an Frontend</a:t>
            </a:r>
            <a:endParaRPr lang="de-DE" sz="1350" b="0" u="none" strike="noStrike">
              <a:solidFill>
                <a:srgbClr val="000000"/>
              </a:solidFill>
              <a:effectLst/>
              <a:uFillTx/>
              <a:latin typeface="Arial"/>
            </a:endParaRPr>
          </a:p>
        </p:txBody>
      </p:sp>
      <p:sp>
        <p:nvSpPr>
          <p:cNvPr id="447" name="Text 24"/>
          <p:cNvSpPr/>
          <p:nvPr/>
        </p:nvSpPr>
        <p:spPr>
          <a:xfrm>
            <a:off x="6007680" y="4636080"/>
            <a:ext cx="4077720" cy="4111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60" b="0" u="none" strike="noStrike">
                <a:solidFill>
                  <a:srgbClr val="334155"/>
                </a:solidFill>
                <a:effectLst/>
                <a:uFillTx/>
                <a:latin typeface="Aptos"/>
              </a:rPr>
              <a:t>Die Datenbankstruktur bestimmt, welche Funktionen die Oberfläche gezielt anbieten kann.</a:t>
            </a:r>
            <a:endParaRPr lang="de-DE" sz="96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448" name="Shape 0"/>
          <p:cNvSpPr/>
          <p:nvPr/>
        </p:nvSpPr>
        <p:spPr>
          <a:xfrm>
            <a:off x="0" y="0"/>
            <a:ext cx="12191400" cy="6857640"/>
          </a:xfrm>
          <a:prstGeom prst="rect">
            <a:avLst/>
          </a:prstGeom>
          <a:solidFill>
            <a:srgbClr val="0F172A"/>
          </a:solidFill>
          <a:ln w="12700">
            <a:solidFill>
              <a:srgbClr val="0F172A"/>
            </a:solidFill>
            <a:round/>
          </a:ln>
        </p:spPr>
        <p:style>
          <a:lnRef idx="0"/>
          <a:fillRef idx="0"/>
          <a:effectRef idx="0"/>
          <a:fontRef idx="minor"/>
        </p:style>
        <p:txBody>
          <a:bodyPr lIns="90000" tIns="45000" rIns="90000" bIns="45000" anchor="t">
            <a:noAutofit/>
          </a:bodyPr>
          <a:p>
            <a:endParaRPr lang="de-DE" sz="1800" b="0" u="none" strike="noStrike">
              <a:solidFill>
                <a:srgbClr val="FFFFFF"/>
              </a:solidFill>
              <a:effectLst/>
              <a:uFillTx/>
              <a:latin typeface="Arial"/>
            </a:endParaRPr>
          </a:p>
        </p:txBody>
      </p:sp>
      <p:sp>
        <p:nvSpPr>
          <p:cNvPr id="449" name="Shape 1"/>
          <p:cNvSpPr/>
          <p:nvPr/>
        </p:nvSpPr>
        <p:spPr>
          <a:xfrm>
            <a:off x="0" y="0"/>
            <a:ext cx="12191400" cy="200880"/>
          </a:xfrm>
          <a:prstGeom prst="rect">
            <a:avLst/>
          </a:prstGeom>
          <a:solidFill>
            <a:srgbClr val="E11D48"/>
          </a:solidFill>
          <a:ln w="12700">
            <a:solidFill>
              <a:srgbClr val="E11D48"/>
            </a:solidFill>
            <a:round/>
          </a:ln>
        </p:spPr>
        <p:style>
          <a:lnRef idx="0"/>
          <a:fillRef idx="0"/>
          <a:effectRef idx="0"/>
          <a:fontRef idx="minor"/>
        </p:style>
        <p:txBody>
          <a:bodyPr lIns="90000" tIns="45000" rIns="90000" bIns="45000" anchor="t">
            <a:noAutofit/>
          </a:bodyPr>
          <a:p>
            <a:endParaRPr lang="de-DE" sz="1800" b="0" u="none" strike="noStrike">
              <a:solidFill>
                <a:srgbClr val="FFFFFF"/>
              </a:solidFill>
              <a:effectLst/>
              <a:uFillTx/>
              <a:latin typeface="Arial"/>
            </a:endParaRPr>
          </a:p>
        </p:txBody>
      </p:sp>
      <p:sp>
        <p:nvSpPr>
          <p:cNvPr id="450" name="Text 2"/>
          <p:cNvSpPr/>
          <p:nvPr/>
        </p:nvSpPr>
        <p:spPr>
          <a:xfrm>
            <a:off x="685800" y="914400"/>
            <a:ext cx="123408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E11D48"/>
                </a:solidFill>
                <a:effectLst/>
                <a:uFillTx/>
                <a:latin typeface="Aptos"/>
              </a:rPr>
              <a:t>Teil 4</a:t>
            </a:r>
            <a:endParaRPr lang="de-DE" sz="1300" b="0" u="none" strike="noStrike">
              <a:solidFill>
                <a:srgbClr val="FFFFFF"/>
              </a:solidFill>
              <a:effectLst/>
              <a:uFillTx/>
              <a:latin typeface="Arial"/>
            </a:endParaRPr>
          </a:p>
        </p:txBody>
      </p:sp>
      <p:sp>
        <p:nvSpPr>
          <p:cNvPr id="451" name="Text 3"/>
          <p:cNvSpPr/>
          <p:nvPr/>
        </p:nvSpPr>
        <p:spPr>
          <a:xfrm>
            <a:off x="685800" y="1325880"/>
            <a:ext cx="8046360" cy="7311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3400" b="1" u="none" strike="noStrike">
                <a:solidFill>
                  <a:srgbClr val="FFFFFF"/>
                </a:solidFill>
                <a:effectLst/>
                <a:uFillTx/>
                <a:latin typeface="Aptos"/>
              </a:rPr>
              <a:t>Frontend</a:t>
            </a:r>
            <a:endParaRPr lang="de-DE" sz="3400" b="0" u="none" strike="noStrike">
              <a:solidFill>
                <a:srgbClr val="FFFFFF"/>
              </a:solidFill>
              <a:effectLst/>
              <a:uFillTx/>
              <a:latin typeface="Arial"/>
            </a:endParaRPr>
          </a:p>
        </p:txBody>
      </p:sp>
      <p:sp>
        <p:nvSpPr>
          <p:cNvPr id="452" name="Text 4"/>
          <p:cNvSpPr/>
          <p:nvPr/>
        </p:nvSpPr>
        <p:spPr>
          <a:xfrm>
            <a:off x="713160" y="2176200"/>
            <a:ext cx="50288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CBD5E1"/>
                </a:solidFill>
                <a:effectLst/>
                <a:uFillTx/>
                <a:latin typeface="Aptos"/>
              </a:rPr>
              <a:t>Person 4 · ca. 10 Minuten</a:t>
            </a:r>
            <a:endParaRPr lang="de-DE" sz="1300" b="0" u="none" strike="noStrike">
              <a:solidFill>
                <a:srgbClr val="FFFFFF"/>
              </a:solidFill>
              <a:effectLst/>
              <a:uFillTx/>
              <a:latin typeface="Arial"/>
            </a:endParaRPr>
          </a:p>
        </p:txBody>
      </p:sp>
      <p:sp>
        <p:nvSpPr>
          <p:cNvPr id="453" name="Text 5"/>
          <p:cNvSpPr/>
          <p:nvPr/>
        </p:nvSpPr>
        <p:spPr>
          <a:xfrm>
            <a:off x="9235440" y="1188720"/>
            <a:ext cx="1462680" cy="1279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5800" b="0" u="none" strike="noStrike">
                <a:solidFill>
                  <a:srgbClr val="E11D48"/>
                </a:solidFill>
                <a:effectLst/>
                <a:uFillTx/>
                <a:latin typeface="Aptos"/>
              </a:rPr>
              <a:t>🖥</a:t>
            </a:r>
            <a:endParaRPr lang="de-DE" sz="5800" b="0" u="none" strike="noStrike">
              <a:solidFill>
                <a:srgbClr val="FFFFFF"/>
              </a:solidFill>
              <a:effectLst/>
              <a:uFillTx/>
              <a:latin typeface="Arial"/>
            </a:endParaRPr>
          </a:p>
        </p:txBody>
      </p:sp>
      <p:sp>
        <p:nvSpPr>
          <p:cNvPr id="454" name="Shape 6"/>
          <p:cNvSpPr/>
          <p:nvPr/>
        </p:nvSpPr>
        <p:spPr>
          <a:xfrm>
            <a:off x="713160" y="2816280"/>
            <a:ext cx="10607040" cy="360"/>
          </a:xfrm>
          <a:prstGeom prst="line">
            <a:avLst/>
          </a:prstGeom>
          <a:ln w="12700">
            <a:solidFill>
              <a:srgbClr val="334155"/>
            </a:solidFill>
            <a:round/>
          </a:ln>
        </p:spPr>
        <p:style>
          <a:lnRef idx="0"/>
          <a:fillRef idx="0"/>
          <a:effectRef idx="0"/>
          <a:fontRef idx="minor"/>
        </p:style>
        <p:txBody>
          <a:bodyPr lIns="90000" tIns="-44640" rIns="90000" bIns="-44640" anchor="t" anchorCtr="1">
            <a:noAutofit/>
          </a:bodyPr>
          <a:p>
            <a:endParaRPr lang="de-DE" sz="1800" b="0" u="none" strike="noStrike">
              <a:solidFill>
                <a:srgbClr val="FFFFFF"/>
              </a:solidFill>
              <a:effectLst/>
              <a:uFillTx/>
              <a:latin typeface="Arial"/>
            </a:endParaRPr>
          </a:p>
        </p:txBody>
      </p:sp>
      <p:sp>
        <p:nvSpPr>
          <p:cNvPr id="455" name="Text 7"/>
          <p:cNvSpPr/>
          <p:nvPr/>
        </p:nvSpPr>
        <p:spPr>
          <a:xfrm>
            <a:off x="749880" y="3127320"/>
            <a:ext cx="201132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FFFFFF"/>
                </a:solidFill>
                <a:effectLst/>
                <a:uFillTx/>
                <a:latin typeface="Aptos"/>
              </a:rPr>
              <a:t>Ziel dieses Abschnitts</a:t>
            </a:r>
            <a:endParaRPr lang="de-DE" sz="1200" b="0" u="none" strike="noStrike">
              <a:solidFill>
                <a:srgbClr val="FFFFFF"/>
              </a:solidFill>
              <a:effectLst/>
              <a:uFillTx/>
              <a:latin typeface="Arial"/>
            </a:endParaRPr>
          </a:p>
        </p:txBody>
      </p:sp>
      <p:sp>
        <p:nvSpPr>
          <p:cNvPr id="456" name="Text 8"/>
          <p:cNvSpPr/>
          <p:nvPr/>
        </p:nvSpPr>
        <p:spPr>
          <a:xfrm>
            <a:off x="749880" y="3474720"/>
            <a:ext cx="7497720" cy="59400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600" b="0" u="none" strike="noStrike">
                <a:solidFill>
                  <a:srgbClr val="E2E8F0"/>
                </a:solidFill>
                <a:effectLst/>
                <a:uFillTx/>
                <a:latin typeface="Aptos"/>
              </a:rPr>
              <a:t>Wie führt das Frontend die Nutzenden durch Registrierung, Finanzdaten und Informationsbereiche?</a:t>
            </a:r>
            <a:endParaRPr lang="de-DE" sz="1600" b="0" u="none" strike="noStrike">
              <a:solidFill>
                <a:srgbClr val="FFFFFF"/>
              </a:solidFill>
              <a:effectLst/>
              <a:uFillTx/>
              <a:latin typeface="Arial"/>
            </a:endParaRPr>
          </a:p>
        </p:txBody>
      </p:sp>
      <p:sp>
        <p:nvSpPr>
          <p:cNvPr id="457" name="Text 9"/>
          <p:cNvSpPr/>
          <p:nvPr/>
        </p:nvSpPr>
        <p:spPr>
          <a:xfrm>
            <a:off x="11174040" y="6473880"/>
            <a:ext cx="45684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50" b="0" u="none" strike="noStrike">
                <a:solidFill>
                  <a:srgbClr val="94A3B8"/>
                </a:solidFill>
                <a:effectLst/>
                <a:uFillTx/>
                <a:latin typeface="Aptos"/>
              </a:rPr>
              <a:t>23</a:t>
            </a:r>
            <a:endParaRPr lang="de-DE" sz="7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458" name="Shape 0"/>
          <p:cNvSpPr/>
          <p:nvPr/>
        </p:nvSpPr>
        <p:spPr>
          <a:xfrm>
            <a:off x="0" y="0"/>
            <a:ext cx="12191400" cy="6857640"/>
          </a:xfrm>
          <a:prstGeom prst="rect">
            <a:avLst/>
          </a:prstGeom>
          <a:solidFill>
            <a:srgbClr val="F8FAFC"/>
          </a:solidFill>
          <a:ln w="12700">
            <a:solidFill>
              <a:srgbClr val="F8FAFC">
                <a:alpha val="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459" name="Shape 1"/>
          <p:cNvSpPr/>
          <p:nvPr/>
        </p:nvSpPr>
        <p:spPr>
          <a:xfrm>
            <a:off x="0" y="0"/>
            <a:ext cx="109440" cy="6857640"/>
          </a:xfrm>
          <a:prstGeom prst="rect">
            <a:avLst/>
          </a:prstGeom>
          <a:solidFill>
            <a:srgbClr val="10B981"/>
          </a:solidFill>
          <a:ln w="12700">
            <a:solidFill>
              <a:srgbClr val="10B981"/>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460" name="Text 2"/>
          <p:cNvSpPr/>
          <p:nvPr/>
        </p:nvSpPr>
        <p:spPr>
          <a:xfrm>
            <a:off x="594360" y="384120"/>
            <a:ext cx="9052200" cy="438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0F172A"/>
                </a:solidFill>
                <a:effectLst/>
                <a:uFillTx/>
                <a:latin typeface="Aptos Display"/>
                <a:ea typeface="Aptos Display"/>
              </a:rPr>
              <a:t>Rolle des Frontends</a:t>
            </a:r>
            <a:endParaRPr lang="de-DE" sz="2400" b="0" u="none" strike="noStrike">
              <a:solidFill>
                <a:srgbClr val="000000"/>
              </a:solidFill>
              <a:effectLst/>
              <a:uFillTx/>
              <a:latin typeface="Arial"/>
            </a:endParaRPr>
          </a:p>
        </p:txBody>
      </p:sp>
      <p:sp>
        <p:nvSpPr>
          <p:cNvPr id="461" name="Text 3"/>
          <p:cNvSpPr/>
          <p:nvPr/>
        </p:nvSpPr>
        <p:spPr>
          <a:xfrm>
            <a:off x="612720" y="850320"/>
            <a:ext cx="96008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4748B"/>
                </a:solidFill>
                <a:effectLst/>
                <a:uFillTx/>
                <a:latin typeface="Aptos"/>
              </a:rPr>
              <a:t>Das Frontend übersetzt komplexe Finanzdaten in verständliche Schritte</a:t>
            </a:r>
            <a:endParaRPr lang="de-DE" sz="950" b="0" u="none" strike="noStrike">
              <a:solidFill>
                <a:srgbClr val="000000"/>
              </a:solidFill>
              <a:effectLst/>
              <a:uFillTx/>
              <a:latin typeface="Arial"/>
            </a:endParaRPr>
          </a:p>
        </p:txBody>
      </p:sp>
      <p:sp>
        <p:nvSpPr>
          <p:cNvPr id="462" name="Shape 4"/>
          <p:cNvSpPr/>
          <p:nvPr/>
        </p:nvSpPr>
        <p:spPr>
          <a:xfrm>
            <a:off x="502920" y="6473880"/>
            <a:ext cx="11201400" cy="360"/>
          </a:xfrm>
          <a:prstGeom prst="line">
            <a:avLst/>
          </a:prstGeom>
          <a:ln w="7620">
            <a:solidFill>
              <a:srgbClr val="CBD5E1">
                <a:alpha val="70000"/>
              </a:srgbClr>
            </a:solidFill>
            <a:round/>
          </a:ln>
        </p:spPr>
        <p:style>
          <a:lnRef idx="0"/>
          <a:fillRef idx="0"/>
          <a:effectRef idx="0"/>
          <a:fontRef idx="minor"/>
        </p:style>
        <p:txBody>
          <a:bodyPr lIns="90000" tIns="-44640" rIns="90000" bIns="-44640" anchor="t" anchorCtr="1">
            <a:noAutofit/>
          </a:bodyPr>
          <a:p>
            <a:endParaRPr lang="de-DE" sz="1800" b="0" u="none" strike="noStrike">
              <a:solidFill>
                <a:srgbClr val="000000"/>
              </a:solidFill>
              <a:effectLst/>
              <a:uFillTx/>
              <a:latin typeface="Arial"/>
            </a:endParaRPr>
          </a:p>
        </p:txBody>
      </p:sp>
      <p:sp>
        <p:nvSpPr>
          <p:cNvPr id="463" name="Text 5"/>
          <p:cNvSpPr/>
          <p:nvPr/>
        </p:nvSpPr>
        <p:spPr>
          <a:xfrm>
            <a:off x="567000" y="6519600"/>
            <a:ext cx="530316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4748B"/>
                </a:solidFill>
                <a:effectLst/>
                <a:uFillTx/>
                <a:latin typeface="Aptos"/>
                <a:ea typeface="Aptos"/>
              </a:rPr>
              <a:t>Teil 4 · Frontend</a:t>
            </a:r>
            <a:endParaRPr lang="de-DE" sz="750" b="0" u="none" strike="noStrike">
              <a:solidFill>
                <a:srgbClr val="000000"/>
              </a:solidFill>
              <a:effectLst/>
              <a:uFillTx/>
              <a:latin typeface="Arial"/>
            </a:endParaRPr>
          </a:p>
        </p:txBody>
      </p:sp>
      <p:sp>
        <p:nvSpPr>
          <p:cNvPr id="464" name="Text 6"/>
          <p:cNvSpPr/>
          <p:nvPr/>
        </p:nvSpPr>
        <p:spPr>
          <a:xfrm>
            <a:off x="11201400" y="6519600"/>
            <a:ext cx="45684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50" b="0" u="none" strike="noStrike">
                <a:solidFill>
                  <a:srgbClr val="64748B"/>
                </a:solidFill>
                <a:effectLst/>
                <a:uFillTx/>
                <a:latin typeface="Aptos"/>
                <a:ea typeface="Aptos"/>
              </a:rPr>
              <a:t>24</a:t>
            </a:r>
            <a:endParaRPr lang="de-DE" sz="750" b="0" u="none" strike="noStrike">
              <a:solidFill>
                <a:srgbClr val="000000"/>
              </a:solidFill>
              <a:effectLst/>
              <a:uFillTx/>
              <a:latin typeface="Arial"/>
            </a:endParaRPr>
          </a:p>
        </p:txBody>
      </p:sp>
      <p:sp>
        <p:nvSpPr>
          <p:cNvPr id="465" name="Shape 7"/>
          <p:cNvSpPr/>
          <p:nvPr/>
        </p:nvSpPr>
        <p:spPr>
          <a:xfrm>
            <a:off x="731520" y="1417320"/>
            <a:ext cx="3291480" cy="3382920"/>
          </a:xfrm>
          <a:prstGeom prst="roundRect">
            <a:avLst>
              <a:gd name="adj" fmla="val 2222"/>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466" name="Text 8"/>
          <p:cNvSpPr/>
          <p:nvPr/>
        </p:nvSpPr>
        <p:spPr>
          <a:xfrm>
            <a:off x="896040" y="1581840"/>
            <a:ext cx="41112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2563EB"/>
                </a:solidFill>
                <a:effectLst/>
                <a:uFillTx/>
                <a:latin typeface="Aptos"/>
              </a:rPr>
              <a:t>⌨</a:t>
            </a:r>
            <a:endParaRPr lang="de-DE" sz="1800" b="0" u="none" strike="noStrike">
              <a:solidFill>
                <a:srgbClr val="000000"/>
              </a:solidFill>
              <a:effectLst/>
              <a:uFillTx/>
              <a:latin typeface="Arial"/>
            </a:endParaRPr>
          </a:p>
        </p:txBody>
      </p:sp>
      <p:sp>
        <p:nvSpPr>
          <p:cNvPr id="467" name="Text 9"/>
          <p:cNvSpPr/>
          <p:nvPr/>
        </p:nvSpPr>
        <p:spPr>
          <a:xfrm>
            <a:off x="1389960" y="1600200"/>
            <a:ext cx="24685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Eingaben strukturieren</a:t>
            </a:r>
            <a:endParaRPr lang="de-DE" sz="1350" b="0" u="none" strike="noStrike">
              <a:solidFill>
                <a:srgbClr val="000000"/>
              </a:solidFill>
              <a:effectLst/>
              <a:uFillTx/>
              <a:latin typeface="Arial"/>
            </a:endParaRPr>
          </a:p>
        </p:txBody>
      </p:sp>
      <p:sp>
        <p:nvSpPr>
          <p:cNvPr id="468" name="Text 10"/>
          <p:cNvSpPr/>
          <p:nvPr/>
        </p:nvSpPr>
        <p:spPr>
          <a:xfrm>
            <a:off x="932760" y="2075760"/>
            <a:ext cx="2889000" cy="25599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60" b="0" u="none" strike="noStrike">
                <a:solidFill>
                  <a:srgbClr val="334155"/>
                </a:solidFill>
                <a:effectLst/>
                <a:uFillTx/>
                <a:latin typeface="Aptos"/>
              </a:rPr>
              <a:t>Formulare führen durch Konto, Finanzprofil, Ziele und Ereignisse.</a:t>
            </a:r>
            <a:endParaRPr lang="de-DE" sz="960" b="0" u="none" strike="noStrike">
              <a:solidFill>
                <a:srgbClr val="000000"/>
              </a:solidFill>
              <a:effectLst/>
              <a:uFillTx/>
              <a:latin typeface="Arial"/>
            </a:endParaRPr>
          </a:p>
        </p:txBody>
      </p:sp>
      <p:sp>
        <p:nvSpPr>
          <p:cNvPr id="469" name="Shape 11"/>
          <p:cNvSpPr/>
          <p:nvPr/>
        </p:nvSpPr>
        <p:spPr>
          <a:xfrm>
            <a:off x="4434840" y="1417320"/>
            <a:ext cx="3291480" cy="3382920"/>
          </a:xfrm>
          <a:prstGeom prst="roundRect">
            <a:avLst>
              <a:gd name="adj" fmla="val 2222"/>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470" name="Text 12"/>
          <p:cNvSpPr/>
          <p:nvPr/>
        </p:nvSpPr>
        <p:spPr>
          <a:xfrm>
            <a:off x="4599360" y="1581840"/>
            <a:ext cx="41112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10B981"/>
                </a:solidFill>
                <a:effectLst/>
                <a:uFillTx/>
                <a:latin typeface="Aptos"/>
              </a:rPr>
              <a:t>💬</a:t>
            </a:r>
            <a:endParaRPr lang="de-DE" sz="1800" b="0" u="none" strike="noStrike">
              <a:solidFill>
                <a:srgbClr val="000000"/>
              </a:solidFill>
              <a:effectLst/>
              <a:uFillTx/>
              <a:latin typeface="Arial"/>
            </a:endParaRPr>
          </a:p>
        </p:txBody>
      </p:sp>
      <p:sp>
        <p:nvSpPr>
          <p:cNvPr id="471" name="Text 13"/>
          <p:cNvSpPr/>
          <p:nvPr/>
        </p:nvSpPr>
        <p:spPr>
          <a:xfrm>
            <a:off x="5093280" y="1600200"/>
            <a:ext cx="24685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Feedback geben</a:t>
            </a:r>
            <a:endParaRPr lang="de-DE" sz="1350" b="0" u="none" strike="noStrike">
              <a:solidFill>
                <a:srgbClr val="000000"/>
              </a:solidFill>
              <a:effectLst/>
              <a:uFillTx/>
              <a:latin typeface="Arial"/>
            </a:endParaRPr>
          </a:p>
        </p:txBody>
      </p:sp>
      <p:sp>
        <p:nvSpPr>
          <p:cNvPr id="472" name="Text 14"/>
          <p:cNvSpPr/>
          <p:nvPr/>
        </p:nvSpPr>
        <p:spPr>
          <a:xfrm>
            <a:off x="4636080" y="2075760"/>
            <a:ext cx="2889000" cy="25599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60" b="0" u="none" strike="noStrike">
                <a:solidFill>
                  <a:srgbClr val="334155"/>
                </a:solidFill>
                <a:effectLst/>
                <a:uFillTx/>
                <a:latin typeface="Aptos"/>
              </a:rPr>
              <a:t>Erfolgsmeldungen, Fehler und geladene Werte müssen verständlich dargestellt werden.</a:t>
            </a:r>
            <a:endParaRPr lang="de-DE" sz="960" b="0" u="none" strike="noStrike">
              <a:solidFill>
                <a:srgbClr val="000000"/>
              </a:solidFill>
              <a:effectLst/>
              <a:uFillTx/>
              <a:latin typeface="Arial"/>
            </a:endParaRPr>
          </a:p>
        </p:txBody>
      </p:sp>
      <p:sp>
        <p:nvSpPr>
          <p:cNvPr id="473" name="Shape 15"/>
          <p:cNvSpPr/>
          <p:nvPr/>
        </p:nvSpPr>
        <p:spPr>
          <a:xfrm>
            <a:off x="8138160" y="1417320"/>
            <a:ext cx="3291480" cy="3382920"/>
          </a:xfrm>
          <a:prstGeom prst="roundRect">
            <a:avLst>
              <a:gd name="adj" fmla="val 2222"/>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474" name="Text 16"/>
          <p:cNvSpPr/>
          <p:nvPr/>
        </p:nvSpPr>
        <p:spPr>
          <a:xfrm>
            <a:off x="8302680" y="1581840"/>
            <a:ext cx="41112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E11D48"/>
                </a:solidFill>
                <a:effectLst/>
                <a:uFillTx/>
                <a:latin typeface="Aptos"/>
              </a:rPr>
              <a:t>🧘</a:t>
            </a:r>
            <a:endParaRPr lang="de-DE" sz="1800" b="0" u="none" strike="noStrike">
              <a:solidFill>
                <a:srgbClr val="000000"/>
              </a:solidFill>
              <a:effectLst/>
              <a:uFillTx/>
              <a:latin typeface="Arial"/>
            </a:endParaRPr>
          </a:p>
        </p:txBody>
      </p:sp>
      <p:sp>
        <p:nvSpPr>
          <p:cNvPr id="475" name="Text 17"/>
          <p:cNvSpPr/>
          <p:nvPr/>
        </p:nvSpPr>
        <p:spPr>
          <a:xfrm>
            <a:off x="8796600" y="1600200"/>
            <a:ext cx="24685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Komplexität reduzieren</a:t>
            </a:r>
            <a:endParaRPr lang="de-DE" sz="1350" b="0" u="none" strike="noStrike">
              <a:solidFill>
                <a:srgbClr val="000000"/>
              </a:solidFill>
              <a:effectLst/>
              <a:uFillTx/>
              <a:latin typeface="Arial"/>
            </a:endParaRPr>
          </a:p>
        </p:txBody>
      </p:sp>
      <p:sp>
        <p:nvSpPr>
          <p:cNvPr id="476" name="Text 18"/>
          <p:cNvSpPr/>
          <p:nvPr/>
        </p:nvSpPr>
        <p:spPr>
          <a:xfrm>
            <a:off x="8339400" y="2075760"/>
            <a:ext cx="2889000" cy="25599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60" b="0" u="none" strike="noStrike">
                <a:solidFill>
                  <a:srgbClr val="334155"/>
                </a:solidFill>
                <a:effectLst/>
                <a:uFillTx/>
                <a:latin typeface="Aptos"/>
              </a:rPr>
              <a:t>Nutzende sollen ohne Fachwissen erkennen, was die Anwendung mit ihren Daten macht.</a:t>
            </a:r>
            <a:endParaRPr lang="de-DE" sz="96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477" name="Shape 0"/>
          <p:cNvSpPr/>
          <p:nvPr/>
        </p:nvSpPr>
        <p:spPr>
          <a:xfrm>
            <a:off x="0" y="0"/>
            <a:ext cx="12191400" cy="6857640"/>
          </a:xfrm>
          <a:prstGeom prst="rect">
            <a:avLst/>
          </a:prstGeom>
          <a:solidFill>
            <a:srgbClr val="F8FAFC"/>
          </a:solidFill>
          <a:ln w="12700">
            <a:solidFill>
              <a:srgbClr val="F8FAFC">
                <a:alpha val="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478" name="Shape 1"/>
          <p:cNvSpPr/>
          <p:nvPr/>
        </p:nvSpPr>
        <p:spPr>
          <a:xfrm>
            <a:off x="0" y="0"/>
            <a:ext cx="109440" cy="6857640"/>
          </a:xfrm>
          <a:prstGeom prst="rect">
            <a:avLst/>
          </a:prstGeom>
          <a:solidFill>
            <a:srgbClr val="10B981"/>
          </a:solidFill>
          <a:ln w="12700">
            <a:solidFill>
              <a:srgbClr val="10B981"/>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479" name="Text 2"/>
          <p:cNvSpPr/>
          <p:nvPr/>
        </p:nvSpPr>
        <p:spPr>
          <a:xfrm>
            <a:off x="594360" y="384120"/>
            <a:ext cx="9052200" cy="438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0F172A"/>
                </a:solidFill>
                <a:effectLst/>
                <a:uFillTx/>
                <a:latin typeface="Aptos Display"/>
                <a:ea typeface="Aptos Display"/>
              </a:rPr>
              <a:t>Frontend-Flows</a:t>
            </a:r>
            <a:endParaRPr lang="de-DE" sz="2400" b="0" u="none" strike="noStrike">
              <a:solidFill>
                <a:srgbClr val="000000"/>
              </a:solidFill>
              <a:effectLst/>
              <a:uFillTx/>
              <a:latin typeface="Arial"/>
            </a:endParaRPr>
          </a:p>
        </p:txBody>
      </p:sp>
      <p:sp>
        <p:nvSpPr>
          <p:cNvPr id="480" name="Text 3"/>
          <p:cNvSpPr/>
          <p:nvPr/>
        </p:nvSpPr>
        <p:spPr>
          <a:xfrm>
            <a:off x="612720" y="850320"/>
            <a:ext cx="96008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4748B"/>
                </a:solidFill>
                <a:effectLst/>
                <a:uFillTx/>
                <a:latin typeface="Aptos"/>
              </a:rPr>
              <a:t>Die wichtigsten Seiten und Übergänge</a:t>
            </a:r>
            <a:endParaRPr lang="de-DE" sz="950" b="0" u="none" strike="noStrike">
              <a:solidFill>
                <a:srgbClr val="000000"/>
              </a:solidFill>
              <a:effectLst/>
              <a:uFillTx/>
              <a:latin typeface="Arial"/>
            </a:endParaRPr>
          </a:p>
        </p:txBody>
      </p:sp>
      <p:sp>
        <p:nvSpPr>
          <p:cNvPr id="481" name="Shape 4"/>
          <p:cNvSpPr/>
          <p:nvPr/>
        </p:nvSpPr>
        <p:spPr>
          <a:xfrm>
            <a:off x="502920" y="6473880"/>
            <a:ext cx="11201400" cy="360"/>
          </a:xfrm>
          <a:prstGeom prst="line">
            <a:avLst/>
          </a:prstGeom>
          <a:ln w="7620">
            <a:solidFill>
              <a:srgbClr val="CBD5E1">
                <a:alpha val="70000"/>
              </a:srgbClr>
            </a:solidFill>
            <a:round/>
          </a:ln>
        </p:spPr>
        <p:style>
          <a:lnRef idx="0"/>
          <a:fillRef idx="0"/>
          <a:effectRef idx="0"/>
          <a:fontRef idx="minor"/>
        </p:style>
        <p:txBody>
          <a:bodyPr lIns="90000" tIns="-44640" rIns="90000" bIns="-44640" anchor="t" anchorCtr="1">
            <a:noAutofit/>
          </a:bodyPr>
          <a:p>
            <a:endParaRPr lang="de-DE" sz="1800" b="0" u="none" strike="noStrike">
              <a:solidFill>
                <a:srgbClr val="000000"/>
              </a:solidFill>
              <a:effectLst/>
              <a:uFillTx/>
              <a:latin typeface="Arial"/>
            </a:endParaRPr>
          </a:p>
        </p:txBody>
      </p:sp>
      <p:sp>
        <p:nvSpPr>
          <p:cNvPr id="482" name="Text 5"/>
          <p:cNvSpPr/>
          <p:nvPr/>
        </p:nvSpPr>
        <p:spPr>
          <a:xfrm>
            <a:off x="567000" y="6519600"/>
            <a:ext cx="530316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4748B"/>
                </a:solidFill>
                <a:effectLst/>
                <a:uFillTx/>
                <a:latin typeface="Aptos"/>
                <a:ea typeface="Aptos"/>
              </a:rPr>
              <a:t>Teil 4 · Frontend</a:t>
            </a:r>
            <a:endParaRPr lang="de-DE" sz="750" b="0" u="none" strike="noStrike">
              <a:solidFill>
                <a:srgbClr val="000000"/>
              </a:solidFill>
              <a:effectLst/>
              <a:uFillTx/>
              <a:latin typeface="Arial"/>
            </a:endParaRPr>
          </a:p>
        </p:txBody>
      </p:sp>
      <p:sp>
        <p:nvSpPr>
          <p:cNvPr id="483" name="Text 6"/>
          <p:cNvSpPr/>
          <p:nvPr/>
        </p:nvSpPr>
        <p:spPr>
          <a:xfrm>
            <a:off x="11201400" y="6519600"/>
            <a:ext cx="45684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50" b="0" u="none" strike="noStrike">
                <a:solidFill>
                  <a:srgbClr val="64748B"/>
                </a:solidFill>
                <a:effectLst/>
                <a:uFillTx/>
                <a:latin typeface="Aptos"/>
                <a:ea typeface="Aptos"/>
              </a:rPr>
              <a:t>25</a:t>
            </a:r>
            <a:endParaRPr lang="de-DE" sz="750" b="0" u="none" strike="noStrike">
              <a:solidFill>
                <a:srgbClr val="000000"/>
              </a:solidFill>
              <a:effectLst/>
              <a:uFillTx/>
              <a:latin typeface="Arial"/>
            </a:endParaRPr>
          </a:p>
        </p:txBody>
      </p:sp>
      <p:sp>
        <p:nvSpPr>
          <p:cNvPr id="484" name="Shape 7"/>
          <p:cNvSpPr/>
          <p:nvPr/>
        </p:nvSpPr>
        <p:spPr>
          <a:xfrm>
            <a:off x="685800" y="1691640"/>
            <a:ext cx="1660680" cy="731160"/>
          </a:xfrm>
          <a:prstGeom prst="chevron">
            <a:avLst>
              <a:gd name="adj" fmla="val 50000"/>
            </a:avLst>
          </a:prstGeom>
          <a:solidFill>
            <a:srgbClr val="E11D48"/>
          </a:solidFill>
          <a:ln w="12700">
            <a:solidFill>
              <a:srgbClr val="E11D48"/>
            </a:solidFill>
            <a:round/>
          </a:ln>
        </p:spPr>
        <p:style>
          <a:lnRef idx="0"/>
          <a:fillRef idx="0"/>
          <a:effectRef idx="0"/>
          <a:fontRef idx="minor"/>
        </p:style>
        <p:txBody>
          <a:bodyPr lIns="90000" tIns="45000" rIns="90000" bIns="45000" anchor="t">
            <a:noAutofit/>
          </a:bodyPr>
          <a:p>
            <a:endParaRPr lang="de-DE" sz="1800" b="0" u="none" strike="noStrike">
              <a:solidFill>
                <a:srgbClr val="FFFFFF"/>
              </a:solidFill>
              <a:effectLst/>
              <a:uFillTx/>
              <a:latin typeface="Arial"/>
            </a:endParaRPr>
          </a:p>
        </p:txBody>
      </p:sp>
      <p:sp>
        <p:nvSpPr>
          <p:cNvPr id="485" name="Text 8"/>
          <p:cNvSpPr/>
          <p:nvPr/>
        </p:nvSpPr>
        <p:spPr>
          <a:xfrm>
            <a:off x="758880" y="1901880"/>
            <a:ext cx="1514520" cy="25560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20" b="1" u="none" strike="noStrike">
                <a:solidFill>
                  <a:srgbClr val="FFFFFF"/>
                </a:solidFill>
                <a:effectLst/>
                <a:uFillTx/>
                <a:latin typeface="Aptos"/>
              </a:rPr>
              <a:t>Start</a:t>
            </a:r>
            <a:endParaRPr lang="de-DE" sz="920" b="0" u="none" strike="noStrike">
              <a:solidFill>
                <a:srgbClr val="000000"/>
              </a:solidFill>
              <a:effectLst/>
              <a:uFillTx/>
              <a:latin typeface="Arial"/>
            </a:endParaRPr>
          </a:p>
        </p:txBody>
      </p:sp>
      <p:sp>
        <p:nvSpPr>
          <p:cNvPr id="486" name="Shape 9"/>
          <p:cNvSpPr/>
          <p:nvPr/>
        </p:nvSpPr>
        <p:spPr>
          <a:xfrm>
            <a:off x="2511720" y="1691640"/>
            <a:ext cx="1660680" cy="731160"/>
          </a:xfrm>
          <a:prstGeom prst="chevron">
            <a:avLst>
              <a:gd name="adj" fmla="val 50000"/>
            </a:avLst>
          </a:prstGeom>
          <a:solidFill>
            <a:srgbClr val="FFFFFF"/>
          </a:solidFill>
          <a:ln w="12700">
            <a:solidFill>
              <a:srgbClr val="E11D48"/>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487" name="Text 10"/>
          <p:cNvSpPr/>
          <p:nvPr/>
        </p:nvSpPr>
        <p:spPr>
          <a:xfrm>
            <a:off x="2584800" y="1901880"/>
            <a:ext cx="1514520" cy="25560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20" b="1" u="none" strike="noStrike">
                <a:solidFill>
                  <a:srgbClr val="0F172A"/>
                </a:solidFill>
                <a:effectLst/>
                <a:uFillTx/>
                <a:latin typeface="Aptos"/>
              </a:rPr>
              <a:t>Registrierung/Login</a:t>
            </a:r>
            <a:endParaRPr lang="de-DE" sz="920" b="0" u="none" strike="noStrike">
              <a:solidFill>
                <a:srgbClr val="000000"/>
              </a:solidFill>
              <a:effectLst/>
              <a:uFillTx/>
              <a:latin typeface="Arial"/>
            </a:endParaRPr>
          </a:p>
        </p:txBody>
      </p:sp>
      <p:sp>
        <p:nvSpPr>
          <p:cNvPr id="488" name="Shape 11"/>
          <p:cNvSpPr/>
          <p:nvPr/>
        </p:nvSpPr>
        <p:spPr>
          <a:xfrm>
            <a:off x="4337280" y="1691640"/>
            <a:ext cx="1660680" cy="731160"/>
          </a:xfrm>
          <a:prstGeom prst="chevron">
            <a:avLst>
              <a:gd name="adj" fmla="val 50000"/>
            </a:avLst>
          </a:prstGeom>
          <a:solidFill>
            <a:srgbClr val="FFFFFF"/>
          </a:solidFill>
          <a:ln w="12700">
            <a:solidFill>
              <a:srgbClr val="E11D48"/>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489" name="Text 12"/>
          <p:cNvSpPr/>
          <p:nvPr/>
        </p:nvSpPr>
        <p:spPr>
          <a:xfrm>
            <a:off x="4410360" y="1901880"/>
            <a:ext cx="1514520" cy="25560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20" b="1" u="none" strike="noStrike">
                <a:solidFill>
                  <a:srgbClr val="0F172A"/>
                </a:solidFill>
                <a:effectLst/>
                <a:uFillTx/>
                <a:latin typeface="Aptos"/>
              </a:rPr>
              <a:t>Dashboard</a:t>
            </a:r>
            <a:endParaRPr lang="de-DE" sz="920" b="0" u="none" strike="noStrike">
              <a:solidFill>
                <a:srgbClr val="000000"/>
              </a:solidFill>
              <a:effectLst/>
              <a:uFillTx/>
              <a:latin typeface="Arial"/>
            </a:endParaRPr>
          </a:p>
        </p:txBody>
      </p:sp>
      <p:sp>
        <p:nvSpPr>
          <p:cNvPr id="490" name="Shape 13"/>
          <p:cNvSpPr/>
          <p:nvPr/>
        </p:nvSpPr>
        <p:spPr>
          <a:xfrm>
            <a:off x="6163200" y="1691640"/>
            <a:ext cx="1660680" cy="731160"/>
          </a:xfrm>
          <a:prstGeom prst="chevron">
            <a:avLst>
              <a:gd name="adj" fmla="val 50000"/>
            </a:avLst>
          </a:prstGeom>
          <a:solidFill>
            <a:srgbClr val="FFFFFF"/>
          </a:solidFill>
          <a:ln w="12700">
            <a:solidFill>
              <a:srgbClr val="E11D48"/>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491" name="Text 14"/>
          <p:cNvSpPr/>
          <p:nvPr/>
        </p:nvSpPr>
        <p:spPr>
          <a:xfrm>
            <a:off x="6236280" y="1901880"/>
            <a:ext cx="1514520" cy="25560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20" b="1" u="none" strike="noStrike">
                <a:solidFill>
                  <a:srgbClr val="0F172A"/>
                </a:solidFill>
                <a:effectLst/>
                <a:uFillTx/>
                <a:latin typeface="Aptos"/>
              </a:rPr>
              <a:t>Finanzprofil</a:t>
            </a:r>
            <a:endParaRPr lang="de-DE" sz="920" b="0" u="none" strike="noStrike">
              <a:solidFill>
                <a:srgbClr val="000000"/>
              </a:solidFill>
              <a:effectLst/>
              <a:uFillTx/>
              <a:latin typeface="Arial"/>
            </a:endParaRPr>
          </a:p>
        </p:txBody>
      </p:sp>
      <p:sp>
        <p:nvSpPr>
          <p:cNvPr id="492" name="Shape 15"/>
          <p:cNvSpPr/>
          <p:nvPr/>
        </p:nvSpPr>
        <p:spPr>
          <a:xfrm>
            <a:off x="7988760" y="1691640"/>
            <a:ext cx="1660680" cy="731160"/>
          </a:xfrm>
          <a:prstGeom prst="chevron">
            <a:avLst>
              <a:gd name="adj" fmla="val 50000"/>
            </a:avLst>
          </a:prstGeom>
          <a:solidFill>
            <a:srgbClr val="FFFFFF"/>
          </a:solidFill>
          <a:ln w="12700">
            <a:solidFill>
              <a:srgbClr val="E11D48"/>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493" name="Text 16"/>
          <p:cNvSpPr/>
          <p:nvPr/>
        </p:nvSpPr>
        <p:spPr>
          <a:xfrm>
            <a:off x="8061840" y="1901880"/>
            <a:ext cx="1514520" cy="25560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20" b="1" u="none" strike="noStrike">
                <a:solidFill>
                  <a:srgbClr val="0F172A"/>
                </a:solidFill>
                <a:effectLst/>
                <a:uFillTx/>
                <a:latin typeface="Aptos"/>
              </a:rPr>
              <a:t>Szenarien/Ziele</a:t>
            </a:r>
            <a:endParaRPr lang="de-DE" sz="920" b="0" u="none" strike="noStrike">
              <a:solidFill>
                <a:srgbClr val="000000"/>
              </a:solidFill>
              <a:effectLst/>
              <a:uFillTx/>
              <a:latin typeface="Arial"/>
            </a:endParaRPr>
          </a:p>
        </p:txBody>
      </p:sp>
      <p:sp>
        <p:nvSpPr>
          <p:cNvPr id="494" name="Shape 17"/>
          <p:cNvSpPr/>
          <p:nvPr/>
        </p:nvSpPr>
        <p:spPr>
          <a:xfrm>
            <a:off x="9814680" y="1691640"/>
            <a:ext cx="1660680" cy="731160"/>
          </a:xfrm>
          <a:prstGeom prst="chevron">
            <a:avLst>
              <a:gd name="adj" fmla="val 50000"/>
            </a:avLst>
          </a:prstGeom>
          <a:solidFill>
            <a:srgbClr val="FFFFFF"/>
          </a:solidFill>
          <a:ln w="12700">
            <a:solidFill>
              <a:srgbClr val="E11D48"/>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495" name="Text 18"/>
          <p:cNvSpPr/>
          <p:nvPr/>
        </p:nvSpPr>
        <p:spPr>
          <a:xfrm>
            <a:off x="9887760" y="1901880"/>
            <a:ext cx="1514520" cy="25560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20" b="1" u="none" strike="noStrike">
                <a:solidFill>
                  <a:srgbClr val="0F172A"/>
                </a:solidFill>
                <a:effectLst/>
                <a:uFillTx/>
                <a:latin typeface="Aptos"/>
              </a:rPr>
              <a:t>FAQ</a:t>
            </a:r>
            <a:endParaRPr lang="de-DE" sz="920" b="0" u="none" strike="noStrike">
              <a:solidFill>
                <a:srgbClr val="000000"/>
              </a:solidFill>
              <a:effectLst/>
              <a:uFillTx/>
              <a:latin typeface="Arial"/>
            </a:endParaRPr>
          </a:p>
        </p:txBody>
      </p:sp>
      <p:sp>
        <p:nvSpPr>
          <p:cNvPr id="496" name="Shape 19"/>
          <p:cNvSpPr/>
          <p:nvPr/>
        </p:nvSpPr>
        <p:spPr>
          <a:xfrm>
            <a:off x="914400" y="3154680"/>
            <a:ext cx="3382920" cy="1371240"/>
          </a:xfrm>
          <a:prstGeom prst="roundRect">
            <a:avLst>
              <a:gd name="adj" fmla="val 5333"/>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497" name="Text 20"/>
          <p:cNvSpPr/>
          <p:nvPr/>
        </p:nvSpPr>
        <p:spPr>
          <a:xfrm>
            <a:off x="1078920" y="3319200"/>
            <a:ext cx="41112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2563EB"/>
                </a:solidFill>
                <a:effectLst/>
                <a:uFillTx/>
                <a:latin typeface="Aptos"/>
              </a:rPr>
              <a:t>🌐</a:t>
            </a:r>
            <a:endParaRPr lang="de-DE" sz="1800" b="0" u="none" strike="noStrike">
              <a:solidFill>
                <a:srgbClr val="000000"/>
              </a:solidFill>
              <a:effectLst/>
              <a:uFillTx/>
              <a:latin typeface="Arial"/>
            </a:endParaRPr>
          </a:p>
        </p:txBody>
      </p:sp>
      <p:sp>
        <p:nvSpPr>
          <p:cNvPr id="498" name="Text 21"/>
          <p:cNvSpPr/>
          <p:nvPr/>
        </p:nvSpPr>
        <p:spPr>
          <a:xfrm>
            <a:off x="1572840" y="3337560"/>
            <a:ext cx="25599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Öffentliche Bereiche</a:t>
            </a:r>
            <a:endParaRPr lang="de-DE" sz="1350" b="0" u="none" strike="noStrike">
              <a:solidFill>
                <a:srgbClr val="000000"/>
              </a:solidFill>
              <a:effectLst/>
              <a:uFillTx/>
              <a:latin typeface="Arial"/>
            </a:endParaRPr>
          </a:p>
        </p:txBody>
      </p:sp>
      <p:sp>
        <p:nvSpPr>
          <p:cNvPr id="499" name="Text 22"/>
          <p:cNvSpPr/>
          <p:nvPr/>
        </p:nvSpPr>
        <p:spPr>
          <a:xfrm>
            <a:off x="1115640" y="3813120"/>
            <a:ext cx="2980440" cy="54828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60" b="0" u="none" strike="noStrike">
                <a:solidFill>
                  <a:srgbClr val="334155"/>
                </a:solidFill>
                <a:effectLst/>
                <a:uFillTx/>
                <a:latin typeface="Aptos"/>
              </a:rPr>
              <a:t>Start, Registrierung, Login, Passwort vergessen und FAQ.</a:t>
            </a:r>
            <a:endParaRPr lang="de-DE" sz="960" b="0" u="none" strike="noStrike">
              <a:solidFill>
                <a:srgbClr val="000000"/>
              </a:solidFill>
              <a:effectLst/>
              <a:uFillTx/>
              <a:latin typeface="Arial"/>
            </a:endParaRPr>
          </a:p>
        </p:txBody>
      </p:sp>
      <p:sp>
        <p:nvSpPr>
          <p:cNvPr id="500" name="Shape 23"/>
          <p:cNvSpPr/>
          <p:nvPr/>
        </p:nvSpPr>
        <p:spPr>
          <a:xfrm>
            <a:off x="4526280" y="3154680"/>
            <a:ext cx="3382920" cy="1371240"/>
          </a:xfrm>
          <a:prstGeom prst="roundRect">
            <a:avLst>
              <a:gd name="adj" fmla="val 5333"/>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501" name="Text 24"/>
          <p:cNvSpPr/>
          <p:nvPr/>
        </p:nvSpPr>
        <p:spPr>
          <a:xfrm>
            <a:off x="4690800" y="3319200"/>
            <a:ext cx="41112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10B981"/>
                </a:solidFill>
                <a:effectLst/>
                <a:uFillTx/>
                <a:latin typeface="Aptos"/>
              </a:rPr>
              <a:t>🔒</a:t>
            </a:r>
            <a:endParaRPr lang="de-DE" sz="1800" b="0" u="none" strike="noStrike">
              <a:solidFill>
                <a:srgbClr val="000000"/>
              </a:solidFill>
              <a:effectLst/>
              <a:uFillTx/>
              <a:latin typeface="Arial"/>
            </a:endParaRPr>
          </a:p>
        </p:txBody>
      </p:sp>
      <p:sp>
        <p:nvSpPr>
          <p:cNvPr id="502" name="Text 25"/>
          <p:cNvSpPr/>
          <p:nvPr/>
        </p:nvSpPr>
        <p:spPr>
          <a:xfrm>
            <a:off x="5184720" y="3337560"/>
            <a:ext cx="25599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Geschützte Bereiche</a:t>
            </a:r>
            <a:endParaRPr lang="de-DE" sz="1350" b="0" u="none" strike="noStrike">
              <a:solidFill>
                <a:srgbClr val="000000"/>
              </a:solidFill>
              <a:effectLst/>
              <a:uFillTx/>
              <a:latin typeface="Arial"/>
            </a:endParaRPr>
          </a:p>
        </p:txBody>
      </p:sp>
      <p:sp>
        <p:nvSpPr>
          <p:cNvPr id="503" name="Text 26"/>
          <p:cNvSpPr/>
          <p:nvPr/>
        </p:nvSpPr>
        <p:spPr>
          <a:xfrm>
            <a:off x="4727520" y="3813120"/>
            <a:ext cx="2980440" cy="54828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60" b="0" u="none" strike="noStrike">
                <a:solidFill>
                  <a:srgbClr val="334155"/>
                </a:solidFill>
                <a:effectLst/>
                <a:uFillTx/>
                <a:latin typeface="Aptos"/>
              </a:rPr>
              <a:t>Finanzprofil, Ziele, Prognosen und nutzerspezifische Auswertungen.</a:t>
            </a:r>
            <a:endParaRPr lang="de-DE" sz="960" b="0" u="none" strike="noStrike">
              <a:solidFill>
                <a:srgbClr val="000000"/>
              </a:solidFill>
              <a:effectLst/>
              <a:uFillTx/>
              <a:latin typeface="Arial"/>
            </a:endParaRPr>
          </a:p>
        </p:txBody>
      </p:sp>
      <p:sp>
        <p:nvSpPr>
          <p:cNvPr id="504" name="Shape 27"/>
          <p:cNvSpPr/>
          <p:nvPr/>
        </p:nvSpPr>
        <p:spPr>
          <a:xfrm>
            <a:off x="8138160" y="3154680"/>
            <a:ext cx="2925720" cy="1371240"/>
          </a:xfrm>
          <a:prstGeom prst="roundRect">
            <a:avLst>
              <a:gd name="adj" fmla="val 5333"/>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505" name="Text 28"/>
          <p:cNvSpPr/>
          <p:nvPr/>
        </p:nvSpPr>
        <p:spPr>
          <a:xfrm>
            <a:off x="8302680" y="3319200"/>
            <a:ext cx="41112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F59E0B"/>
                </a:solidFill>
                <a:effectLst/>
                <a:uFillTx/>
                <a:latin typeface="Aptos"/>
              </a:rPr>
              <a:t>↕</a:t>
            </a:r>
            <a:endParaRPr lang="de-DE" sz="1800" b="0" u="none" strike="noStrike">
              <a:solidFill>
                <a:srgbClr val="000000"/>
              </a:solidFill>
              <a:effectLst/>
              <a:uFillTx/>
              <a:latin typeface="Arial"/>
            </a:endParaRPr>
          </a:p>
        </p:txBody>
      </p:sp>
      <p:sp>
        <p:nvSpPr>
          <p:cNvPr id="506" name="Text 29"/>
          <p:cNvSpPr/>
          <p:nvPr/>
        </p:nvSpPr>
        <p:spPr>
          <a:xfrm>
            <a:off x="8796600" y="3337560"/>
            <a:ext cx="21027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Statuswechsel</a:t>
            </a:r>
            <a:endParaRPr lang="de-DE" sz="1350" b="0" u="none" strike="noStrike">
              <a:solidFill>
                <a:srgbClr val="000000"/>
              </a:solidFill>
              <a:effectLst/>
              <a:uFillTx/>
              <a:latin typeface="Arial"/>
            </a:endParaRPr>
          </a:p>
        </p:txBody>
      </p:sp>
      <p:sp>
        <p:nvSpPr>
          <p:cNvPr id="507" name="Text 30"/>
          <p:cNvSpPr/>
          <p:nvPr/>
        </p:nvSpPr>
        <p:spPr>
          <a:xfrm>
            <a:off x="8339400" y="3813120"/>
            <a:ext cx="2523240" cy="54828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60" b="0" u="none" strike="noStrike">
                <a:solidFill>
                  <a:srgbClr val="334155"/>
                </a:solidFill>
                <a:effectLst/>
                <a:uFillTx/>
                <a:latin typeface="Aptos"/>
              </a:rPr>
              <a:t>Login und Logout verändern sichtbar die verfügbaren Funktionen.</a:t>
            </a:r>
            <a:endParaRPr lang="de-DE" sz="96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508" name="Shape 0"/>
          <p:cNvSpPr/>
          <p:nvPr/>
        </p:nvSpPr>
        <p:spPr>
          <a:xfrm>
            <a:off x="0" y="0"/>
            <a:ext cx="12191400" cy="6857640"/>
          </a:xfrm>
          <a:prstGeom prst="rect">
            <a:avLst/>
          </a:prstGeom>
          <a:solidFill>
            <a:srgbClr val="F8FAFC"/>
          </a:solidFill>
          <a:ln w="12700">
            <a:solidFill>
              <a:srgbClr val="F8FAFC">
                <a:alpha val="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509" name="Shape 1"/>
          <p:cNvSpPr/>
          <p:nvPr/>
        </p:nvSpPr>
        <p:spPr>
          <a:xfrm>
            <a:off x="0" y="0"/>
            <a:ext cx="109440" cy="6857640"/>
          </a:xfrm>
          <a:prstGeom prst="rect">
            <a:avLst/>
          </a:prstGeom>
          <a:solidFill>
            <a:srgbClr val="10B981"/>
          </a:solidFill>
          <a:ln w="12700">
            <a:solidFill>
              <a:srgbClr val="10B981"/>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510" name="Text 2"/>
          <p:cNvSpPr/>
          <p:nvPr/>
        </p:nvSpPr>
        <p:spPr>
          <a:xfrm>
            <a:off x="594360" y="384120"/>
            <a:ext cx="9052200" cy="438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0F172A"/>
                </a:solidFill>
                <a:effectLst/>
                <a:uFillTx/>
                <a:latin typeface="Aptos Display"/>
                <a:ea typeface="Aptos Display"/>
              </a:rPr>
              <a:t>Finanzprofil im Frontend</a:t>
            </a:r>
            <a:endParaRPr lang="de-DE" sz="2400" b="0" u="none" strike="noStrike">
              <a:solidFill>
                <a:srgbClr val="000000"/>
              </a:solidFill>
              <a:effectLst/>
              <a:uFillTx/>
              <a:latin typeface="Arial"/>
            </a:endParaRPr>
          </a:p>
        </p:txBody>
      </p:sp>
      <p:sp>
        <p:nvSpPr>
          <p:cNvPr id="511" name="Text 3"/>
          <p:cNvSpPr/>
          <p:nvPr/>
        </p:nvSpPr>
        <p:spPr>
          <a:xfrm>
            <a:off x="612720" y="850320"/>
            <a:ext cx="96008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4748B"/>
                </a:solidFill>
                <a:effectLst/>
                <a:uFillTx/>
                <a:latin typeface="Aptos"/>
              </a:rPr>
              <a:t>Eingabemaske als Verbindung von Nutzer und Datenbank</a:t>
            </a:r>
            <a:endParaRPr lang="de-DE" sz="950" b="0" u="none" strike="noStrike">
              <a:solidFill>
                <a:srgbClr val="000000"/>
              </a:solidFill>
              <a:effectLst/>
              <a:uFillTx/>
              <a:latin typeface="Arial"/>
            </a:endParaRPr>
          </a:p>
        </p:txBody>
      </p:sp>
      <p:sp>
        <p:nvSpPr>
          <p:cNvPr id="512" name="Shape 4"/>
          <p:cNvSpPr/>
          <p:nvPr/>
        </p:nvSpPr>
        <p:spPr>
          <a:xfrm>
            <a:off x="502920" y="6473880"/>
            <a:ext cx="11201400" cy="360"/>
          </a:xfrm>
          <a:prstGeom prst="line">
            <a:avLst/>
          </a:prstGeom>
          <a:ln w="7620">
            <a:solidFill>
              <a:srgbClr val="CBD5E1">
                <a:alpha val="70000"/>
              </a:srgbClr>
            </a:solidFill>
            <a:round/>
          </a:ln>
        </p:spPr>
        <p:style>
          <a:lnRef idx="0"/>
          <a:fillRef idx="0"/>
          <a:effectRef idx="0"/>
          <a:fontRef idx="minor"/>
        </p:style>
        <p:txBody>
          <a:bodyPr lIns="90000" tIns="-44640" rIns="90000" bIns="-44640" anchor="t" anchorCtr="1">
            <a:noAutofit/>
          </a:bodyPr>
          <a:p>
            <a:endParaRPr lang="de-DE" sz="1800" b="0" u="none" strike="noStrike">
              <a:solidFill>
                <a:srgbClr val="000000"/>
              </a:solidFill>
              <a:effectLst/>
              <a:uFillTx/>
              <a:latin typeface="Arial"/>
            </a:endParaRPr>
          </a:p>
        </p:txBody>
      </p:sp>
      <p:sp>
        <p:nvSpPr>
          <p:cNvPr id="513" name="Text 5"/>
          <p:cNvSpPr/>
          <p:nvPr/>
        </p:nvSpPr>
        <p:spPr>
          <a:xfrm>
            <a:off x="567000" y="6519600"/>
            <a:ext cx="530316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4748B"/>
                </a:solidFill>
                <a:effectLst/>
                <a:uFillTx/>
                <a:latin typeface="Aptos"/>
                <a:ea typeface="Aptos"/>
              </a:rPr>
              <a:t>Teil 4 · Frontend</a:t>
            </a:r>
            <a:endParaRPr lang="de-DE" sz="750" b="0" u="none" strike="noStrike">
              <a:solidFill>
                <a:srgbClr val="000000"/>
              </a:solidFill>
              <a:effectLst/>
              <a:uFillTx/>
              <a:latin typeface="Arial"/>
            </a:endParaRPr>
          </a:p>
        </p:txBody>
      </p:sp>
      <p:sp>
        <p:nvSpPr>
          <p:cNvPr id="514" name="Text 6"/>
          <p:cNvSpPr/>
          <p:nvPr/>
        </p:nvSpPr>
        <p:spPr>
          <a:xfrm>
            <a:off x="11201400" y="6519600"/>
            <a:ext cx="45684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50" b="0" u="none" strike="noStrike">
                <a:solidFill>
                  <a:srgbClr val="64748B"/>
                </a:solidFill>
                <a:effectLst/>
                <a:uFillTx/>
                <a:latin typeface="Aptos"/>
                <a:ea typeface="Aptos"/>
              </a:rPr>
              <a:t>26</a:t>
            </a:r>
            <a:endParaRPr lang="de-DE" sz="750" b="0" u="none" strike="noStrike">
              <a:solidFill>
                <a:srgbClr val="000000"/>
              </a:solidFill>
              <a:effectLst/>
              <a:uFillTx/>
              <a:latin typeface="Arial"/>
            </a:endParaRPr>
          </a:p>
        </p:txBody>
      </p:sp>
      <p:sp>
        <p:nvSpPr>
          <p:cNvPr id="515" name="Shape 7"/>
          <p:cNvSpPr/>
          <p:nvPr/>
        </p:nvSpPr>
        <p:spPr>
          <a:xfrm>
            <a:off x="731520" y="1371600"/>
            <a:ext cx="5120280" cy="4388760"/>
          </a:xfrm>
          <a:prstGeom prst="roundRect">
            <a:avLst>
              <a:gd name="adj" fmla="val 1667"/>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516" name="Text 8"/>
          <p:cNvSpPr/>
          <p:nvPr/>
        </p:nvSpPr>
        <p:spPr>
          <a:xfrm>
            <a:off x="932760" y="1554480"/>
            <a:ext cx="47361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Eingaben</a:t>
            </a:r>
            <a:endParaRPr lang="de-DE" sz="1350" b="0" u="none" strike="noStrike">
              <a:solidFill>
                <a:srgbClr val="000000"/>
              </a:solidFill>
              <a:effectLst/>
              <a:uFillTx/>
              <a:latin typeface="Arial"/>
            </a:endParaRPr>
          </a:p>
        </p:txBody>
      </p:sp>
      <p:sp>
        <p:nvSpPr>
          <p:cNvPr id="517" name="Text 9"/>
          <p:cNvSpPr/>
          <p:nvPr/>
        </p:nvSpPr>
        <p:spPr>
          <a:xfrm>
            <a:off x="987480" y="1993320"/>
            <a:ext cx="4617360" cy="342864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pPr>
            <a:r>
              <a:rPr lang="en-US" sz="1200" b="0" u="none" strike="noStrike">
                <a:solidFill>
                  <a:srgbClr val="334155"/>
                </a:solidFill>
                <a:effectLst/>
                <a:uFillTx/>
                <a:latin typeface="Aptos"/>
              </a:rPr>
              <a:t>Einnahmen und Ausgaben</a:t>
            </a:r>
            <a:endParaRPr lang="de-DE" sz="1200" b="0" u="none" strike="noStrike">
              <a:solidFill>
                <a:srgbClr val="000000"/>
              </a:solidFill>
              <a:effectLst/>
              <a:uFillTx/>
              <a:latin typeface="Arial"/>
            </a:endParaRPr>
          </a:p>
          <a:p>
            <a:pPr defTabSz="914400">
              <a:lnSpc>
                <a:spcPct val="100000"/>
              </a:lnSpc>
            </a:pPr>
            <a:r>
              <a:rPr lang="en-US" sz="1200" b="0" u="none" strike="noStrike">
                <a:solidFill>
                  <a:srgbClr val="334155"/>
                </a:solidFill>
                <a:effectLst/>
                <a:uFillTx/>
                <a:latin typeface="Aptos"/>
              </a:rPr>
              <a:t>Rücklagen und Vermögen</a:t>
            </a:r>
            <a:endParaRPr lang="de-DE" sz="1200" b="0" u="none" strike="noStrike">
              <a:solidFill>
                <a:srgbClr val="000000"/>
              </a:solidFill>
              <a:effectLst/>
              <a:uFillTx/>
              <a:latin typeface="Arial"/>
            </a:endParaRPr>
          </a:p>
          <a:p>
            <a:pPr defTabSz="914400">
              <a:lnSpc>
                <a:spcPct val="100000"/>
              </a:lnSpc>
            </a:pPr>
            <a:r>
              <a:rPr lang="en-US" sz="1200" b="0" u="none" strike="noStrike">
                <a:solidFill>
                  <a:srgbClr val="334155"/>
                </a:solidFill>
                <a:effectLst/>
                <a:uFillTx/>
                <a:latin typeface="Aptos"/>
              </a:rPr>
              <a:t>Verbindlichkeiten</a:t>
            </a:r>
            <a:endParaRPr lang="de-DE" sz="1200" b="0" u="none" strike="noStrike">
              <a:solidFill>
                <a:srgbClr val="000000"/>
              </a:solidFill>
              <a:effectLst/>
              <a:uFillTx/>
              <a:latin typeface="Arial"/>
            </a:endParaRPr>
          </a:p>
          <a:p>
            <a:pPr defTabSz="914400">
              <a:lnSpc>
                <a:spcPct val="100000"/>
              </a:lnSpc>
            </a:pPr>
            <a:r>
              <a:rPr lang="en-US" sz="1200" b="0" u="none" strike="noStrike">
                <a:solidFill>
                  <a:srgbClr val="334155"/>
                </a:solidFill>
                <a:effectLst/>
                <a:uFillTx/>
                <a:latin typeface="Aptos"/>
              </a:rPr>
              <a:t>Ziele und Planwerte</a:t>
            </a:r>
            <a:endParaRPr lang="de-DE" sz="1200" b="0" u="none" strike="noStrike">
              <a:solidFill>
                <a:srgbClr val="000000"/>
              </a:solidFill>
              <a:effectLst/>
              <a:uFillTx/>
              <a:latin typeface="Arial"/>
            </a:endParaRPr>
          </a:p>
        </p:txBody>
      </p:sp>
      <p:sp>
        <p:nvSpPr>
          <p:cNvPr id="518" name="Shape 10"/>
          <p:cNvSpPr/>
          <p:nvPr/>
        </p:nvSpPr>
        <p:spPr>
          <a:xfrm>
            <a:off x="6309360" y="1371600"/>
            <a:ext cx="5120280" cy="4388760"/>
          </a:xfrm>
          <a:prstGeom prst="roundRect">
            <a:avLst>
              <a:gd name="adj" fmla="val 1667"/>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519" name="Text 11"/>
          <p:cNvSpPr/>
          <p:nvPr/>
        </p:nvSpPr>
        <p:spPr>
          <a:xfrm>
            <a:off x="6510600" y="1554480"/>
            <a:ext cx="47361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Frontend-Aufgaben</a:t>
            </a:r>
            <a:endParaRPr lang="de-DE" sz="1350" b="0" u="none" strike="noStrike">
              <a:solidFill>
                <a:srgbClr val="000000"/>
              </a:solidFill>
              <a:effectLst/>
              <a:uFillTx/>
              <a:latin typeface="Arial"/>
            </a:endParaRPr>
          </a:p>
        </p:txBody>
      </p:sp>
      <p:sp>
        <p:nvSpPr>
          <p:cNvPr id="520" name="Text 12"/>
          <p:cNvSpPr/>
          <p:nvPr/>
        </p:nvSpPr>
        <p:spPr>
          <a:xfrm>
            <a:off x="6565320" y="1993320"/>
            <a:ext cx="4617360" cy="342864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pPr>
            <a:r>
              <a:rPr lang="en-US" sz="1200" b="0" u="none" strike="noStrike">
                <a:solidFill>
                  <a:srgbClr val="334155"/>
                </a:solidFill>
                <a:effectLst/>
                <a:uFillTx/>
                <a:latin typeface="Aptos"/>
              </a:rPr>
              <a:t>lokaler Formularzustand</a:t>
            </a:r>
            <a:endParaRPr lang="de-DE" sz="1200" b="0" u="none" strike="noStrike">
              <a:solidFill>
                <a:srgbClr val="000000"/>
              </a:solidFill>
              <a:effectLst/>
              <a:uFillTx/>
              <a:latin typeface="Arial"/>
            </a:endParaRPr>
          </a:p>
          <a:p>
            <a:pPr defTabSz="914400">
              <a:lnSpc>
                <a:spcPct val="100000"/>
              </a:lnSpc>
            </a:pPr>
            <a:r>
              <a:rPr lang="en-US" sz="1200" b="0" u="none" strike="noStrike">
                <a:solidFill>
                  <a:srgbClr val="334155"/>
                </a:solidFill>
                <a:effectLst/>
                <a:uFillTx/>
                <a:latin typeface="Aptos"/>
              </a:rPr>
              <a:t>Plausibilitätsfeedback</a:t>
            </a:r>
            <a:endParaRPr lang="de-DE" sz="1200" b="0" u="none" strike="noStrike">
              <a:solidFill>
                <a:srgbClr val="000000"/>
              </a:solidFill>
              <a:effectLst/>
              <a:uFillTx/>
              <a:latin typeface="Arial"/>
            </a:endParaRPr>
          </a:p>
          <a:p>
            <a:pPr defTabSz="914400">
              <a:lnSpc>
                <a:spcPct val="100000"/>
              </a:lnSpc>
            </a:pPr>
            <a:r>
              <a:rPr lang="en-US" sz="1200" b="0" u="none" strike="noStrike">
                <a:solidFill>
                  <a:srgbClr val="334155"/>
                </a:solidFill>
                <a:effectLst/>
                <a:uFillTx/>
                <a:latin typeface="Aptos"/>
              </a:rPr>
              <a:t>API-Aufruf an Backend</a:t>
            </a:r>
            <a:endParaRPr lang="de-DE" sz="1200" b="0" u="none" strike="noStrike">
              <a:solidFill>
                <a:srgbClr val="000000"/>
              </a:solidFill>
              <a:effectLst/>
              <a:uFillTx/>
              <a:latin typeface="Arial"/>
            </a:endParaRPr>
          </a:p>
          <a:p>
            <a:pPr defTabSz="914400">
              <a:lnSpc>
                <a:spcPct val="100000"/>
              </a:lnSpc>
            </a:pPr>
            <a:r>
              <a:rPr lang="en-US" sz="1200" b="0" u="none" strike="noStrike">
                <a:solidFill>
                  <a:srgbClr val="334155"/>
                </a:solidFill>
                <a:effectLst/>
                <a:uFillTx/>
                <a:latin typeface="Aptos"/>
              </a:rPr>
              <a:t>Antwort verarbeiten und anzeigen</a:t>
            </a:r>
            <a:endParaRPr lang="de-DE"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521" name="Shape 0"/>
          <p:cNvSpPr/>
          <p:nvPr/>
        </p:nvSpPr>
        <p:spPr>
          <a:xfrm>
            <a:off x="0" y="0"/>
            <a:ext cx="12191400" cy="6857640"/>
          </a:xfrm>
          <a:prstGeom prst="rect">
            <a:avLst/>
          </a:prstGeom>
          <a:solidFill>
            <a:srgbClr val="F8FAFC"/>
          </a:solidFill>
          <a:ln w="12700">
            <a:solidFill>
              <a:srgbClr val="F8FAFC">
                <a:alpha val="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522" name="Shape 1"/>
          <p:cNvSpPr/>
          <p:nvPr/>
        </p:nvSpPr>
        <p:spPr>
          <a:xfrm>
            <a:off x="0" y="0"/>
            <a:ext cx="109440" cy="6857640"/>
          </a:xfrm>
          <a:prstGeom prst="rect">
            <a:avLst/>
          </a:prstGeom>
          <a:solidFill>
            <a:srgbClr val="10B981"/>
          </a:solidFill>
          <a:ln w="12700">
            <a:solidFill>
              <a:srgbClr val="10B981"/>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523" name="Text 2"/>
          <p:cNvSpPr/>
          <p:nvPr/>
        </p:nvSpPr>
        <p:spPr>
          <a:xfrm>
            <a:off x="594360" y="384120"/>
            <a:ext cx="9052200" cy="438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0F172A"/>
                </a:solidFill>
                <a:effectLst/>
                <a:uFillTx/>
                <a:latin typeface="Aptos Display"/>
                <a:ea typeface="Aptos Display"/>
              </a:rPr>
              <a:t>FAQ und Hilfebereiche</a:t>
            </a:r>
            <a:endParaRPr lang="de-DE" sz="2400" b="0" u="none" strike="noStrike">
              <a:solidFill>
                <a:srgbClr val="000000"/>
              </a:solidFill>
              <a:effectLst/>
              <a:uFillTx/>
              <a:latin typeface="Arial"/>
            </a:endParaRPr>
          </a:p>
        </p:txBody>
      </p:sp>
      <p:sp>
        <p:nvSpPr>
          <p:cNvPr id="524" name="Text 3"/>
          <p:cNvSpPr/>
          <p:nvPr/>
        </p:nvSpPr>
        <p:spPr>
          <a:xfrm>
            <a:off x="612720" y="850320"/>
            <a:ext cx="96008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4748B"/>
                </a:solidFill>
                <a:effectLst/>
                <a:uFillTx/>
                <a:latin typeface="Aptos"/>
              </a:rPr>
              <a:t>Orientierung direkt innerhalb der Anwendung</a:t>
            </a:r>
            <a:endParaRPr lang="de-DE" sz="950" b="0" u="none" strike="noStrike">
              <a:solidFill>
                <a:srgbClr val="000000"/>
              </a:solidFill>
              <a:effectLst/>
              <a:uFillTx/>
              <a:latin typeface="Arial"/>
            </a:endParaRPr>
          </a:p>
        </p:txBody>
      </p:sp>
      <p:sp>
        <p:nvSpPr>
          <p:cNvPr id="525" name="Shape 4"/>
          <p:cNvSpPr/>
          <p:nvPr/>
        </p:nvSpPr>
        <p:spPr>
          <a:xfrm>
            <a:off x="502920" y="6473880"/>
            <a:ext cx="11201400" cy="360"/>
          </a:xfrm>
          <a:prstGeom prst="line">
            <a:avLst/>
          </a:prstGeom>
          <a:ln w="7620">
            <a:solidFill>
              <a:srgbClr val="CBD5E1">
                <a:alpha val="70000"/>
              </a:srgbClr>
            </a:solidFill>
            <a:round/>
          </a:ln>
        </p:spPr>
        <p:style>
          <a:lnRef idx="0"/>
          <a:fillRef idx="0"/>
          <a:effectRef idx="0"/>
          <a:fontRef idx="minor"/>
        </p:style>
        <p:txBody>
          <a:bodyPr lIns="90000" tIns="-44640" rIns="90000" bIns="-44640" anchor="t" anchorCtr="1">
            <a:noAutofit/>
          </a:bodyPr>
          <a:p>
            <a:endParaRPr lang="de-DE" sz="1800" b="0" u="none" strike="noStrike">
              <a:solidFill>
                <a:srgbClr val="000000"/>
              </a:solidFill>
              <a:effectLst/>
              <a:uFillTx/>
              <a:latin typeface="Arial"/>
            </a:endParaRPr>
          </a:p>
        </p:txBody>
      </p:sp>
      <p:sp>
        <p:nvSpPr>
          <p:cNvPr id="526" name="Text 5"/>
          <p:cNvSpPr/>
          <p:nvPr/>
        </p:nvSpPr>
        <p:spPr>
          <a:xfrm>
            <a:off x="567000" y="6519600"/>
            <a:ext cx="530316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4748B"/>
                </a:solidFill>
                <a:effectLst/>
                <a:uFillTx/>
                <a:latin typeface="Aptos"/>
                <a:ea typeface="Aptos"/>
              </a:rPr>
              <a:t>Teil 4 · Frontend</a:t>
            </a:r>
            <a:endParaRPr lang="de-DE" sz="750" b="0" u="none" strike="noStrike">
              <a:solidFill>
                <a:srgbClr val="000000"/>
              </a:solidFill>
              <a:effectLst/>
              <a:uFillTx/>
              <a:latin typeface="Arial"/>
            </a:endParaRPr>
          </a:p>
        </p:txBody>
      </p:sp>
      <p:sp>
        <p:nvSpPr>
          <p:cNvPr id="527" name="Text 6"/>
          <p:cNvSpPr/>
          <p:nvPr/>
        </p:nvSpPr>
        <p:spPr>
          <a:xfrm>
            <a:off x="11201400" y="6519600"/>
            <a:ext cx="45684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50" b="0" u="none" strike="noStrike">
                <a:solidFill>
                  <a:srgbClr val="64748B"/>
                </a:solidFill>
                <a:effectLst/>
                <a:uFillTx/>
                <a:latin typeface="Aptos"/>
                <a:ea typeface="Aptos"/>
              </a:rPr>
              <a:t>27</a:t>
            </a:r>
            <a:endParaRPr lang="de-DE" sz="750" b="0" u="none" strike="noStrike">
              <a:solidFill>
                <a:srgbClr val="000000"/>
              </a:solidFill>
              <a:effectLst/>
              <a:uFillTx/>
              <a:latin typeface="Arial"/>
            </a:endParaRPr>
          </a:p>
        </p:txBody>
      </p:sp>
      <p:sp>
        <p:nvSpPr>
          <p:cNvPr id="528" name="Shape 7"/>
          <p:cNvSpPr/>
          <p:nvPr/>
        </p:nvSpPr>
        <p:spPr>
          <a:xfrm>
            <a:off x="868680" y="1417320"/>
            <a:ext cx="3657240" cy="3017160"/>
          </a:xfrm>
          <a:prstGeom prst="roundRect">
            <a:avLst>
              <a:gd name="adj" fmla="val 2424"/>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529" name="Text 8"/>
          <p:cNvSpPr/>
          <p:nvPr/>
        </p:nvSpPr>
        <p:spPr>
          <a:xfrm>
            <a:off x="1033200" y="1581840"/>
            <a:ext cx="41112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2563EB"/>
                </a:solidFill>
                <a:effectLst/>
                <a:uFillTx/>
                <a:latin typeface="Aptos"/>
              </a:rPr>
              <a:t>?</a:t>
            </a:r>
            <a:endParaRPr lang="de-DE" sz="1800" b="0" u="none" strike="noStrike">
              <a:solidFill>
                <a:srgbClr val="000000"/>
              </a:solidFill>
              <a:effectLst/>
              <a:uFillTx/>
              <a:latin typeface="Arial"/>
            </a:endParaRPr>
          </a:p>
        </p:txBody>
      </p:sp>
      <p:sp>
        <p:nvSpPr>
          <p:cNvPr id="530" name="Text 9"/>
          <p:cNvSpPr/>
          <p:nvPr/>
        </p:nvSpPr>
        <p:spPr>
          <a:xfrm>
            <a:off x="1527120" y="1600200"/>
            <a:ext cx="283428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FAQ-Seite</a:t>
            </a:r>
            <a:endParaRPr lang="de-DE" sz="1350" b="0" u="none" strike="noStrike">
              <a:solidFill>
                <a:srgbClr val="000000"/>
              </a:solidFill>
              <a:effectLst/>
              <a:uFillTx/>
              <a:latin typeface="Arial"/>
            </a:endParaRPr>
          </a:p>
        </p:txBody>
      </p:sp>
      <p:sp>
        <p:nvSpPr>
          <p:cNvPr id="531" name="Text 10"/>
          <p:cNvSpPr/>
          <p:nvPr/>
        </p:nvSpPr>
        <p:spPr>
          <a:xfrm>
            <a:off x="1069920" y="2075760"/>
            <a:ext cx="3254760" cy="219420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60" b="0" u="none" strike="noStrike">
                <a:solidFill>
                  <a:srgbClr val="334155"/>
                </a:solidFill>
                <a:effectLst/>
                <a:uFillTx/>
                <a:latin typeface="Aptos"/>
              </a:rPr>
              <a:t>Häufige Fragen werden gebündelt und über die Navigation erreichbar gemacht. Gruppen helfen beim schnellen Finden.</a:t>
            </a:r>
            <a:endParaRPr lang="de-DE" sz="960" b="0" u="none" strike="noStrike">
              <a:solidFill>
                <a:srgbClr val="000000"/>
              </a:solidFill>
              <a:effectLst/>
              <a:uFillTx/>
              <a:latin typeface="Arial"/>
            </a:endParaRPr>
          </a:p>
        </p:txBody>
      </p:sp>
      <p:sp>
        <p:nvSpPr>
          <p:cNvPr id="532" name="Shape 11"/>
          <p:cNvSpPr/>
          <p:nvPr/>
        </p:nvSpPr>
        <p:spPr>
          <a:xfrm>
            <a:off x="4800600" y="1417320"/>
            <a:ext cx="2742840" cy="3017160"/>
          </a:xfrm>
          <a:prstGeom prst="roundRect">
            <a:avLst>
              <a:gd name="adj" fmla="val 2667"/>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533" name="Text 12"/>
          <p:cNvSpPr/>
          <p:nvPr/>
        </p:nvSpPr>
        <p:spPr>
          <a:xfrm>
            <a:off x="4965120" y="1581840"/>
            <a:ext cx="41112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10B981"/>
                </a:solidFill>
                <a:effectLst/>
                <a:uFillTx/>
                <a:latin typeface="Aptos"/>
              </a:rPr>
              <a:t>i</a:t>
            </a:r>
            <a:endParaRPr lang="de-DE" sz="1800" b="0" u="none" strike="noStrike">
              <a:solidFill>
                <a:srgbClr val="000000"/>
              </a:solidFill>
              <a:effectLst/>
              <a:uFillTx/>
              <a:latin typeface="Arial"/>
            </a:endParaRPr>
          </a:p>
        </p:txBody>
      </p:sp>
      <p:sp>
        <p:nvSpPr>
          <p:cNvPr id="534" name="Text 13"/>
          <p:cNvSpPr/>
          <p:nvPr/>
        </p:nvSpPr>
        <p:spPr>
          <a:xfrm>
            <a:off x="5459040" y="1600200"/>
            <a:ext cx="191988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Erklärung statt Fachjargon</a:t>
            </a:r>
            <a:endParaRPr lang="de-DE" sz="1350" b="0" u="none" strike="noStrike">
              <a:solidFill>
                <a:srgbClr val="000000"/>
              </a:solidFill>
              <a:effectLst/>
              <a:uFillTx/>
              <a:latin typeface="Arial"/>
            </a:endParaRPr>
          </a:p>
        </p:txBody>
      </p:sp>
      <p:sp>
        <p:nvSpPr>
          <p:cNvPr id="535" name="Text 14"/>
          <p:cNvSpPr/>
          <p:nvPr/>
        </p:nvSpPr>
        <p:spPr>
          <a:xfrm>
            <a:off x="5001840" y="2075760"/>
            <a:ext cx="2340360" cy="219420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60" b="0" u="none" strike="noStrike">
                <a:solidFill>
                  <a:srgbClr val="334155"/>
                </a:solidFill>
                <a:effectLst/>
                <a:uFillTx/>
                <a:latin typeface="Aptos"/>
              </a:rPr>
              <a:t>Finanzbegriffe und Bedienlogik sollten so einfach wie möglich erklärt werden.</a:t>
            </a:r>
            <a:endParaRPr lang="de-DE" sz="960" b="0" u="none" strike="noStrike">
              <a:solidFill>
                <a:srgbClr val="000000"/>
              </a:solidFill>
              <a:effectLst/>
              <a:uFillTx/>
              <a:latin typeface="Arial"/>
            </a:endParaRPr>
          </a:p>
        </p:txBody>
      </p:sp>
      <p:sp>
        <p:nvSpPr>
          <p:cNvPr id="536" name="Shape 15"/>
          <p:cNvSpPr/>
          <p:nvPr/>
        </p:nvSpPr>
        <p:spPr>
          <a:xfrm>
            <a:off x="7818120" y="1417320"/>
            <a:ext cx="2742840" cy="3017160"/>
          </a:xfrm>
          <a:prstGeom prst="roundRect">
            <a:avLst>
              <a:gd name="adj" fmla="val 2667"/>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537" name="Text 16"/>
          <p:cNvSpPr/>
          <p:nvPr/>
        </p:nvSpPr>
        <p:spPr>
          <a:xfrm>
            <a:off x="7982640" y="1581840"/>
            <a:ext cx="41112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F59E0B"/>
                </a:solidFill>
                <a:effectLst/>
                <a:uFillTx/>
                <a:latin typeface="Aptos"/>
              </a:rPr>
              <a:t>🎤</a:t>
            </a:r>
            <a:endParaRPr lang="de-DE" sz="1800" b="0" u="none" strike="noStrike">
              <a:solidFill>
                <a:srgbClr val="000000"/>
              </a:solidFill>
              <a:effectLst/>
              <a:uFillTx/>
              <a:latin typeface="Arial"/>
            </a:endParaRPr>
          </a:p>
        </p:txBody>
      </p:sp>
      <p:sp>
        <p:nvSpPr>
          <p:cNvPr id="538" name="Text 17"/>
          <p:cNvSpPr/>
          <p:nvPr/>
        </p:nvSpPr>
        <p:spPr>
          <a:xfrm>
            <a:off x="8476560" y="1600200"/>
            <a:ext cx="191988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Demo-Fähigkeit</a:t>
            </a:r>
            <a:endParaRPr lang="de-DE" sz="1350" b="0" u="none" strike="noStrike">
              <a:solidFill>
                <a:srgbClr val="000000"/>
              </a:solidFill>
              <a:effectLst/>
              <a:uFillTx/>
              <a:latin typeface="Arial"/>
            </a:endParaRPr>
          </a:p>
        </p:txBody>
      </p:sp>
      <p:sp>
        <p:nvSpPr>
          <p:cNvPr id="539" name="Text 18"/>
          <p:cNvSpPr/>
          <p:nvPr/>
        </p:nvSpPr>
        <p:spPr>
          <a:xfrm>
            <a:off x="8019360" y="2075760"/>
            <a:ext cx="2340360" cy="219420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60" b="0" u="none" strike="noStrike">
                <a:solidFill>
                  <a:srgbClr val="334155"/>
                </a:solidFill>
                <a:effectLst/>
                <a:uFillTx/>
                <a:latin typeface="Aptos"/>
              </a:rPr>
              <a:t>Eine klare FAQ hilft auch bei der Vorstellung des Projekts und reduziert Rückfragen.</a:t>
            </a:r>
            <a:endParaRPr lang="de-DE" sz="96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540" name="Shape 0"/>
          <p:cNvSpPr/>
          <p:nvPr/>
        </p:nvSpPr>
        <p:spPr>
          <a:xfrm>
            <a:off x="0" y="0"/>
            <a:ext cx="12191400" cy="6857640"/>
          </a:xfrm>
          <a:prstGeom prst="rect">
            <a:avLst/>
          </a:prstGeom>
          <a:solidFill>
            <a:srgbClr val="F8FAFC"/>
          </a:solidFill>
          <a:ln w="12700">
            <a:solidFill>
              <a:srgbClr val="F8FAFC">
                <a:alpha val="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541" name="Shape 1"/>
          <p:cNvSpPr/>
          <p:nvPr/>
        </p:nvSpPr>
        <p:spPr>
          <a:xfrm>
            <a:off x="0" y="0"/>
            <a:ext cx="109440" cy="6857640"/>
          </a:xfrm>
          <a:prstGeom prst="rect">
            <a:avLst/>
          </a:prstGeom>
          <a:solidFill>
            <a:srgbClr val="10B981"/>
          </a:solidFill>
          <a:ln w="12700">
            <a:solidFill>
              <a:srgbClr val="10B981"/>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542" name="Text 2"/>
          <p:cNvSpPr/>
          <p:nvPr/>
        </p:nvSpPr>
        <p:spPr>
          <a:xfrm>
            <a:off x="594360" y="384120"/>
            <a:ext cx="9052200" cy="438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0F172A"/>
                </a:solidFill>
                <a:effectLst/>
                <a:uFillTx/>
                <a:latin typeface="Aptos Display"/>
                <a:ea typeface="Aptos Display"/>
              </a:rPr>
              <a:t>Frontend-Qualität</a:t>
            </a:r>
            <a:endParaRPr lang="de-DE" sz="2400" b="0" u="none" strike="noStrike">
              <a:solidFill>
                <a:srgbClr val="000000"/>
              </a:solidFill>
              <a:effectLst/>
              <a:uFillTx/>
              <a:latin typeface="Arial"/>
            </a:endParaRPr>
          </a:p>
        </p:txBody>
      </p:sp>
      <p:sp>
        <p:nvSpPr>
          <p:cNvPr id="543" name="Text 3"/>
          <p:cNvSpPr/>
          <p:nvPr/>
        </p:nvSpPr>
        <p:spPr>
          <a:xfrm>
            <a:off x="612720" y="850320"/>
            <a:ext cx="96008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4748B"/>
                </a:solidFill>
                <a:effectLst/>
                <a:uFillTx/>
                <a:latin typeface="Aptos"/>
              </a:rPr>
              <a:t>Worauf bei UI und Bedienbarkeit geachtet wurde</a:t>
            </a:r>
            <a:endParaRPr lang="de-DE" sz="950" b="0" u="none" strike="noStrike">
              <a:solidFill>
                <a:srgbClr val="000000"/>
              </a:solidFill>
              <a:effectLst/>
              <a:uFillTx/>
              <a:latin typeface="Arial"/>
            </a:endParaRPr>
          </a:p>
        </p:txBody>
      </p:sp>
      <p:sp>
        <p:nvSpPr>
          <p:cNvPr id="544" name="Shape 4"/>
          <p:cNvSpPr/>
          <p:nvPr/>
        </p:nvSpPr>
        <p:spPr>
          <a:xfrm>
            <a:off x="502920" y="6473880"/>
            <a:ext cx="11201400" cy="360"/>
          </a:xfrm>
          <a:prstGeom prst="line">
            <a:avLst/>
          </a:prstGeom>
          <a:ln w="7620">
            <a:solidFill>
              <a:srgbClr val="CBD5E1">
                <a:alpha val="70000"/>
              </a:srgbClr>
            </a:solidFill>
            <a:round/>
          </a:ln>
        </p:spPr>
        <p:style>
          <a:lnRef idx="0"/>
          <a:fillRef idx="0"/>
          <a:effectRef idx="0"/>
          <a:fontRef idx="minor"/>
        </p:style>
        <p:txBody>
          <a:bodyPr lIns="90000" tIns="-44640" rIns="90000" bIns="-44640" anchor="t" anchorCtr="1">
            <a:noAutofit/>
          </a:bodyPr>
          <a:p>
            <a:endParaRPr lang="de-DE" sz="1800" b="0" u="none" strike="noStrike">
              <a:solidFill>
                <a:srgbClr val="000000"/>
              </a:solidFill>
              <a:effectLst/>
              <a:uFillTx/>
              <a:latin typeface="Arial"/>
            </a:endParaRPr>
          </a:p>
        </p:txBody>
      </p:sp>
      <p:sp>
        <p:nvSpPr>
          <p:cNvPr id="545" name="Text 5"/>
          <p:cNvSpPr/>
          <p:nvPr/>
        </p:nvSpPr>
        <p:spPr>
          <a:xfrm>
            <a:off x="567000" y="6519600"/>
            <a:ext cx="530316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4748B"/>
                </a:solidFill>
                <a:effectLst/>
                <a:uFillTx/>
                <a:latin typeface="Aptos"/>
                <a:ea typeface="Aptos"/>
              </a:rPr>
              <a:t>Teil 4 · Frontend</a:t>
            </a:r>
            <a:endParaRPr lang="de-DE" sz="750" b="0" u="none" strike="noStrike">
              <a:solidFill>
                <a:srgbClr val="000000"/>
              </a:solidFill>
              <a:effectLst/>
              <a:uFillTx/>
              <a:latin typeface="Arial"/>
            </a:endParaRPr>
          </a:p>
        </p:txBody>
      </p:sp>
      <p:sp>
        <p:nvSpPr>
          <p:cNvPr id="546" name="Text 6"/>
          <p:cNvSpPr/>
          <p:nvPr/>
        </p:nvSpPr>
        <p:spPr>
          <a:xfrm>
            <a:off x="11201400" y="6519600"/>
            <a:ext cx="45684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50" b="0" u="none" strike="noStrike">
                <a:solidFill>
                  <a:srgbClr val="64748B"/>
                </a:solidFill>
                <a:effectLst/>
                <a:uFillTx/>
                <a:latin typeface="Aptos"/>
                <a:ea typeface="Aptos"/>
              </a:rPr>
              <a:t>28</a:t>
            </a:r>
            <a:endParaRPr lang="de-DE" sz="750" b="0" u="none" strike="noStrike">
              <a:solidFill>
                <a:srgbClr val="000000"/>
              </a:solidFill>
              <a:effectLst/>
              <a:uFillTx/>
              <a:latin typeface="Arial"/>
            </a:endParaRPr>
          </a:p>
        </p:txBody>
      </p:sp>
      <p:sp>
        <p:nvSpPr>
          <p:cNvPr id="547" name="Text 7"/>
          <p:cNvSpPr/>
          <p:nvPr/>
        </p:nvSpPr>
        <p:spPr>
          <a:xfrm>
            <a:off x="868680" y="1417320"/>
            <a:ext cx="6400440" cy="42973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pPr>
            <a:r>
              <a:rPr lang="en-US" sz="1300" b="0" u="none" strike="noStrike">
                <a:solidFill>
                  <a:srgbClr val="334155"/>
                </a:solidFill>
                <a:effectLst/>
                <a:uFillTx/>
                <a:latin typeface="Aptos"/>
              </a:rPr>
              <a:t>Konsistente Sprache und informelle Ansprache der Nutzenden</a:t>
            </a:r>
            <a:endParaRPr lang="de-DE" sz="1300" b="0" u="none" strike="noStrike">
              <a:solidFill>
                <a:srgbClr val="000000"/>
              </a:solidFill>
              <a:effectLst/>
              <a:uFillTx/>
              <a:latin typeface="Arial"/>
            </a:endParaRPr>
          </a:p>
          <a:p>
            <a:pPr defTabSz="914400">
              <a:lnSpc>
                <a:spcPct val="100000"/>
              </a:lnSpc>
            </a:pPr>
            <a:r>
              <a:rPr lang="en-US" sz="1300" b="0" u="none" strike="noStrike">
                <a:solidFill>
                  <a:srgbClr val="334155"/>
                </a:solidFill>
                <a:effectLst/>
                <a:uFillTx/>
                <a:latin typeface="Aptos"/>
              </a:rPr>
              <a:t>Reduzierte Oberfläche statt überladener Finanzsoftware</a:t>
            </a:r>
            <a:endParaRPr lang="de-DE" sz="1300" b="0" u="none" strike="noStrike">
              <a:solidFill>
                <a:srgbClr val="000000"/>
              </a:solidFill>
              <a:effectLst/>
              <a:uFillTx/>
              <a:latin typeface="Arial"/>
            </a:endParaRPr>
          </a:p>
          <a:p>
            <a:pPr defTabSz="914400">
              <a:lnSpc>
                <a:spcPct val="100000"/>
              </a:lnSpc>
            </a:pPr>
            <a:r>
              <a:rPr lang="en-US" sz="1300" b="0" u="none" strike="noStrike">
                <a:solidFill>
                  <a:srgbClr val="334155"/>
                </a:solidFill>
                <a:effectLst/>
                <a:uFillTx/>
                <a:latin typeface="Aptos"/>
              </a:rPr>
              <a:t>Direkte Rückmeldungen bei Login, Registrierung und Speichern</a:t>
            </a:r>
            <a:endParaRPr lang="de-DE" sz="1300" b="0" u="none" strike="noStrike">
              <a:solidFill>
                <a:srgbClr val="000000"/>
              </a:solidFill>
              <a:effectLst/>
              <a:uFillTx/>
              <a:latin typeface="Arial"/>
            </a:endParaRPr>
          </a:p>
          <a:p>
            <a:pPr defTabSz="914400">
              <a:lnSpc>
                <a:spcPct val="100000"/>
              </a:lnSpc>
            </a:pPr>
            <a:r>
              <a:rPr lang="en-US" sz="1300" b="0" u="none" strike="noStrike">
                <a:solidFill>
                  <a:srgbClr val="334155"/>
                </a:solidFill>
                <a:effectLst/>
                <a:uFillTx/>
                <a:latin typeface="Aptos"/>
              </a:rPr>
              <a:t>Navigation zwischen zentralen Funktionsbereichen</a:t>
            </a:r>
            <a:endParaRPr lang="de-DE" sz="1300" b="0" u="none" strike="noStrike">
              <a:solidFill>
                <a:srgbClr val="000000"/>
              </a:solidFill>
              <a:effectLst/>
              <a:uFillTx/>
              <a:latin typeface="Arial"/>
            </a:endParaRPr>
          </a:p>
          <a:p>
            <a:pPr defTabSz="914400">
              <a:lnSpc>
                <a:spcPct val="100000"/>
              </a:lnSpc>
            </a:pPr>
            <a:r>
              <a:rPr lang="en-US" sz="1300" b="0" u="none" strike="noStrike">
                <a:solidFill>
                  <a:srgbClr val="334155"/>
                </a:solidFill>
                <a:effectLst/>
                <a:uFillTx/>
                <a:latin typeface="Aptos"/>
              </a:rPr>
              <a:t>Vorbereitung einer Demo durch manuelle Tests</a:t>
            </a:r>
            <a:endParaRPr lang="de-DE" sz="1300" b="0" u="none" strike="noStrike">
              <a:solidFill>
                <a:srgbClr val="000000"/>
              </a:solidFill>
              <a:effectLst/>
              <a:uFillTx/>
              <a:latin typeface="Arial"/>
            </a:endParaRPr>
          </a:p>
          <a:p>
            <a:pPr defTabSz="914400">
              <a:lnSpc>
                <a:spcPct val="100000"/>
              </a:lnSpc>
            </a:pPr>
            <a:r>
              <a:rPr lang="en-US" sz="1300" b="0" u="none" strike="noStrike">
                <a:solidFill>
                  <a:srgbClr val="334155"/>
                </a:solidFill>
                <a:effectLst/>
                <a:uFillTx/>
                <a:latin typeface="Aptos"/>
              </a:rPr>
              <a:t>Potenzial: Barrierefreiheit, Responsivität und Fehlerzustände systematischer testen</a:t>
            </a:r>
            <a:endParaRPr lang="de-DE" sz="1300" b="0" u="none" strike="noStrike">
              <a:solidFill>
                <a:srgbClr val="000000"/>
              </a:solidFill>
              <a:effectLst/>
              <a:uFillTx/>
              <a:latin typeface="Arial"/>
            </a:endParaRPr>
          </a:p>
        </p:txBody>
      </p:sp>
      <p:sp>
        <p:nvSpPr>
          <p:cNvPr id="548" name="Shape 8"/>
          <p:cNvSpPr/>
          <p:nvPr/>
        </p:nvSpPr>
        <p:spPr>
          <a:xfrm>
            <a:off x="7909560" y="1828800"/>
            <a:ext cx="2834280" cy="2102760"/>
          </a:xfrm>
          <a:prstGeom prst="roundRect">
            <a:avLst>
              <a:gd name="adj" fmla="val 3478"/>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549" name="Text 9"/>
          <p:cNvSpPr/>
          <p:nvPr/>
        </p:nvSpPr>
        <p:spPr>
          <a:xfrm>
            <a:off x="8074080" y="1993320"/>
            <a:ext cx="41112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E11D48"/>
                </a:solidFill>
                <a:effectLst/>
                <a:uFillTx/>
                <a:latin typeface="Aptos"/>
              </a:rPr>
              <a:t>→</a:t>
            </a:r>
            <a:endParaRPr lang="de-DE" sz="1800" b="0" u="none" strike="noStrike">
              <a:solidFill>
                <a:srgbClr val="000000"/>
              </a:solidFill>
              <a:effectLst/>
              <a:uFillTx/>
              <a:latin typeface="Arial"/>
            </a:endParaRPr>
          </a:p>
        </p:txBody>
      </p:sp>
      <p:sp>
        <p:nvSpPr>
          <p:cNvPr id="550" name="Text 10"/>
          <p:cNvSpPr/>
          <p:nvPr/>
        </p:nvSpPr>
        <p:spPr>
          <a:xfrm>
            <a:off x="8568000" y="2011680"/>
            <a:ext cx="20113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Übergabe an Person 5</a:t>
            </a:r>
            <a:endParaRPr lang="de-DE" sz="1350" b="0" u="none" strike="noStrike">
              <a:solidFill>
                <a:srgbClr val="000000"/>
              </a:solidFill>
              <a:effectLst/>
              <a:uFillTx/>
              <a:latin typeface="Arial"/>
            </a:endParaRPr>
          </a:p>
        </p:txBody>
      </p:sp>
      <p:sp>
        <p:nvSpPr>
          <p:cNvPr id="551" name="Text 11"/>
          <p:cNvSpPr/>
          <p:nvPr/>
        </p:nvSpPr>
        <p:spPr>
          <a:xfrm>
            <a:off x="8110800" y="2487240"/>
            <a:ext cx="2431800" cy="127980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60" b="0" u="none" strike="noStrike">
                <a:solidFill>
                  <a:srgbClr val="334155"/>
                </a:solidFill>
                <a:effectLst/>
                <a:uFillTx/>
                <a:latin typeface="Aptos"/>
              </a:rPr>
              <a:t>Nach der Oberfläche folgt die technische Umsetzung der Kernfunktionen und Sicherheitsmechanismen.</a:t>
            </a:r>
            <a:endParaRPr lang="de-DE" sz="96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552" name="Shape 0"/>
          <p:cNvSpPr/>
          <p:nvPr/>
        </p:nvSpPr>
        <p:spPr>
          <a:xfrm>
            <a:off x="0" y="0"/>
            <a:ext cx="12191400" cy="6857640"/>
          </a:xfrm>
          <a:prstGeom prst="rect">
            <a:avLst/>
          </a:prstGeom>
          <a:solidFill>
            <a:srgbClr val="0F172A"/>
          </a:solidFill>
          <a:ln w="12700">
            <a:solidFill>
              <a:srgbClr val="0F172A"/>
            </a:solidFill>
            <a:round/>
          </a:ln>
        </p:spPr>
        <p:style>
          <a:lnRef idx="0"/>
          <a:fillRef idx="0"/>
          <a:effectRef idx="0"/>
          <a:fontRef idx="minor"/>
        </p:style>
        <p:txBody>
          <a:bodyPr lIns="90000" tIns="45000" rIns="90000" bIns="45000" anchor="t">
            <a:noAutofit/>
          </a:bodyPr>
          <a:p>
            <a:endParaRPr lang="de-DE" sz="1800" b="0" u="none" strike="noStrike">
              <a:solidFill>
                <a:srgbClr val="FFFFFF"/>
              </a:solidFill>
              <a:effectLst/>
              <a:uFillTx/>
              <a:latin typeface="Arial"/>
            </a:endParaRPr>
          </a:p>
        </p:txBody>
      </p:sp>
      <p:sp>
        <p:nvSpPr>
          <p:cNvPr id="553" name="Shape 1"/>
          <p:cNvSpPr/>
          <p:nvPr/>
        </p:nvSpPr>
        <p:spPr>
          <a:xfrm>
            <a:off x="0" y="0"/>
            <a:ext cx="12191400" cy="200880"/>
          </a:xfrm>
          <a:prstGeom prst="rect">
            <a:avLst/>
          </a:prstGeom>
          <a:solidFill>
            <a:srgbClr val="047857"/>
          </a:solidFill>
          <a:ln w="12700">
            <a:solidFill>
              <a:srgbClr val="047857"/>
            </a:solidFill>
            <a:round/>
          </a:ln>
        </p:spPr>
        <p:style>
          <a:lnRef idx="0"/>
          <a:fillRef idx="0"/>
          <a:effectRef idx="0"/>
          <a:fontRef idx="minor"/>
        </p:style>
        <p:txBody>
          <a:bodyPr lIns="90000" tIns="45000" rIns="90000" bIns="45000" anchor="t">
            <a:noAutofit/>
          </a:bodyPr>
          <a:p>
            <a:endParaRPr lang="de-DE" sz="1800" b="0" u="none" strike="noStrike">
              <a:solidFill>
                <a:srgbClr val="FFFFFF"/>
              </a:solidFill>
              <a:effectLst/>
              <a:uFillTx/>
              <a:latin typeface="Arial"/>
            </a:endParaRPr>
          </a:p>
        </p:txBody>
      </p:sp>
      <p:sp>
        <p:nvSpPr>
          <p:cNvPr id="554" name="Text 2"/>
          <p:cNvSpPr/>
          <p:nvPr/>
        </p:nvSpPr>
        <p:spPr>
          <a:xfrm>
            <a:off x="685800" y="914400"/>
            <a:ext cx="123408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047857"/>
                </a:solidFill>
                <a:effectLst/>
                <a:uFillTx/>
                <a:latin typeface="Aptos"/>
              </a:rPr>
              <a:t>Teil 5</a:t>
            </a:r>
            <a:endParaRPr lang="de-DE" sz="1300" b="0" u="none" strike="noStrike">
              <a:solidFill>
                <a:srgbClr val="FFFFFF"/>
              </a:solidFill>
              <a:effectLst/>
              <a:uFillTx/>
              <a:latin typeface="Arial"/>
            </a:endParaRPr>
          </a:p>
        </p:txBody>
      </p:sp>
      <p:sp>
        <p:nvSpPr>
          <p:cNvPr id="555" name="Text 3"/>
          <p:cNvSpPr/>
          <p:nvPr/>
        </p:nvSpPr>
        <p:spPr>
          <a:xfrm>
            <a:off x="685800" y="1325880"/>
            <a:ext cx="8046360" cy="7311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3400" b="1" u="none" strike="noStrike">
                <a:solidFill>
                  <a:srgbClr val="FFFFFF"/>
                </a:solidFill>
                <a:effectLst/>
                <a:uFillTx/>
                <a:latin typeface="Aptos"/>
              </a:rPr>
              <a:t>Implementierung &amp; Sicherheit</a:t>
            </a:r>
            <a:endParaRPr lang="de-DE" sz="3400" b="0" u="none" strike="noStrike">
              <a:solidFill>
                <a:srgbClr val="FFFFFF"/>
              </a:solidFill>
              <a:effectLst/>
              <a:uFillTx/>
              <a:latin typeface="Arial"/>
            </a:endParaRPr>
          </a:p>
        </p:txBody>
      </p:sp>
      <p:sp>
        <p:nvSpPr>
          <p:cNvPr id="556" name="Text 4"/>
          <p:cNvSpPr/>
          <p:nvPr/>
        </p:nvSpPr>
        <p:spPr>
          <a:xfrm>
            <a:off x="713160" y="2176200"/>
            <a:ext cx="50288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CBD5E1"/>
                </a:solidFill>
                <a:effectLst/>
                <a:uFillTx/>
                <a:latin typeface="Aptos"/>
              </a:rPr>
              <a:t>Person 5 · ca. 10 Minuten</a:t>
            </a:r>
            <a:endParaRPr lang="de-DE" sz="1300" b="0" u="none" strike="noStrike">
              <a:solidFill>
                <a:srgbClr val="FFFFFF"/>
              </a:solidFill>
              <a:effectLst/>
              <a:uFillTx/>
              <a:latin typeface="Arial"/>
            </a:endParaRPr>
          </a:p>
        </p:txBody>
      </p:sp>
      <p:sp>
        <p:nvSpPr>
          <p:cNvPr id="557" name="Text 5"/>
          <p:cNvSpPr/>
          <p:nvPr/>
        </p:nvSpPr>
        <p:spPr>
          <a:xfrm>
            <a:off x="9235440" y="1188720"/>
            <a:ext cx="1462680" cy="1279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5800" b="0" u="none" strike="noStrike">
                <a:solidFill>
                  <a:srgbClr val="047857"/>
                </a:solidFill>
                <a:effectLst/>
                <a:uFillTx/>
                <a:latin typeface="Aptos"/>
              </a:rPr>
              <a:t>🔐</a:t>
            </a:r>
            <a:endParaRPr lang="de-DE" sz="5800" b="0" u="none" strike="noStrike">
              <a:solidFill>
                <a:srgbClr val="FFFFFF"/>
              </a:solidFill>
              <a:effectLst/>
              <a:uFillTx/>
              <a:latin typeface="Arial"/>
            </a:endParaRPr>
          </a:p>
        </p:txBody>
      </p:sp>
      <p:sp>
        <p:nvSpPr>
          <p:cNvPr id="558" name="Shape 6"/>
          <p:cNvSpPr/>
          <p:nvPr/>
        </p:nvSpPr>
        <p:spPr>
          <a:xfrm>
            <a:off x="713160" y="2816280"/>
            <a:ext cx="10607040" cy="360"/>
          </a:xfrm>
          <a:prstGeom prst="line">
            <a:avLst/>
          </a:prstGeom>
          <a:ln w="12700">
            <a:solidFill>
              <a:srgbClr val="334155"/>
            </a:solidFill>
            <a:round/>
          </a:ln>
        </p:spPr>
        <p:style>
          <a:lnRef idx="0"/>
          <a:fillRef idx="0"/>
          <a:effectRef idx="0"/>
          <a:fontRef idx="minor"/>
        </p:style>
        <p:txBody>
          <a:bodyPr lIns="90000" tIns="-44640" rIns="90000" bIns="-44640" anchor="t" anchorCtr="1">
            <a:noAutofit/>
          </a:bodyPr>
          <a:p>
            <a:endParaRPr lang="de-DE" sz="1800" b="0" u="none" strike="noStrike">
              <a:solidFill>
                <a:srgbClr val="FFFFFF"/>
              </a:solidFill>
              <a:effectLst/>
              <a:uFillTx/>
              <a:latin typeface="Arial"/>
            </a:endParaRPr>
          </a:p>
        </p:txBody>
      </p:sp>
      <p:sp>
        <p:nvSpPr>
          <p:cNvPr id="559" name="Text 7"/>
          <p:cNvSpPr/>
          <p:nvPr/>
        </p:nvSpPr>
        <p:spPr>
          <a:xfrm>
            <a:off x="749880" y="3127320"/>
            <a:ext cx="201132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FFFFFF"/>
                </a:solidFill>
                <a:effectLst/>
                <a:uFillTx/>
                <a:latin typeface="Aptos"/>
              </a:rPr>
              <a:t>Ziel dieses Abschnitts</a:t>
            </a:r>
            <a:endParaRPr lang="de-DE" sz="1200" b="0" u="none" strike="noStrike">
              <a:solidFill>
                <a:srgbClr val="FFFFFF"/>
              </a:solidFill>
              <a:effectLst/>
              <a:uFillTx/>
              <a:latin typeface="Arial"/>
            </a:endParaRPr>
          </a:p>
        </p:txBody>
      </p:sp>
      <p:sp>
        <p:nvSpPr>
          <p:cNvPr id="560" name="Text 8"/>
          <p:cNvSpPr/>
          <p:nvPr/>
        </p:nvSpPr>
        <p:spPr>
          <a:xfrm>
            <a:off x="749880" y="3474720"/>
            <a:ext cx="7497720" cy="59400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600" b="0" u="none" strike="noStrike">
                <a:solidFill>
                  <a:srgbClr val="E2E8F0"/>
                </a:solidFill>
                <a:effectLst/>
                <a:uFillTx/>
                <a:latin typeface="Aptos"/>
              </a:rPr>
              <a:t>Wie wurden Kernfunktionen umgesetzt und welche Sicherheitsmaßnahmen sind zentral?</a:t>
            </a:r>
            <a:endParaRPr lang="de-DE" sz="1600" b="0" u="none" strike="noStrike">
              <a:solidFill>
                <a:srgbClr val="FFFFFF"/>
              </a:solidFill>
              <a:effectLst/>
              <a:uFillTx/>
              <a:latin typeface="Arial"/>
            </a:endParaRPr>
          </a:p>
        </p:txBody>
      </p:sp>
      <p:sp>
        <p:nvSpPr>
          <p:cNvPr id="561" name="Text 9"/>
          <p:cNvSpPr/>
          <p:nvPr/>
        </p:nvSpPr>
        <p:spPr>
          <a:xfrm>
            <a:off x="11174040" y="6473880"/>
            <a:ext cx="45684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50" b="0" u="none" strike="noStrike">
                <a:solidFill>
                  <a:srgbClr val="94A3B8"/>
                </a:solidFill>
                <a:effectLst/>
                <a:uFillTx/>
                <a:latin typeface="Aptos"/>
              </a:rPr>
              <a:t>29</a:t>
            </a:r>
            <a:endParaRPr lang="de-DE" sz="7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562" name="Shape 0"/>
          <p:cNvSpPr/>
          <p:nvPr/>
        </p:nvSpPr>
        <p:spPr>
          <a:xfrm>
            <a:off x="0" y="0"/>
            <a:ext cx="12191400" cy="6857640"/>
          </a:xfrm>
          <a:prstGeom prst="rect">
            <a:avLst/>
          </a:prstGeom>
          <a:solidFill>
            <a:srgbClr val="F8FAFC"/>
          </a:solidFill>
          <a:ln w="12700">
            <a:solidFill>
              <a:srgbClr val="F8FAFC">
                <a:alpha val="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563" name="Shape 1"/>
          <p:cNvSpPr/>
          <p:nvPr/>
        </p:nvSpPr>
        <p:spPr>
          <a:xfrm>
            <a:off x="0" y="0"/>
            <a:ext cx="109440" cy="6857640"/>
          </a:xfrm>
          <a:prstGeom prst="rect">
            <a:avLst/>
          </a:prstGeom>
          <a:solidFill>
            <a:srgbClr val="10B981"/>
          </a:solidFill>
          <a:ln w="12700">
            <a:solidFill>
              <a:srgbClr val="10B981"/>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564" name="Text 2"/>
          <p:cNvSpPr/>
          <p:nvPr/>
        </p:nvSpPr>
        <p:spPr>
          <a:xfrm>
            <a:off x="594360" y="384120"/>
            <a:ext cx="9052200" cy="438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0F172A"/>
                </a:solidFill>
                <a:effectLst/>
                <a:uFillTx/>
                <a:latin typeface="Aptos Display"/>
                <a:ea typeface="Aptos Display"/>
              </a:rPr>
              <a:t>Implementierungsprinzip</a:t>
            </a:r>
            <a:endParaRPr lang="de-DE" sz="2400" b="0" u="none" strike="noStrike">
              <a:solidFill>
                <a:srgbClr val="000000"/>
              </a:solidFill>
              <a:effectLst/>
              <a:uFillTx/>
              <a:latin typeface="Arial"/>
            </a:endParaRPr>
          </a:p>
        </p:txBody>
      </p:sp>
      <p:sp>
        <p:nvSpPr>
          <p:cNvPr id="565" name="Text 3"/>
          <p:cNvSpPr/>
          <p:nvPr/>
        </p:nvSpPr>
        <p:spPr>
          <a:xfrm>
            <a:off x="612720" y="850320"/>
            <a:ext cx="96008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4748B"/>
                </a:solidFill>
                <a:effectLst/>
                <a:uFillTx/>
                <a:latin typeface="Aptos"/>
              </a:rPr>
              <a:t>Routen nehmen Anfragen an, Services kapseln Fachlogik</a:t>
            </a:r>
            <a:endParaRPr lang="de-DE" sz="950" b="0" u="none" strike="noStrike">
              <a:solidFill>
                <a:srgbClr val="000000"/>
              </a:solidFill>
              <a:effectLst/>
              <a:uFillTx/>
              <a:latin typeface="Arial"/>
            </a:endParaRPr>
          </a:p>
        </p:txBody>
      </p:sp>
      <p:sp>
        <p:nvSpPr>
          <p:cNvPr id="566" name="Shape 4"/>
          <p:cNvSpPr/>
          <p:nvPr/>
        </p:nvSpPr>
        <p:spPr>
          <a:xfrm>
            <a:off x="502920" y="6473880"/>
            <a:ext cx="11201400" cy="360"/>
          </a:xfrm>
          <a:prstGeom prst="line">
            <a:avLst/>
          </a:prstGeom>
          <a:ln w="7620">
            <a:solidFill>
              <a:srgbClr val="CBD5E1">
                <a:alpha val="70000"/>
              </a:srgbClr>
            </a:solidFill>
            <a:round/>
          </a:ln>
        </p:spPr>
        <p:style>
          <a:lnRef idx="0"/>
          <a:fillRef idx="0"/>
          <a:effectRef idx="0"/>
          <a:fontRef idx="minor"/>
        </p:style>
        <p:txBody>
          <a:bodyPr lIns="90000" tIns="-44640" rIns="90000" bIns="-44640" anchor="t" anchorCtr="1">
            <a:noAutofit/>
          </a:bodyPr>
          <a:p>
            <a:endParaRPr lang="de-DE" sz="1800" b="0" u="none" strike="noStrike">
              <a:solidFill>
                <a:srgbClr val="000000"/>
              </a:solidFill>
              <a:effectLst/>
              <a:uFillTx/>
              <a:latin typeface="Arial"/>
            </a:endParaRPr>
          </a:p>
        </p:txBody>
      </p:sp>
      <p:sp>
        <p:nvSpPr>
          <p:cNvPr id="567" name="Text 5"/>
          <p:cNvSpPr/>
          <p:nvPr/>
        </p:nvSpPr>
        <p:spPr>
          <a:xfrm>
            <a:off x="567000" y="6519600"/>
            <a:ext cx="530316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4748B"/>
                </a:solidFill>
                <a:effectLst/>
                <a:uFillTx/>
                <a:latin typeface="Aptos"/>
                <a:ea typeface="Aptos"/>
              </a:rPr>
              <a:t>Teil 5 · Implementierung &amp; Sicherheit</a:t>
            </a:r>
            <a:endParaRPr lang="de-DE" sz="750" b="0" u="none" strike="noStrike">
              <a:solidFill>
                <a:srgbClr val="000000"/>
              </a:solidFill>
              <a:effectLst/>
              <a:uFillTx/>
              <a:latin typeface="Arial"/>
            </a:endParaRPr>
          </a:p>
        </p:txBody>
      </p:sp>
      <p:sp>
        <p:nvSpPr>
          <p:cNvPr id="568" name="Text 6"/>
          <p:cNvSpPr/>
          <p:nvPr/>
        </p:nvSpPr>
        <p:spPr>
          <a:xfrm>
            <a:off x="11201400" y="6519600"/>
            <a:ext cx="45684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50" b="0" u="none" strike="noStrike">
                <a:solidFill>
                  <a:srgbClr val="64748B"/>
                </a:solidFill>
                <a:effectLst/>
                <a:uFillTx/>
                <a:latin typeface="Aptos"/>
                <a:ea typeface="Aptos"/>
              </a:rPr>
              <a:t>30</a:t>
            </a:r>
            <a:endParaRPr lang="de-DE" sz="750" b="0" u="none" strike="noStrike">
              <a:solidFill>
                <a:srgbClr val="000000"/>
              </a:solidFill>
              <a:effectLst/>
              <a:uFillTx/>
              <a:latin typeface="Arial"/>
            </a:endParaRPr>
          </a:p>
        </p:txBody>
      </p:sp>
      <p:sp>
        <p:nvSpPr>
          <p:cNvPr id="569" name="Shape 7"/>
          <p:cNvSpPr/>
          <p:nvPr/>
        </p:nvSpPr>
        <p:spPr>
          <a:xfrm>
            <a:off x="685800" y="1691640"/>
            <a:ext cx="1660680" cy="731160"/>
          </a:xfrm>
          <a:prstGeom prst="chevron">
            <a:avLst>
              <a:gd name="adj" fmla="val 50000"/>
            </a:avLst>
          </a:prstGeom>
          <a:solidFill>
            <a:srgbClr val="047857"/>
          </a:solidFill>
          <a:ln w="12700">
            <a:solidFill>
              <a:srgbClr val="047857"/>
            </a:solidFill>
            <a:round/>
          </a:ln>
        </p:spPr>
        <p:style>
          <a:lnRef idx="0"/>
          <a:fillRef idx="0"/>
          <a:effectRef idx="0"/>
          <a:fontRef idx="minor"/>
        </p:style>
        <p:txBody>
          <a:bodyPr lIns="90000" tIns="45000" rIns="90000" bIns="45000" anchor="t">
            <a:noAutofit/>
          </a:bodyPr>
          <a:p>
            <a:endParaRPr lang="de-DE" sz="1800" b="0" u="none" strike="noStrike">
              <a:solidFill>
                <a:srgbClr val="FFFFFF"/>
              </a:solidFill>
              <a:effectLst/>
              <a:uFillTx/>
              <a:latin typeface="Arial"/>
            </a:endParaRPr>
          </a:p>
        </p:txBody>
      </p:sp>
      <p:sp>
        <p:nvSpPr>
          <p:cNvPr id="570" name="Text 8"/>
          <p:cNvSpPr/>
          <p:nvPr/>
        </p:nvSpPr>
        <p:spPr>
          <a:xfrm>
            <a:off x="758880" y="1901880"/>
            <a:ext cx="1514520" cy="25560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20" b="1" u="none" strike="noStrike">
                <a:solidFill>
                  <a:srgbClr val="FFFFFF"/>
                </a:solidFill>
                <a:effectLst/>
                <a:uFillTx/>
                <a:latin typeface="Aptos"/>
              </a:rPr>
              <a:t>Request</a:t>
            </a:r>
            <a:endParaRPr lang="de-DE" sz="920" b="0" u="none" strike="noStrike">
              <a:solidFill>
                <a:srgbClr val="000000"/>
              </a:solidFill>
              <a:effectLst/>
              <a:uFillTx/>
              <a:latin typeface="Arial"/>
            </a:endParaRPr>
          </a:p>
        </p:txBody>
      </p:sp>
      <p:sp>
        <p:nvSpPr>
          <p:cNvPr id="571" name="Shape 9"/>
          <p:cNvSpPr/>
          <p:nvPr/>
        </p:nvSpPr>
        <p:spPr>
          <a:xfrm>
            <a:off x="2511720" y="1691640"/>
            <a:ext cx="1660680" cy="731160"/>
          </a:xfrm>
          <a:prstGeom prst="chevron">
            <a:avLst>
              <a:gd name="adj" fmla="val 50000"/>
            </a:avLst>
          </a:prstGeom>
          <a:solidFill>
            <a:srgbClr val="FFFFFF"/>
          </a:solidFill>
          <a:ln w="12700">
            <a:solidFill>
              <a:srgbClr val="047857"/>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572" name="Text 10"/>
          <p:cNvSpPr/>
          <p:nvPr/>
        </p:nvSpPr>
        <p:spPr>
          <a:xfrm>
            <a:off x="2584800" y="1901880"/>
            <a:ext cx="1514520" cy="25560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20" b="1" u="none" strike="noStrike">
                <a:solidFill>
                  <a:srgbClr val="0F172A"/>
                </a:solidFill>
                <a:effectLst/>
                <a:uFillTx/>
                <a:latin typeface="Aptos"/>
              </a:rPr>
              <a:t>Route</a:t>
            </a:r>
            <a:endParaRPr lang="de-DE" sz="920" b="0" u="none" strike="noStrike">
              <a:solidFill>
                <a:srgbClr val="000000"/>
              </a:solidFill>
              <a:effectLst/>
              <a:uFillTx/>
              <a:latin typeface="Arial"/>
            </a:endParaRPr>
          </a:p>
        </p:txBody>
      </p:sp>
      <p:sp>
        <p:nvSpPr>
          <p:cNvPr id="573" name="Shape 11"/>
          <p:cNvSpPr/>
          <p:nvPr/>
        </p:nvSpPr>
        <p:spPr>
          <a:xfrm>
            <a:off x="4337280" y="1691640"/>
            <a:ext cx="1660680" cy="731160"/>
          </a:xfrm>
          <a:prstGeom prst="chevron">
            <a:avLst>
              <a:gd name="adj" fmla="val 50000"/>
            </a:avLst>
          </a:prstGeom>
          <a:solidFill>
            <a:srgbClr val="FFFFFF"/>
          </a:solidFill>
          <a:ln w="12700">
            <a:solidFill>
              <a:srgbClr val="047857"/>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574" name="Text 12"/>
          <p:cNvSpPr/>
          <p:nvPr/>
        </p:nvSpPr>
        <p:spPr>
          <a:xfrm>
            <a:off x="4410360" y="1901880"/>
            <a:ext cx="1514520" cy="25560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20" b="1" u="none" strike="noStrike">
                <a:solidFill>
                  <a:srgbClr val="0F172A"/>
                </a:solidFill>
                <a:effectLst/>
                <a:uFillTx/>
                <a:latin typeface="Aptos"/>
              </a:rPr>
              <a:t>Validierung</a:t>
            </a:r>
            <a:endParaRPr lang="de-DE" sz="920" b="0" u="none" strike="noStrike">
              <a:solidFill>
                <a:srgbClr val="000000"/>
              </a:solidFill>
              <a:effectLst/>
              <a:uFillTx/>
              <a:latin typeface="Arial"/>
            </a:endParaRPr>
          </a:p>
        </p:txBody>
      </p:sp>
      <p:sp>
        <p:nvSpPr>
          <p:cNvPr id="575" name="Shape 13"/>
          <p:cNvSpPr/>
          <p:nvPr/>
        </p:nvSpPr>
        <p:spPr>
          <a:xfrm>
            <a:off x="6163200" y="1691640"/>
            <a:ext cx="1660680" cy="731160"/>
          </a:xfrm>
          <a:prstGeom prst="chevron">
            <a:avLst>
              <a:gd name="adj" fmla="val 50000"/>
            </a:avLst>
          </a:prstGeom>
          <a:solidFill>
            <a:srgbClr val="FFFFFF"/>
          </a:solidFill>
          <a:ln w="12700">
            <a:solidFill>
              <a:srgbClr val="047857"/>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576" name="Text 14"/>
          <p:cNvSpPr/>
          <p:nvPr/>
        </p:nvSpPr>
        <p:spPr>
          <a:xfrm>
            <a:off x="6236280" y="1901880"/>
            <a:ext cx="1514520" cy="25560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20" b="1" u="none" strike="noStrike">
                <a:solidFill>
                  <a:srgbClr val="0F172A"/>
                </a:solidFill>
                <a:effectLst/>
                <a:uFillTx/>
                <a:latin typeface="Aptos"/>
              </a:rPr>
              <a:t>Service</a:t>
            </a:r>
            <a:endParaRPr lang="de-DE" sz="920" b="0" u="none" strike="noStrike">
              <a:solidFill>
                <a:srgbClr val="000000"/>
              </a:solidFill>
              <a:effectLst/>
              <a:uFillTx/>
              <a:latin typeface="Arial"/>
            </a:endParaRPr>
          </a:p>
        </p:txBody>
      </p:sp>
      <p:sp>
        <p:nvSpPr>
          <p:cNvPr id="577" name="Shape 15"/>
          <p:cNvSpPr/>
          <p:nvPr/>
        </p:nvSpPr>
        <p:spPr>
          <a:xfrm>
            <a:off x="7988760" y="1691640"/>
            <a:ext cx="1660680" cy="731160"/>
          </a:xfrm>
          <a:prstGeom prst="chevron">
            <a:avLst>
              <a:gd name="adj" fmla="val 50000"/>
            </a:avLst>
          </a:prstGeom>
          <a:solidFill>
            <a:srgbClr val="FFFFFF"/>
          </a:solidFill>
          <a:ln w="12700">
            <a:solidFill>
              <a:srgbClr val="047857"/>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578" name="Text 16"/>
          <p:cNvSpPr/>
          <p:nvPr/>
        </p:nvSpPr>
        <p:spPr>
          <a:xfrm>
            <a:off x="8061840" y="1901880"/>
            <a:ext cx="1514520" cy="25560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20" b="1" u="none" strike="noStrike">
                <a:solidFill>
                  <a:srgbClr val="0F172A"/>
                </a:solidFill>
                <a:effectLst/>
                <a:uFillTx/>
                <a:latin typeface="Aptos"/>
              </a:rPr>
              <a:t>Datenbank</a:t>
            </a:r>
            <a:endParaRPr lang="de-DE" sz="920" b="0" u="none" strike="noStrike">
              <a:solidFill>
                <a:srgbClr val="000000"/>
              </a:solidFill>
              <a:effectLst/>
              <a:uFillTx/>
              <a:latin typeface="Arial"/>
            </a:endParaRPr>
          </a:p>
        </p:txBody>
      </p:sp>
      <p:sp>
        <p:nvSpPr>
          <p:cNvPr id="579" name="Shape 17"/>
          <p:cNvSpPr/>
          <p:nvPr/>
        </p:nvSpPr>
        <p:spPr>
          <a:xfrm>
            <a:off x="9814680" y="1691640"/>
            <a:ext cx="1660680" cy="731160"/>
          </a:xfrm>
          <a:prstGeom prst="chevron">
            <a:avLst>
              <a:gd name="adj" fmla="val 50000"/>
            </a:avLst>
          </a:prstGeom>
          <a:solidFill>
            <a:srgbClr val="FFFFFF"/>
          </a:solidFill>
          <a:ln w="12700">
            <a:solidFill>
              <a:srgbClr val="047857"/>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580" name="Text 18"/>
          <p:cNvSpPr/>
          <p:nvPr/>
        </p:nvSpPr>
        <p:spPr>
          <a:xfrm>
            <a:off x="9887760" y="1901880"/>
            <a:ext cx="1514520" cy="25560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20" b="1" u="none" strike="noStrike">
                <a:solidFill>
                  <a:srgbClr val="0F172A"/>
                </a:solidFill>
                <a:effectLst/>
                <a:uFillTx/>
                <a:latin typeface="Aptos"/>
              </a:rPr>
              <a:t>Response</a:t>
            </a:r>
            <a:endParaRPr lang="de-DE" sz="920" b="0" u="none" strike="noStrike">
              <a:solidFill>
                <a:srgbClr val="000000"/>
              </a:solidFill>
              <a:effectLst/>
              <a:uFillTx/>
              <a:latin typeface="Arial"/>
            </a:endParaRPr>
          </a:p>
        </p:txBody>
      </p:sp>
      <p:sp>
        <p:nvSpPr>
          <p:cNvPr id="581" name="Shape 19"/>
          <p:cNvSpPr/>
          <p:nvPr/>
        </p:nvSpPr>
        <p:spPr>
          <a:xfrm>
            <a:off x="868680" y="3246120"/>
            <a:ext cx="3108600" cy="1279800"/>
          </a:xfrm>
          <a:prstGeom prst="roundRect">
            <a:avLst>
              <a:gd name="adj" fmla="val 5714"/>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582" name="Text 20"/>
          <p:cNvSpPr/>
          <p:nvPr/>
        </p:nvSpPr>
        <p:spPr>
          <a:xfrm>
            <a:off x="1033200" y="3410640"/>
            <a:ext cx="41112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2563EB"/>
                </a:solidFill>
                <a:effectLst/>
                <a:uFillTx/>
                <a:latin typeface="Aptos"/>
              </a:rPr>
              <a:t>API</a:t>
            </a:r>
            <a:endParaRPr lang="de-DE" sz="1800" b="0" u="none" strike="noStrike">
              <a:solidFill>
                <a:srgbClr val="000000"/>
              </a:solidFill>
              <a:effectLst/>
              <a:uFillTx/>
              <a:latin typeface="Arial"/>
            </a:endParaRPr>
          </a:p>
        </p:txBody>
      </p:sp>
      <p:sp>
        <p:nvSpPr>
          <p:cNvPr id="583" name="Text 21"/>
          <p:cNvSpPr/>
          <p:nvPr/>
        </p:nvSpPr>
        <p:spPr>
          <a:xfrm>
            <a:off x="1527120" y="3429000"/>
            <a:ext cx="22856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Routen</a:t>
            </a:r>
            <a:endParaRPr lang="de-DE" sz="1350" b="0" u="none" strike="noStrike">
              <a:solidFill>
                <a:srgbClr val="000000"/>
              </a:solidFill>
              <a:effectLst/>
              <a:uFillTx/>
              <a:latin typeface="Arial"/>
            </a:endParaRPr>
          </a:p>
        </p:txBody>
      </p:sp>
      <p:sp>
        <p:nvSpPr>
          <p:cNvPr id="584" name="Text 22"/>
          <p:cNvSpPr/>
          <p:nvPr/>
        </p:nvSpPr>
        <p:spPr>
          <a:xfrm>
            <a:off x="1069920" y="3904560"/>
            <a:ext cx="2706120" cy="45684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60" b="0" u="none" strike="noStrike">
                <a:solidFill>
                  <a:srgbClr val="334155"/>
                </a:solidFill>
                <a:effectLst/>
                <a:uFillTx/>
                <a:latin typeface="Aptos"/>
              </a:rPr>
              <a:t>HTTP-Methoden, Statuscodes und Eingabeprüfung.</a:t>
            </a:r>
            <a:endParaRPr lang="de-DE" sz="960" b="0" u="none" strike="noStrike">
              <a:solidFill>
                <a:srgbClr val="000000"/>
              </a:solidFill>
              <a:effectLst/>
              <a:uFillTx/>
              <a:latin typeface="Arial"/>
            </a:endParaRPr>
          </a:p>
        </p:txBody>
      </p:sp>
      <p:sp>
        <p:nvSpPr>
          <p:cNvPr id="585" name="Shape 23"/>
          <p:cNvSpPr/>
          <p:nvPr/>
        </p:nvSpPr>
        <p:spPr>
          <a:xfrm>
            <a:off x="4343400" y="3246120"/>
            <a:ext cx="3108600" cy="1279800"/>
          </a:xfrm>
          <a:prstGeom prst="roundRect">
            <a:avLst>
              <a:gd name="adj" fmla="val 5714"/>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586" name="Text 24"/>
          <p:cNvSpPr/>
          <p:nvPr/>
        </p:nvSpPr>
        <p:spPr>
          <a:xfrm>
            <a:off x="4507920" y="3410640"/>
            <a:ext cx="41112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10B981"/>
                </a:solidFill>
                <a:effectLst/>
                <a:uFillTx/>
                <a:latin typeface="Aptos"/>
              </a:rPr>
              <a:t>⚙</a:t>
            </a:r>
            <a:endParaRPr lang="de-DE" sz="1800" b="0" u="none" strike="noStrike">
              <a:solidFill>
                <a:srgbClr val="000000"/>
              </a:solidFill>
              <a:effectLst/>
              <a:uFillTx/>
              <a:latin typeface="Arial"/>
            </a:endParaRPr>
          </a:p>
        </p:txBody>
      </p:sp>
      <p:sp>
        <p:nvSpPr>
          <p:cNvPr id="587" name="Text 25"/>
          <p:cNvSpPr/>
          <p:nvPr/>
        </p:nvSpPr>
        <p:spPr>
          <a:xfrm>
            <a:off x="5001840" y="3429000"/>
            <a:ext cx="22856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Services</a:t>
            </a:r>
            <a:endParaRPr lang="de-DE" sz="1350" b="0" u="none" strike="noStrike">
              <a:solidFill>
                <a:srgbClr val="000000"/>
              </a:solidFill>
              <a:effectLst/>
              <a:uFillTx/>
              <a:latin typeface="Arial"/>
            </a:endParaRPr>
          </a:p>
        </p:txBody>
      </p:sp>
      <p:sp>
        <p:nvSpPr>
          <p:cNvPr id="588" name="Text 26"/>
          <p:cNvSpPr/>
          <p:nvPr/>
        </p:nvSpPr>
        <p:spPr>
          <a:xfrm>
            <a:off x="4544640" y="3904560"/>
            <a:ext cx="2706120" cy="45684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60" b="0" u="none" strike="noStrike">
                <a:solidFill>
                  <a:srgbClr val="334155"/>
                </a:solidFill>
                <a:effectLst/>
                <a:uFillTx/>
                <a:latin typeface="Aptos"/>
              </a:rPr>
              <a:t>Datenbankzugriff, E-Mail-Versand und fachliche Operationen.</a:t>
            </a:r>
            <a:endParaRPr lang="de-DE" sz="960" b="0" u="none" strike="noStrike">
              <a:solidFill>
                <a:srgbClr val="000000"/>
              </a:solidFill>
              <a:effectLst/>
              <a:uFillTx/>
              <a:latin typeface="Arial"/>
            </a:endParaRPr>
          </a:p>
        </p:txBody>
      </p:sp>
      <p:sp>
        <p:nvSpPr>
          <p:cNvPr id="589" name="Shape 27"/>
          <p:cNvSpPr/>
          <p:nvPr/>
        </p:nvSpPr>
        <p:spPr>
          <a:xfrm>
            <a:off x="7818120" y="3246120"/>
            <a:ext cx="3108600" cy="1279800"/>
          </a:xfrm>
          <a:prstGeom prst="roundRect">
            <a:avLst>
              <a:gd name="adj" fmla="val 5714"/>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590" name="Text 28"/>
          <p:cNvSpPr/>
          <p:nvPr/>
        </p:nvSpPr>
        <p:spPr>
          <a:xfrm>
            <a:off x="7982640" y="3410640"/>
            <a:ext cx="41112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F59E0B"/>
                </a:solidFill>
                <a:effectLst/>
                <a:uFillTx/>
                <a:latin typeface="Aptos"/>
              </a:rPr>
              <a:t>DB</a:t>
            </a:r>
            <a:endParaRPr lang="de-DE" sz="1800" b="0" u="none" strike="noStrike">
              <a:solidFill>
                <a:srgbClr val="000000"/>
              </a:solidFill>
              <a:effectLst/>
              <a:uFillTx/>
              <a:latin typeface="Arial"/>
            </a:endParaRPr>
          </a:p>
        </p:txBody>
      </p:sp>
      <p:sp>
        <p:nvSpPr>
          <p:cNvPr id="591" name="Text 29"/>
          <p:cNvSpPr/>
          <p:nvPr/>
        </p:nvSpPr>
        <p:spPr>
          <a:xfrm>
            <a:off x="8476560" y="3429000"/>
            <a:ext cx="22856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Datenbank</a:t>
            </a:r>
            <a:endParaRPr lang="de-DE" sz="1350" b="0" u="none" strike="noStrike">
              <a:solidFill>
                <a:srgbClr val="000000"/>
              </a:solidFill>
              <a:effectLst/>
              <a:uFillTx/>
              <a:latin typeface="Arial"/>
            </a:endParaRPr>
          </a:p>
        </p:txBody>
      </p:sp>
      <p:sp>
        <p:nvSpPr>
          <p:cNvPr id="592" name="Text 30"/>
          <p:cNvSpPr/>
          <p:nvPr/>
        </p:nvSpPr>
        <p:spPr>
          <a:xfrm>
            <a:off x="8019360" y="3904560"/>
            <a:ext cx="2706120" cy="45684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60" b="0" u="none" strike="noStrike">
                <a:solidFill>
                  <a:srgbClr val="334155"/>
                </a:solidFill>
                <a:effectLst/>
                <a:uFillTx/>
                <a:latin typeface="Aptos"/>
              </a:rPr>
              <a:t>Persistenz und Zuordnung zu Nutzerkonten.</a:t>
            </a:r>
            <a:endParaRPr lang="de-DE" sz="96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593" name="Shape 0"/>
          <p:cNvSpPr/>
          <p:nvPr/>
        </p:nvSpPr>
        <p:spPr>
          <a:xfrm>
            <a:off x="0" y="0"/>
            <a:ext cx="12191400" cy="6857640"/>
          </a:xfrm>
          <a:prstGeom prst="rect">
            <a:avLst/>
          </a:prstGeom>
          <a:solidFill>
            <a:srgbClr val="F8FAFC"/>
          </a:solidFill>
          <a:ln w="12700">
            <a:solidFill>
              <a:srgbClr val="F8FAFC">
                <a:alpha val="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594" name="Shape 1"/>
          <p:cNvSpPr/>
          <p:nvPr/>
        </p:nvSpPr>
        <p:spPr>
          <a:xfrm>
            <a:off x="0" y="0"/>
            <a:ext cx="109440" cy="6857640"/>
          </a:xfrm>
          <a:prstGeom prst="rect">
            <a:avLst/>
          </a:prstGeom>
          <a:solidFill>
            <a:srgbClr val="10B981"/>
          </a:solidFill>
          <a:ln w="12700">
            <a:solidFill>
              <a:srgbClr val="10B981"/>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595" name="Text 2"/>
          <p:cNvSpPr/>
          <p:nvPr/>
        </p:nvSpPr>
        <p:spPr>
          <a:xfrm>
            <a:off x="594360" y="384120"/>
            <a:ext cx="9052200" cy="438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0F172A"/>
                </a:solidFill>
                <a:effectLst/>
                <a:uFillTx/>
                <a:latin typeface="Aptos Display"/>
                <a:ea typeface="Aptos Display"/>
              </a:rPr>
              <a:t>Registrierung und Login</a:t>
            </a:r>
            <a:endParaRPr lang="de-DE" sz="2400" b="0" u="none" strike="noStrike">
              <a:solidFill>
                <a:srgbClr val="000000"/>
              </a:solidFill>
              <a:effectLst/>
              <a:uFillTx/>
              <a:latin typeface="Arial"/>
            </a:endParaRPr>
          </a:p>
        </p:txBody>
      </p:sp>
      <p:sp>
        <p:nvSpPr>
          <p:cNvPr id="596" name="Text 3"/>
          <p:cNvSpPr/>
          <p:nvPr/>
        </p:nvSpPr>
        <p:spPr>
          <a:xfrm>
            <a:off x="612720" y="850320"/>
            <a:ext cx="96008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4748B"/>
                </a:solidFill>
                <a:effectLst/>
                <a:uFillTx/>
                <a:latin typeface="Aptos"/>
              </a:rPr>
              <a:t>Authentifizierung als zentraler Einstiegspunkt</a:t>
            </a:r>
            <a:endParaRPr lang="de-DE" sz="950" b="0" u="none" strike="noStrike">
              <a:solidFill>
                <a:srgbClr val="000000"/>
              </a:solidFill>
              <a:effectLst/>
              <a:uFillTx/>
              <a:latin typeface="Arial"/>
            </a:endParaRPr>
          </a:p>
        </p:txBody>
      </p:sp>
      <p:sp>
        <p:nvSpPr>
          <p:cNvPr id="597" name="Shape 4"/>
          <p:cNvSpPr/>
          <p:nvPr/>
        </p:nvSpPr>
        <p:spPr>
          <a:xfrm>
            <a:off x="502920" y="6473880"/>
            <a:ext cx="11201400" cy="360"/>
          </a:xfrm>
          <a:prstGeom prst="line">
            <a:avLst/>
          </a:prstGeom>
          <a:ln w="7620">
            <a:solidFill>
              <a:srgbClr val="CBD5E1">
                <a:alpha val="70000"/>
              </a:srgbClr>
            </a:solidFill>
            <a:round/>
          </a:ln>
        </p:spPr>
        <p:style>
          <a:lnRef idx="0"/>
          <a:fillRef idx="0"/>
          <a:effectRef idx="0"/>
          <a:fontRef idx="minor"/>
        </p:style>
        <p:txBody>
          <a:bodyPr lIns="90000" tIns="-44640" rIns="90000" bIns="-44640" anchor="t" anchorCtr="1">
            <a:noAutofit/>
          </a:bodyPr>
          <a:p>
            <a:endParaRPr lang="de-DE" sz="1800" b="0" u="none" strike="noStrike">
              <a:solidFill>
                <a:srgbClr val="000000"/>
              </a:solidFill>
              <a:effectLst/>
              <a:uFillTx/>
              <a:latin typeface="Arial"/>
            </a:endParaRPr>
          </a:p>
        </p:txBody>
      </p:sp>
      <p:sp>
        <p:nvSpPr>
          <p:cNvPr id="598" name="Text 5"/>
          <p:cNvSpPr/>
          <p:nvPr/>
        </p:nvSpPr>
        <p:spPr>
          <a:xfrm>
            <a:off x="567000" y="6519600"/>
            <a:ext cx="530316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4748B"/>
                </a:solidFill>
                <a:effectLst/>
                <a:uFillTx/>
                <a:latin typeface="Aptos"/>
                <a:ea typeface="Aptos"/>
              </a:rPr>
              <a:t>Teil 5 · Implementierung &amp; Sicherheit</a:t>
            </a:r>
            <a:endParaRPr lang="de-DE" sz="750" b="0" u="none" strike="noStrike">
              <a:solidFill>
                <a:srgbClr val="000000"/>
              </a:solidFill>
              <a:effectLst/>
              <a:uFillTx/>
              <a:latin typeface="Arial"/>
            </a:endParaRPr>
          </a:p>
        </p:txBody>
      </p:sp>
      <p:sp>
        <p:nvSpPr>
          <p:cNvPr id="599" name="Text 6"/>
          <p:cNvSpPr/>
          <p:nvPr/>
        </p:nvSpPr>
        <p:spPr>
          <a:xfrm>
            <a:off x="11201400" y="6519600"/>
            <a:ext cx="45684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50" b="0" u="none" strike="noStrike">
                <a:solidFill>
                  <a:srgbClr val="64748B"/>
                </a:solidFill>
                <a:effectLst/>
                <a:uFillTx/>
                <a:latin typeface="Aptos"/>
                <a:ea typeface="Aptos"/>
              </a:rPr>
              <a:t>31</a:t>
            </a:r>
            <a:endParaRPr lang="de-DE" sz="750" b="0" u="none" strike="noStrike">
              <a:solidFill>
                <a:srgbClr val="000000"/>
              </a:solidFill>
              <a:effectLst/>
              <a:uFillTx/>
              <a:latin typeface="Arial"/>
            </a:endParaRPr>
          </a:p>
        </p:txBody>
      </p:sp>
      <p:sp>
        <p:nvSpPr>
          <p:cNvPr id="600" name="Shape 7"/>
          <p:cNvSpPr/>
          <p:nvPr/>
        </p:nvSpPr>
        <p:spPr>
          <a:xfrm>
            <a:off x="731520" y="1371600"/>
            <a:ext cx="5120280" cy="4388760"/>
          </a:xfrm>
          <a:prstGeom prst="roundRect">
            <a:avLst>
              <a:gd name="adj" fmla="val 1667"/>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601" name="Text 8"/>
          <p:cNvSpPr/>
          <p:nvPr/>
        </p:nvSpPr>
        <p:spPr>
          <a:xfrm>
            <a:off x="932760" y="1554480"/>
            <a:ext cx="47361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Registrierung</a:t>
            </a:r>
            <a:endParaRPr lang="de-DE" sz="1350" b="0" u="none" strike="noStrike">
              <a:solidFill>
                <a:srgbClr val="000000"/>
              </a:solidFill>
              <a:effectLst/>
              <a:uFillTx/>
              <a:latin typeface="Arial"/>
            </a:endParaRPr>
          </a:p>
        </p:txBody>
      </p:sp>
      <p:sp>
        <p:nvSpPr>
          <p:cNvPr id="602" name="Text 9"/>
          <p:cNvSpPr/>
          <p:nvPr/>
        </p:nvSpPr>
        <p:spPr>
          <a:xfrm>
            <a:off x="987480" y="1993320"/>
            <a:ext cx="4617360" cy="342864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pPr>
            <a:r>
              <a:rPr lang="en-US" sz="1200" b="0" u="none" strike="noStrike">
                <a:solidFill>
                  <a:srgbClr val="334155"/>
                </a:solidFill>
                <a:effectLst/>
                <a:uFillTx/>
                <a:latin typeface="Aptos"/>
              </a:rPr>
              <a:t>Pflichtfelder prüfen</a:t>
            </a:r>
            <a:endParaRPr lang="de-DE" sz="1200" b="0" u="none" strike="noStrike">
              <a:solidFill>
                <a:srgbClr val="000000"/>
              </a:solidFill>
              <a:effectLst/>
              <a:uFillTx/>
              <a:latin typeface="Arial"/>
            </a:endParaRPr>
          </a:p>
          <a:p>
            <a:pPr defTabSz="914400">
              <a:lnSpc>
                <a:spcPct val="100000"/>
              </a:lnSpc>
            </a:pPr>
            <a:r>
              <a:rPr lang="en-US" sz="1200" b="0" u="none" strike="noStrike">
                <a:solidFill>
                  <a:srgbClr val="334155"/>
                </a:solidFill>
                <a:effectLst/>
                <a:uFillTx/>
                <a:latin typeface="Aptos"/>
              </a:rPr>
              <a:t>E-Mail normalisieren</a:t>
            </a:r>
            <a:endParaRPr lang="de-DE" sz="1200" b="0" u="none" strike="noStrike">
              <a:solidFill>
                <a:srgbClr val="000000"/>
              </a:solidFill>
              <a:effectLst/>
              <a:uFillTx/>
              <a:latin typeface="Arial"/>
            </a:endParaRPr>
          </a:p>
          <a:p>
            <a:pPr defTabSz="914400">
              <a:lnSpc>
                <a:spcPct val="100000"/>
              </a:lnSpc>
            </a:pPr>
            <a:r>
              <a:rPr lang="en-US" sz="1200" b="0" u="none" strike="noStrike">
                <a:solidFill>
                  <a:srgbClr val="334155"/>
                </a:solidFill>
                <a:effectLst/>
                <a:uFillTx/>
                <a:latin typeface="Aptos"/>
              </a:rPr>
              <a:t>Doppelte E-Mail verhindern</a:t>
            </a:r>
            <a:endParaRPr lang="de-DE" sz="1200" b="0" u="none" strike="noStrike">
              <a:solidFill>
                <a:srgbClr val="000000"/>
              </a:solidFill>
              <a:effectLst/>
              <a:uFillTx/>
              <a:latin typeface="Arial"/>
            </a:endParaRPr>
          </a:p>
          <a:p>
            <a:pPr defTabSz="914400">
              <a:lnSpc>
                <a:spcPct val="100000"/>
              </a:lnSpc>
            </a:pPr>
            <a:r>
              <a:rPr lang="en-US" sz="1200" b="0" u="none" strike="noStrike">
                <a:solidFill>
                  <a:srgbClr val="334155"/>
                </a:solidFill>
                <a:effectLst/>
                <a:uFillTx/>
                <a:latin typeface="Aptos"/>
              </a:rPr>
              <a:t>Passwort-Hash speichern</a:t>
            </a:r>
            <a:endParaRPr lang="de-DE" sz="1200" b="0" u="none" strike="noStrike">
              <a:solidFill>
                <a:srgbClr val="000000"/>
              </a:solidFill>
              <a:effectLst/>
              <a:uFillTx/>
              <a:latin typeface="Arial"/>
            </a:endParaRPr>
          </a:p>
          <a:p>
            <a:pPr defTabSz="914400">
              <a:lnSpc>
                <a:spcPct val="100000"/>
              </a:lnSpc>
            </a:pPr>
            <a:r>
              <a:rPr lang="en-US" sz="1200" b="0" u="none" strike="noStrike">
                <a:solidFill>
                  <a:srgbClr val="334155"/>
                </a:solidFill>
                <a:effectLst/>
                <a:uFillTx/>
                <a:latin typeface="Aptos"/>
              </a:rPr>
              <a:t>Status 201 bei Erfolg</a:t>
            </a:r>
            <a:endParaRPr lang="de-DE" sz="1200" b="0" u="none" strike="noStrike">
              <a:solidFill>
                <a:srgbClr val="000000"/>
              </a:solidFill>
              <a:effectLst/>
              <a:uFillTx/>
              <a:latin typeface="Arial"/>
            </a:endParaRPr>
          </a:p>
        </p:txBody>
      </p:sp>
      <p:sp>
        <p:nvSpPr>
          <p:cNvPr id="603" name="Shape 10"/>
          <p:cNvSpPr/>
          <p:nvPr/>
        </p:nvSpPr>
        <p:spPr>
          <a:xfrm>
            <a:off x="6309360" y="1371600"/>
            <a:ext cx="5120280" cy="4388760"/>
          </a:xfrm>
          <a:prstGeom prst="roundRect">
            <a:avLst>
              <a:gd name="adj" fmla="val 1667"/>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604" name="Text 11"/>
          <p:cNvSpPr/>
          <p:nvPr/>
        </p:nvSpPr>
        <p:spPr>
          <a:xfrm>
            <a:off x="6510600" y="1554480"/>
            <a:ext cx="47361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Login / Logout</a:t>
            </a:r>
            <a:endParaRPr lang="de-DE" sz="1350" b="0" u="none" strike="noStrike">
              <a:solidFill>
                <a:srgbClr val="000000"/>
              </a:solidFill>
              <a:effectLst/>
              <a:uFillTx/>
              <a:latin typeface="Arial"/>
            </a:endParaRPr>
          </a:p>
        </p:txBody>
      </p:sp>
      <p:sp>
        <p:nvSpPr>
          <p:cNvPr id="605" name="Text 12"/>
          <p:cNvSpPr/>
          <p:nvPr/>
        </p:nvSpPr>
        <p:spPr>
          <a:xfrm>
            <a:off x="6565320" y="1993320"/>
            <a:ext cx="4617360" cy="342864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pPr>
            <a:r>
              <a:rPr lang="en-US" sz="1200" b="0" u="none" strike="noStrike">
                <a:solidFill>
                  <a:srgbClr val="334155"/>
                </a:solidFill>
                <a:effectLst/>
                <a:uFillTx/>
                <a:latin typeface="Aptos"/>
              </a:rPr>
              <a:t>E-Mail und Passwort prüfen</a:t>
            </a:r>
            <a:endParaRPr lang="de-DE" sz="1200" b="0" u="none" strike="noStrike">
              <a:solidFill>
                <a:srgbClr val="000000"/>
              </a:solidFill>
              <a:effectLst/>
              <a:uFillTx/>
              <a:latin typeface="Arial"/>
            </a:endParaRPr>
          </a:p>
          <a:p>
            <a:pPr defTabSz="914400">
              <a:lnSpc>
                <a:spcPct val="100000"/>
              </a:lnSpc>
            </a:pPr>
            <a:r>
              <a:rPr lang="en-US" sz="1200" b="0" u="none" strike="noStrike">
                <a:solidFill>
                  <a:srgbClr val="334155"/>
                </a:solidFill>
                <a:effectLst/>
                <a:uFillTx/>
                <a:latin typeface="Aptos"/>
              </a:rPr>
              <a:t>bcrypt-Vergleich mit Hash</a:t>
            </a:r>
            <a:endParaRPr lang="de-DE" sz="1200" b="0" u="none" strike="noStrike">
              <a:solidFill>
                <a:srgbClr val="000000"/>
              </a:solidFill>
              <a:effectLst/>
              <a:uFillTx/>
              <a:latin typeface="Arial"/>
            </a:endParaRPr>
          </a:p>
          <a:p>
            <a:pPr defTabSz="914400">
              <a:lnSpc>
                <a:spcPct val="100000"/>
              </a:lnSpc>
            </a:pPr>
            <a:r>
              <a:rPr lang="en-US" sz="1200" b="0" u="none" strike="noStrike">
                <a:solidFill>
                  <a:srgbClr val="334155"/>
                </a:solidFill>
                <a:effectLst/>
                <a:uFillTx/>
                <a:latin typeface="Aptos"/>
              </a:rPr>
              <a:t>Session-Daten setzen</a:t>
            </a:r>
            <a:endParaRPr lang="de-DE" sz="1200" b="0" u="none" strike="noStrike">
              <a:solidFill>
                <a:srgbClr val="000000"/>
              </a:solidFill>
              <a:effectLst/>
              <a:uFillTx/>
              <a:latin typeface="Arial"/>
            </a:endParaRPr>
          </a:p>
          <a:p>
            <a:pPr defTabSz="914400">
              <a:lnSpc>
                <a:spcPct val="100000"/>
              </a:lnSpc>
            </a:pPr>
            <a:r>
              <a:rPr lang="en-US" sz="1200" b="0" u="none" strike="noStrike">
                <a:solidFill>
                  <a:srgbClr val="334155"/>
                </a:solidFill>
                <a:effectLst/>
                <a:uFillTx/>
                <a:latin typeface="Aptos"/>
              </a:rPr>
              <a:t>einheitliche Fehlermeldung</a:t>
            </a:r>
            <a:endParaRPr lang="de-DE" sz="1200" b="0" u="none" strike="noStrike">
              <a:solidFill>
                <a:srgbClr val="000000"/>
              </a:solidFill>
              <a:effectLst/>
              <a:uFillTx/>
              <a:latin typeface="Arial"/>
            </a:endParaRPr>
          </a:p>
          <a:p>
            <a:pPr defTabSz="914400">
              <a:lnSpc>
                <a:spcPct val="100000"/>
              </a:lnSpc>
            </a:pPr>
            <a:r>
              <a:rPr lang="en-US" sz="1200" b="0" u="none" strike="noStrike">
                <a:solidFill>
                  <a:srgbClr val="334155"/>
                </a:solidFill>
                <a:effectLst/>
                <a:uFillTx/>
                <a:latin typeface="Aptos"/>
              </a:rPr>
              <a:t>Session beim Logout löschen</a:t>
            </a:r>
            <a:endParaRPr lang="de-DE"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606" name="Shape 0"/>
          <p:cNvSpPr/>
          <p:nvPr/>
        </p:nvSpPr>
        <p:spPr>
          <a:xfrm>
            <a:off x="0" y="0"/>
            <a:ext cx="12191400" cy="6857640"/>
          </a:xfrm>
          <a:prstGeom prst="rect">
            <a:avLst/>
          </a:prstGeom>
          <a:solidFill>
            <a:srgbClr val="F8FAFC"/>
          </a:solidFill>
          <a:ln w="12700">
            <a:solidFill>
              <a:srgbClr val="F8FAFC">
                <a:alpha val="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607" name="Shape 1"/>
          <p:cNvSpPr/>
          <p:nvPr/>
        </p:nvSpPr>
        <p:spPr>
          <a:xfrm>
            <a:off x="0" y="0"/>
            <a:ext cx="109440" cy="6857640"/>
          </a:xfrm>
          <a:prstGeom prst="rect">
            <a:avLst/>
          </a:prstGeom>
          <a:solidFill>
            <a:srgbClr val="10B981"/>
          </a:solidFill>
          <a:ln w="12700">
            <a:solidFill>
              <a:srgbClr val="10B981"/>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608" name="Text 2"/>
          <p:cNvSpPr/>
          <p:nvPr/>
        </p:nvSpPr>
        <p:spPr>
          <a:xfrm>
            <a:off x="594360" y="384120"/>
            <a:ext cx="9052200" cy="438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0F172A"/>
                </a:solidFill>
                <a:effectLst/>
                <a:uFillTx/>
                <a:latin typeface="Aptos Display"/>
                <a:ea typeface="Aptos Display"/>
              </a:rPr>
              <a:t>Passwort zurücksetzen</a:t>
            </a:r>
            <a:endParaRPr lang="de-DE" sz="2400" b="0" u="none" strike="noStrike">
              <a:solidFill>
                <a:srgbClr val="000000"/>
              </a:solidFill>
              <a:effectLst/>
              <a:uFillTx/>
              <a:latin typeface="Arial"/>
            </a:endParaRPr>
          </a:p>
        </p:txBody>
      </p:sp>
      <p:sp>
        <p:nvSpPr>
          <p:cNvPr id="609" name="Text 3"/>
          <p:cNvSpPr/>
          <p:nvPr/>
        </p:nvSpPr>
        <p:spPr>
          <a:xfrm>
            <a:off x="612720" y="850320"/>
            <a:ext cx="96008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4748B"/>
                </a:solidFill>
                <a:effectLst/>
                <a:uFillTx/>
                <a:latin typeface="Aptos"/>
              </a:rPr>
              <a:t>Reset-Link mit gehashtem Token und Ablaufzeit</a:t>
            </a:r>
            <a:endParaRPr lang="de-DE" sz="950" b="0" u="none" strike="noStrike">
              <a:solidFill>
                <a:srgbClr val="000000"/>
              </a:solidFill>
              <a:effectLst/>
              <a:uFillTx/>
              <a:latin typeface="Arial"/>
            </a:endParaRPr>
          </a:p>
        </p:txBody>
      </p:sp>
      <p:sp>
        <p:nvSpPr>
          <p:cNvPr id="610" name="Shape 4"/>
          <p:cNvSpPr/>
          <p:nvPr/>
        </p:nvSpPr>
        <p:spPr>
          <a:xfrm>
            <a:off x="502920" y="6473880"/>
            <a:ext cx="11201400" cy="360"/>
          </a:xfrm>
          <a:prstGeom prst="line">
            <a:avLst/>
          </a:prstGeom>
          <a:ln w="7620">
            <a:solidFill>
              <a:srgbClr val="CBD5E1">
                <a:alpha val="70000"/>
              </a:srgbClr>
            </a:solidFill>
            <a:round/>
          </a:ln>
        </p:spPr>
        <p:style>
          <a:lnRef idx="0"/>
          <a:fillRef idx="0"/>
          <a:effectRef idx="0"/>
          <a:fontRef idx="minor"/>
        </p:style>
        <p:txBody>
          <a:bodyPr lIns="90000" tIns="-44640" rIns="90000" bIns="-44640" anchor="t" anchorCtr="1">
            <a:noAutofit/>
          </a:bodyPr>
          <a:p>
            <a:endParaRPr lang="de-DE" sz="1800" b="0" u="none" strike="noStrike">
              <a:solidFill>
                <a:srgbClr val="000000"/>
              </a:solidFill>
              <a:effectLst/>
              <a:uFillTx/>
              <a:latin typeface="Arial"/>
            </a:endParaRPr>
          </a:p>
        </p:txBody>
      </p:sp>
      <p:sp>
        <p:nvSpPr>
          <p:cNvPr id="611" name="Text 5"/>
          <p:cNvSpPr/>
          <p:nvPr/>
        </p:nvSpPr>
        <p:spPr>
          <a:xfrm>
            <a:off x="567000" y="6519600"/>
            <a:ext cx="530316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4748B"/>
                </a:solidFill>
                <a:effectLst/>
                <a:uFillTx/>
                <a:latin typeface="Aptos"/>
                <a:ea typeface="Aptos"/>
              </a:rPr>
              <a:t>Teil 5 · Implementierung &amp; Sicherheit</a:t>
            </a:r>
            <a:endParaRPr lang="de-DE" sz="750" b="0" u="none" strike="noStrike">
              <a:solidFill>
                <a:srgbClr val="000000"/>
              </a:solidFill>
              <a:effectLst/>
              <a:uFillTx/>
              <a:latin typeface="Arial"/>
            </a:endParaRPr>
          </a:p>
        </p:txBody>
      </p:sp>
      <p:sp>
        <p:nvSpPr>
          <p:cNvPr id="612" name="Text 6"/>
          <p:cNvSpPr/>
          <p:nvPr/>
        </p:nvSpPr>
        <p:spPr>
          <a:xfrm>
            <a:off x="11201400" y="6519600"/>
            <a:ext cx="45684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50" b="0" u="none" strike="noStrike">
                <a:solidFill>
                  <a:srgbClr val="64748B"/>
                </a:solidFill>
                <a:effectLst/>
                <a:uFillTx/>
                <a:latin typeface="Aptos"/>
                <a:ea typeface="Aptos"/>
              </a:rPr>
              <a:t>32</a:t>
            </a:r>
            <a:endParaRPr lang="de-DE" sz="750" b="0" u="none" strike="noStrike">
              <a:solidFill>
                <a:srgbClr val="000000"/>
              </a:solidFill>
              <a:effectLst/>
              <a:uFillTx/>
              <a:latin typeface="Arial"/>
            </a:endParaRPr>
          </a:p>
        </p:txBody>
      </p:sp>
      <p:sp>
        <p:nvSpPr>
          <p:cNvPr id="613" name="Shape 7"/>
          <p:cNvSpPr/>
          <p:nvPr/>
        </p:nvSpPr>
        <p:spPr>
          <a:xfrm>
            <a:off x="640080" y="1600200"/>
            <a:ext cx="1676160" cy="731160"/>
          </a:xfrm>
          <a:prstGeom prst="chevron">
            <a:avLst>
              <a:gd name="adj" fmla="val 50000"/>
            </a:avLst>
          </a:prstGeom>
          <a:solidFill>
            <a:srgbClr val="F59E0B"/>
          </a:solidFill>
          <a:ln w="12700">
            <a:solidFill>
              <a:srgbClr val="F59E0B"/>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614" name="Text 8"/>
          <p:cNvSpPr/>
          <p:nvPr/>
        </p:nvSpPr>
        <p:spPr>
          <a:xfrm>
            <a:off x="713160" y="1810440"/>
            <a:ext cx="1529640" cy="25560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20" b="1" u="none" strike="noStrike">
                <a:solidFill>
                  <a:srgbClr val="FFFFFF"/>
                </a:solidFill>
                <a:effectLst/>
                <a:uFillTx/>
                <a:latin typeface="Aptos"/>
              </a:rPr>
              <a:t>E-Mail eingeben</a:t>
            </a:r>
            <a:endParaRPr lang="de-DE" sz="920" b="0" u="none" strike="noStrike">
              <a:solidFill>
                <a:srgbClr val="000000"/>
              </a:solidFill>
              <a:effectLst/>
              <a:uFillTx/>
              <a:latin typeface="Arial"/>
            </a:endParaRPr>
          </a:p>
        </p:txBody>
      </p:sp>
      <p:sp>
        <p:nvSpPr>
          <p:cNvPr id="615" name="Shape 9"/>
          <p:cNvSpPr/>
          <p:nvPr/>
        </p:nvSpPr>
        <p:spPr>
          <a:xfrm>
            <a:off x="2481120" y="1600200"/>
            <a:ext cx="1676160" cy="731160"/>
          </a:xfrm>
          <a:prstGeom prst="chevron">
            <a:avLst>
              <a:gd name="adj" fmla="val 50000"/>
            </a:avLst>
          </a:prstGeom>
          <a:solidFill>
            <a:srgbClr val="FFFFFF"/>
          </a:solidFill>
          <a:ln w="12700">
            <a:solidFill>
              <a:srgbClr val="F59E0B"/>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616" name="Text 10"/>
          <p:cNvSpPr/>
          <p:nvPr/>
        </p:nvSpPr>
        <p:spPr>
          <a:xfrm>
            <a:off x="2554200" y="1810440"/>
            <a:ext cx="1529640" cy="25560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20" b="1" u="none" strike="noStrike">
                <a:solidFill>
                  <a:srgbClr val="0F172A"/>
                </a:solidFill>
                <a:effectLst/>
                <a:uFillTx/>
                <a:latin typeface="Aptos"/>
              </a:rPr>
              <a:t>Token erzeugen</a:t>
            </a:r>
            <a:endParaRPr lang="de-DE" sz="920" b="0" u="none" strike="noStrike">
              <a:solidFill>
                <a:srgbClr val="000000"/>
              </a:solidFill>
              <a:effectLst/>
              <a:uFillTx/>
              <a:latin typeface="Arial"/>
            </a:endParaRPr>
          </a:p>
        </p:txBody>
      </p:sp>
      <p:sp>
        <p:nvSpPr>
          <p:cNvPr id="617" name="Shape 11"/>
          <p:cNvSpPr/>
          <p:nvPr/>
        </p:nvSpPr>
        <p:spPr>
          <a:xfrm>
            <a:off x="4322160" y="1600200"/>
            <a:ext cx="1676160" cy="731160"/>
          </a:xfrm>
          <a:prstGeom prst="chevron">
            <a:avLst>
              <a:gd name="adj" fmla="val 50000"/>
            </a:avLst>
          </a:prstGeom>
          <a:solidFill>
            <a:srgbClr val="FFFFFF"/>
          </a:solidFill>
          <a:ln w="12700">
            <a:solidFill>
              <a:srgbClr val="F59E0B"/>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618" name="Text 12"/>
          <p:cNvSpPr/>
          <p:nvPr/>
        </p:nvSpPr>
        <p:spPr>
          <a:xfrm>
            <a:off x="4395240" y="1810440"/>
            <a:ext cx="1529640" cy="25560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20" b="1" u="none" strike="noStrike">
                <a:solidFill>
                  <a:srgbClr val="0F172A"/>
                </a:solidFill>
                <a:effectLst/>
                <a:uFillTx/>
                <a:latin typeface="Aptos"/>
              </a:rPr>
              <a:t>Hash speichern</a:t>
            </a:r>
            <a:endParaRPr lang="de-DE" sz="920" b="0" u="none" strike="noStrike">
              <a:solidFill>
                <a:srgbClr val="000000"/>
              </a:solidFill>
              <a:effectLst/>
              <a:uFillTx/>
              <a:latin typeface="Arial"/>
            </a:endParaRPr>
          </a:p>
        </p:txBody>
      </p:sp>
      <p:sp>
        <p:nvSpPr>
          <p:cNvPr id="619" name="Shape 13"/>
          <p:cNvSpPr/>
          <p:nvPr/>
        </p:nvSpPr>
        <p:spPr>
          <a:xfrm>
            <a:off x="6163200" y="1600200"/>
            <a:ext cx="1676160" cy="731160"/>
          </a:xfrm>
          <a:prstGeom prst="chevron">
            <a:avLst>
              <a:gd name="adj" fmla="val 50000"/>
            </a:avLst>
          </a:prstGeom>
          <a:solidFill>
            <a:srgbClr val="FFFFFF"/>
          </a:solidFill>
          <a:ln w="12700">
            <a:solidFill>
              <a:srgbClr val="F59E0B"/>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620" name="Text 14"/>
          <p:cNvSpPr/>
          <p:nvPr/>
        </p:nvSpPr>
        <p:spPr>
          <a:xfrm>
            <a:off x="6236280" y="1810440"/>
            <a:ext cx="1529640" cy="25560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20" b="1" u="none" strike="noStrike">
                <a:solidFill>
                  <a:srgbClr val="0F172A"/>
                </a:solidFill>
                <a:effectLst/>
                <a:uFillTx/>
                <a:latin typeface="Aptos"/>
              </a:rPr>
              <a:t>Link senden</a:t>
            </a:r>
            <a:endParaRPr lang="de-DE" sz="920" b="0" u="none" strike="noStrike">
              <a:solidFill>
                <a:srgbClr val="000000"/>
              </a:solidFill>
              <a:effectLst/>
              <a:uFillTx/>
              <a:latin typeface="Arial"/>
            </a:endParaRPr>
          </a:p>
        </p:txBody>
      </p:sp>
      <p:sp>
        <p:nvSpPr>
          <p:cNvPr id="621" name="Shape 15"/>
          <p:cNvSpPr/>
          <p:nvPr/>
        </p:nvSpPr>
        <p:spPr>
          <a:xfrm>
            <a:off x="8003880" y="1600200"/>
            <a:ext cx="1676160" cy="731160"/>
          </a:xfrm>
          <a:prstGeom prst="chevron">
            <a:avLst>
              <a:gd name="adj" fmla="val 50000"/>
            </a:avLst>
          </a:prstGeom>
          <a:solidFill>
            <a:srgbClr val="FFFFFF"/>
          </a:solidFill>
          <a:ln w="12700">
            <a:solidFill>
              <a:srgbClr val="F59E0B"/>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622" name="Text 16"/>
          <p:cNvSpPr/>
          <p:nvPr/>
        </p:nvSpPr>
        <p:spPr>
          <a:xfrm>
            <a:off x="8077320" y="1810440"/>
            <a:ext cx="1529640" cy="25560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20" b="1" u="none" strike="noStrike">
                <a:solidFill>
                  <a:srgbClr val="0F172A"/>
                </a:solidFill>
                <a:effectLst/>
                <a:uFillTx/>
                <a:latin typeface="Aptos"/>
              </a:rPr>
              <a:t>Token prüfen</a:t>
            </a:r>
            <a:endParaRPr lang="de-DE" sz="920" b="0" u="none" strike="noStrike">
              <a:solidFill>
                <a:srgbClr val="000000"/>
              </a:solidFill>
              <a:effectLst/>
              <a:uFillTx/>
              <a:latin typeface="Arial"/>
            </a:endParaRPr>
          </a:p>
        </p:txBody>
      </p:sp>
      <p:sp>
        <p:nvSpPr>
          <p:cNvPr id="623" name="Shape 17"/>
          <p:cNvSpPr/>
          <p:nvPr/>
        </p:nvSpPr>
        <p:spPr>
          <a:xfrm>
            <a:off x="9844920" y="1600200"/>
            <a:ext cx="1676160" cy="731160"/>
          </a:xfrm>
          <a:prstGeom prst="chevron">
            <a:avLst>
              <a:gd name="adj" fmla="val 50000"/>
            </a:avLst>
          </a:prstGeom>
          <a:solidFill>
            <a:srgbClr val="FFFFFF"/>
          </a:solidFill>
          <a:ln w="12700">
            <a:solidFill>
              <a:srgbClr val="F59E0B"/>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624" name="Text 18"/>
          <p:cNvSpPr/>
          <p:nvPr/>
        </p:nvSpPr>
        <p:spPr>
          <a:xfrm>
            <a:off x="9918360" y="1810440"/>
            <a:ext cx="1529640" cy="25560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20" b="1" u="none" strike="noStrike">
                <a:solidFill>
                  <a:srgbClr val="0F172A"/>
                </a:solidFill>
                <a:effectLst/>
                <a:uFillTx/>
                <a:latin typeface="Aptos"/>
              </a:rPr>
              <a:t>Passwort setzen</a:t>
            </a:r>
            <a:endParaRPr lang="de-DE" sz="920" b="0" u="none" strike="noStrike">
              <a:solidFill>
                <a:srgbClr val="000000"/>
              </a:solidFill>
              <a:effectLst/>
              <a:uFillTx/>
              <a:latin typeface="Arial"/>
            </a:endParaRPr>
          </a:p>
        </p:txBody>
      </p:sp>
      <p:sp>
        <p:nvSpPr>
          <p:cNvPr id="625" name="Shape 19"/>
          <p:cNvSpPr/>
          <p:nvPr/>
        </p:nvSpPr>
        <p:spPr>
          <a:xfrm>
            <a:off x="868680" y="3200400"/>
            <a:ext cx="3337200" cy="1325520"/>
          </a:xfrm>
          <a:prstGeom prst="roundRect">
            <a:avLst>
              <a:gd name="adj" fmla="val 5517"/>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626" name="Text 20"/>
          <p:cNvSpPr/>
          <p:nvPr/>
        </p:nvSpPr>
        <p:spPr>
          <a:xfrm>
            <a:off x="1033200" y="3364920"/>
            <a:ext cx="41112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10B981"/>
                </a:solidFill>
                <a:effectLst/>
                <a:uFillTx/>
                <a:latin typeface="Aptos"/>
              </a:rPr>
              <a:t>🛡</a:t>
            </a:r>
            <a:endParaRPr lang="de-DE" sz="1800" b="0" u="none" strike="noStrike">
              <a:solidFill>
                <a:srgbClr val="000000"/>
              </a:solidFill>
              <a:effectLst/>
              <a:uFillTx/>
              <a:latin typeface="Arial"/>
            </a:endParaRPr>
          </a:p>
        </p:txBody>
      </p:sp>
      <p:sp>
        <p:nvSpPr>
          <p:cNvPr id="627" name="Text 21"/>
          <p:cNvSpPr/>
          <p:nvPr/>
        </p:nvSpPr>
        <p:spPr>
          <a:xfrm>
            <a:off x="1527120" y="3383280"/>
            <a:ext cx="2514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Schutz gegen Account-Enumeration</a:t>
            </a:r>
            <a:endParaRPr lang="de-DE" sz="1350" b="0" u="none" strike="noStrike">
              <a:solidFill>
                <a:srgbClr val="000000"/>
              </a:solidFill>
              <a:effectLst/>
              <a:uFillTx/>
              <a:latin typeface="Arial"/>
            </a:endParaRPr>
          </a:p>
        </p:txBody>
      </p:sp>
      <p:sp>
        <p:nvSpPr>
          <p:cNvPr id="628" name="Text 22"/>
          <p:cNvSpPr/>
          <p:nvPr/>
        </p:nvSpPr>
        <p:spPr>
          <a:xfrm>
            <a:off x="1069920" y="3858840"/>
            <a:ext cx="2934720" cy="5025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60" b="0" u="none" strike="noStrike">
                <a:solidFill>
                  <a:srgbClr val="334155"/>
                </a:solidFill>
                <a:effectLst/>
                <a:uFillTx/>
                <a:latin typeface="Aptos"/>
              </a:rPr>
              <a:t>Die Antwort ist gleich, egal ob die E-Mail existiert.</a:t>
            </a:r>
            <a:endParaRPr lang="de-DE" sz="960" b="0" u="none" strike="noStrike">
              <a:solidFill>
                <a:srgbClr val="000000"/>
              </a:solidFill>
              <a:effectLst/>
              <a:uFillTx/>
              <a:latin typeface="Arial"/>
            </a:endParaRPr>
          </a:p>
        </p:txBody>
      </p:sp>
      <p:sp>
        <p:nvSpPr>
          <p:cNvPr id="629" name="Shape 23"/>
          <p:cNvSpPr/>
          <p:nvPr/>
        </p:nvSpPr>
        <p:spPr>
          <a:xfrm>
            <a:off x="4480560" y="3200400"/>
            <a:ext cx="3337200" cy="1325520"/>
          </a:xfrm>
          <a:prstGeom prst="roundRect">
            <a:avLst>
              <a:gd name="adj" fmla="val 5517"/>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630" name="Text 24"/>
          <p:cNvSpPr/>
          <p:nvPr/>
        </p:nvSpPr>
        <p:spPr>
          <a:xfrm>
            <a:off x="4645080" y="3364920"/>
            <a:ext cx="41112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2563EB"/>
                </a:solidFill>
                <a:effectLst/>
                <a:uFillTx/>
                <a:latin typeface="Aptos"/>
              </a:rPr>
              <a:t>#</a:t>
            </a:r>
            <a:endParaRPr lang="de-DE" sz="1800" b="0" u="none" strike="noStrike">
              <a:solidFill>
                <a:srgbClr val="000000"/>
              </a:solidFill>
              <a:effectLst/>
              <a:uFillTx/>
              <a:latin typeface="Arial"/>
            </a:endParaRPr>
          </a:p>
        </p:txBody>
      </p:sp>
      <p:sp>
        <p:nvSpPr>
          <p:cNvPr id="631" name="Text 25"/>
          <p:cNvSpPr/>
          <p:nvPr/>
        </p:nvSpPr>
        <p:spPr>
          <a:xfrm>
            <a:off x="5139000" y="3383280"/>
            <a:ext cx="2514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Token nicht im Klartext</a:t>
            </a:r>
            <a:endParaRPr lang="de-DE" sz="1350" b="0" u="none" strike="noStrike">
              <a:solidFill>
                <a:srgbClr val="000000"/>
              </a:solidFill>
              <a:effectLst/>
              <a:uFillTx/>
              <a:latin typeface="Arial"/>
            </a:endParaRPr>
          </a:p>
        </p:txBody>
      </p:sp>
      <p:sp>
        <p:nvSpPr>
          <p:cNvPr id="632" name="Text 26"/>
          <p:cNvSpPr/>
          <p:nvPr/>
        </p:nvSpPr>
        <p:spPr>
          <a:xfrm>
            <a:off x="4681800" y="3858840"/>
            <a:ext cx="2934720" cy="5025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60" b="0" u="none" strike="noStrike">
                <a:solidFill>
                  <a:srgbClr val="334155"/>
                </a:solidFill>
                <a:effectLst/>
                <a:uFillTx/>
                <a:latin typeface="Aptos"/>
              </a:rPr>
              <a:t>In der Datenbank liegt nur der Hash des Reset-Tokens.</a:t>
            </a:r>
            <a:endParaRPr lang="de-DE" sz="960" b="0" u="none" strike="noStrike">
              <a:solidFill>
                <a:srgbClr val="000000"/>
              </a:solidFill>
              <a:effectLst/>
              <a:uFillTx/>
              <a:latin typeface="Arial"/>
            </a:endParaRPr>
          </a:p>
        </p:txBody>
      </p:sp>
      <p:sp>
        <p:nvSpPr>
          <p:cNvPr id="633" name="Shape 27"/>
          <p:cNvSpPr/>
          <p:nvPr/>
        </p:nvSpPr>
        <p:spPr>
          <a:xfrm>
            <a:off x="8092440" y="3200400"/>
            <a:ext cx="3337200" cy="1325520"/>
          </a:xfrm>
          <a:prstGeom prst="roundRect">
            <a:avLst>
              <a:gd name="adj" fmla="val 5517"/>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634" name="Text 28"/>
          <p:cNvSpPr/>
          <p:nvPr/>
        </p:nvSpPr>
        <p:spPr>
          <a:xfrm>
            <a:off x="8256960" y="3364920"/>
            <a:ext cx="41112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E11D48"/>
                </a:solidFill>
                <a:effectLst/>
                <a:uFillTx/>
                <a:latin typeface="Aptos"/>
              </a:rPr>
              <a:t>⏱</a:t>
            </a:r>
            <a:endParaRPr lang="de-DE" sz="1800" b="0" u="none" strike="noStrike">
              <a:solidFill>
                <a:srgbClr val="000000"/>
              </a:solidFill>
              <a:effectLst/>
              <a:uFillTx/>
              <a:latin typeface="Arial"/>
            </a:endParaRPr>
          </a:p>
        </p:txBody>
      </p:sp>
      <p:sp>
        <p:nvSpPr>
          <p:cNvPr id="635" name="Text 29"/>
          <p:cNvSpPr/>
          <p:nvPr/>
        </p:nvSpPr>
        <p:spPr>
          <a:xfrm>
            <a:off x="8750880" y="3383280"/>
            <a:ext cx="2514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Zeitlich begrenzt</a:t>
            </a:r>
            <a:endParaRPr lang="de-DE" sz="1350" b="0" u="none" strike="noStrike">
              <a:solidFill>
                <a:srgbClr val="000000"/>
              </a:solidFill>
              <a:effectLst/>
              <a:uFillTx/>
              <a:latin typeface="Arial"/>
            </a:endParaRPr>
          </a:p>
        </p:txBody>
      </p:sp>
      <p:sp>
        <p:nvSpPr>
          <p:cNvPr id="636" name="Text 30"/>
          <p:cNvSpPr/>
          <p:nvPr/>
        </p:nvSpPr>
        <p:spPr>
          <a:xfrm>
            <a:off x="8293680" y="3858840"/>
            <a:ext cx="2934720" cy="5025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60" b="0" u="none" strike="noStrike">
                <a:solidFill>
                  <a:srgbClr val="334155"/>
                </a:solidFill>
                <a:effectLst/>
                <a:uFillTx/>
                <a:latin typeface="Aptos"/>
              </a:rPr>
              <a:t>Der Link ist 30 Minuten gültig.</a:t>
            </a:r>
            <a:endParaRPr lang="de-DE" sz="96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637" name="Shape 0"/>
          <p:cNvSpPr/>
          <p:nvPr/>
        </p:nvSpPr>
        <p:spPr>
          <a:xfrm>
            <a:off x="0" y="0"/>
            <a:ext cx="12191400" cy="6857640"/>
          </a:xfrm>
          <a:prstGeom prst="rect">
            <a:avLst/>
          </a:prstGeom>
          <a:solidFill>
            <a:srgbClr val="F8FAFC"/>
          </a:solidFill>
          <a:ln w="12700">
            <a:solidFill>
              <a:srgbClr val="F8FAFC">
                <a:alpha val="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638" name="Shape 1"/>
          <p:cNvSpPr/>
          <p:nvPr/>
        </p:nvSpPr>
        <p:spPr>
          <a:xfrm>
            <a:off x="0" y="0"/>
            <a:ext cx="109440" cy="6857640"/>
          </a:xfrm>
          <a:prstGeom prst="rect">
            <a:avLst/>
          </a:prstGeom>
          <a:solidFill>
            <a:srgbClr val="10B981"/>
          </a:solidFill>
          <a:ln w="12700">
            <a:solidFill>
              <a:srgbClr val="10B981"/>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639" name="Text 2"/>
          <p:cNvSpPr/>
          <p:nvPr/>
        </p:nvSpPr>
        <p:spPr>
          <a:xfrm>
            <a:off x="594360" y="384120"/>
            <a:ext cx="9052200" cy="438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0F172A"/>
                </a:solidFill>
                <a:effectLst/>
                <a:uFillTx/>
                <a:latin typeface="Aptos Display"/>
                <a:ea typeface="Aptos Display"/>
              </a:rPr>
              <a:t>Sicherheitsmaßnahmen im Prototyp</a:t>
            </a:r>
            <a:endParaRPr lang="de-DE" sz="2400" b="0" u="none" strike="noStrike">
              <a:solidFill>
                <a:srgbClr val="000000"/>
              </a:solidFill>
              <a:effectLst/>
              <a:uFillTx/>
              <a:latin typeface="Arial"/>
            </a:endParaRPr>
          </a:p>
        </p:txBody>
      </p:sp>
      <p:sp>
        <p:nvSpPr>
          <p:cNvPr id="640" name="Text 3"/>
          <p:cNvSpPr/>
          <p:nvPr/>
        </p:nvSpPr>
        <p:spPr>
          <a:xfrm>
            <a:off x="612720" y="850320"/>
            <a:ext cx="96008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4748B"/>
                </a:solidFill>
                <a:effectLst/>
                <a:uFillTx/>
                <a:latin typeface="Aptos"/>
              </a:rPr>
              <a:t>Was bereits umgesetzt ist und was noch fehlt</a:t>
            </a:r>
            <a:endParaRPr lang="de-DE" sz="950" b="0" u="none" strike="noStrike">
              <a:solidFill>
                <a:srgbClr val="000000"/>
              </a:solidFill>
              <a:effectLst/>
              <a:uFillTx/>
              <a:latin typeface="Arial"/>
            </a:endParaRPr>
          </a:p>
        </p:txBody>
      </p:sp>
      <p:sp>
        <p:nvSpPr>
          <p:cNvPr id="641" name="Shape 4"/>
          <p:cNvSpPr/>
          <p:nvPr/>
        </p:nvSpPr>
        <p:spPr>
          <a:xfrm>
            <a:off x="502920" y="6473880"/>
            <a:ext cx="11201400" cy="360"/>
          </a:xfrm>
          <a:prstGeom prst="line">
            <a:avLst/>
          </a:prstGeom>
          <a:ln w="7620">
            <a:solidFill>
              <a:srgbClr val="CBD5E1">
                <a:alpha val="70000"/>
              </a:srgbClr>
            </a:solidFill>
            <a:round/>
          </a:ln>
        </p:spPr>
        <p:style>
          <a:lnRef idx="0"/>
          <a:fillRef idx="0"/>
          <a:effectRef idx="0"/>
          <a:fontRef idx="minor"/>
        </p:style>
        <p:txBody>
          <a:bodyPr lIns="90000" tIns="-44640" rIns="90000" bIns="-44640" anchor="t" anchorCtr="1">
            <a:noAutofit/>
          </a:bodyPr>
          <a:p>
            <a:endParaRPr lang="de-DE" sz="1800" b="0" u="none" strike="noStrike">
              <a:solidFill>
                <a:srgbClr val="000000"/>
              </a:solidFill>
              <a:effectLst/>
              <a:uFillTx/>
              <a:latin typeface="Arial"/>
            </a:endParaRPr>
          </a:p>
        </p:txBody>
      </p:sp>
      <p:sp>
        <p:nvSpPr>
          <p:cNvPr id="642" name="Text 5"/>
          <p:cNvSpPr/>
          <p:nvPr/>
        </p:nvSpPr>
        <p:spPr>
          <a:xfrm>
            <a:off x="567000" y="6519600"/>
            <a:ext cx="530316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4748B"/>
                </a:solidFill>
                <a:effectLst/>
                <a:uFillTx/>
                <a:latin typeface="Aptos"/>
                <a:ea typeface="Aptos"/>
              </a:rPr>
              <a:t>Teil 5 · Implementierung &amp; Sicherheit</a:t>
            </a:r>
            <a:endParaRPr lang="de-DE" sz="750" b="0" u="none" strike="noStrike">
              <a:solidFill>
                <a:srgbClr val="000000"/>
              </a:solidFill>
              <a:effectLst/>
              <a:uFillTx/>
              <a:latin typeface="Arial"/>
            </a:endParaRPr>
          </a:p>
        </p:txBody>
      </p:sp>
      <p:sp>
        <p:nvSpPr>
          <p:cNvPr id="643" name="Text 6"/>
          <p:cNvSpPr/>
          <p:nvPr/>
        </p:nvSpPr>
        <p:spPr>
          <a:xfrm>
            <a:off x="11201400" y="6519600"/>
            <a:ext cx="45684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50" b="0" u="none" strike="noStrike">
                <a:solidFill>
                  <a:srgbClr val="64748B"/>
                </a:solidFill>
                <a:effectLst/>
                <a:uFillTx/>
                <a:latin typeface="Aptos"/>
                <a:ea typeface="Aptos"/>
              </a:rPr>
              <a:t>33</a:t>
            </a:r>
            <a:endParaRPr lang="de-DE" sz="750" b="0" u="none" strike="noStrike">
              <a:solidFill>
                <a:srgbClr val="000000"/>
              </a:solidFill>
              <a:effectLst/>
              <a:uFillTx/>
              <a:latin typeface="Arial"/>
            </a:endParaRPr>
          </a:p>
        </p:txBody>
      </p:sp>
      <p:sp>
        <p:nvSpPr>
          <p:cNvPr id="644" name="Shape 7"/>
          <p:cNvSpPr/>
          <p:nvPr/>
        </p:nvSpPr>
        <p:spPr>
          <a:xfrm>
            <a:off x="731520" y="1371600"/>
            <a:ext cx="5120280" cy="4388760"/>
          </a:xfrm>
          <a:prstGeom prst="roundRect">
            <a:avLst>
              <a:gd name="adj" fmla="val 1667"/>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645" name="Text 8"/>
          <p:cNvSpPr/>
          <p:nvPr/>
        </p:nvSpPr>
        <p:spPr>
          <a:xfrm>
            <a:off x="932760" y="1554480"/>
            <a:ext cx="47361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Bereits vorhanden</a:t>
            </a:r>
            <a:endParaRPr lang="de-DE" sz="1350" b="0" u="none" strike="noStrike">
              <a:solidFill>
                <a:srgbClr val="000000"/>
              </a:solidFill>
              <a:effectLst/>
              <a:uFillTx/>
              <a:latin typeface="Arial"/>
            </a:endParaRPr>
          </a:p>
        </p:txBody>
      </p:sp>
      <p:sp>
        <p:nvSpPr>
          <p:cNvPr id="646" name="Text 9"/>
          <p:cNvSpPr/>
          <p:nvPr/>
        </p:nvSpPr>
        <p:spPr>
          <a:xfrm>
            <a:off x="987480" y="1993320"/>
            <a:ext cx="4617360" cy="342864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pPr>
            <a:r>
              <a:rPr lang="en-US" sz="1200" b="0" u="none" strike="noStrike">
                <a:solidFill>
                  <a:srgbClr val="334155"/>
                </a:solidFill>
                <a:effectLst/>
                <a:uFillTx/>
                <a:latin typeface="Aptos"/>
              </a:rPr>
              <a:t>bcrypt für Passwort-Hashes</a:t>
            </a:r>
            <a:endParaRPr lang="de-DE" sz="1200" b="0" u="none" strike="noStrike">
              <a:solidFill>
                <a:srgbClr val="000000"/>
              </a:solidFill>
              <a:effectLst/>
              <a:uFillTx/>
              <a:latin typeface="Arial"/>
            </a:endParaRPr>
          </a:p>
          <a:p>
            <a:pPr defTabSz="914400">
              <a:lnSpc>
                <a:spcPct val="100000"/>
              </a:lnSpc>
            </a:pPr>
            <a:r>
              <a:rPr lang="en-US" sz="1200" b="0" u="none" strike="noStrike">
                <a:solidFill>
                  <a:srgbClr val="334155"/>
                </a:solidFill>
                <a:effectLst/>
                <a:uFillTx/>
                <a:latin typeface="Aptos"/>
              </a:rPr>
              <a:t>Sessions für angemeldete Nutzer</a:t>
            </a:r>
            <a:endParaRPr lang="de-DE" sz="1200" b="0" u="none" strike="noStrike">
              <a:solidFill>
                <a:srgbClr val="000000"/>
              </a:solidFill>
              <a:effectLst/>
              <a:uFillTx/>
              <a:latin typeface="Arial"/>
            </a:endParaRPr>
          </a:p>
          <a:p>
            <a:pPr defTabSz="914400">
              <a:lnSpc>
                <a:spcPct val="100000"/>
              </a:lnSpc>
            </a:pPr>
            <a:r>
              <a:rPr lang="en-US" sz="1200" b="0" u="none" strike="noStrike">
                <a:solidFill>
                  <a:srgbClr val="334155"/>
                </a:solidFill>
                <a:effectLst/>
                <a:uFillTx/>
                <a:latin typeface="Aptos"/>
              </a:rPr>
              <a:t>CORS mit erlaubten Ursprüngen</a:t>
            </a:r>
            <a:endParaRPr lang="de-DE" sz="1200" b="0" u="none" strike="noStrike">
              <a:solidFill>
                <a:srgbClr val="000000"/>
              </a:solidFill>
              <a:effectLst/>
              <a:uFillTx/>
              <a:latin typeface="Arial"/>
            </a:endParaRPr>
          </a:p>
          <a:p>
            <a:pPr defTabSz="914400">
              <a:lnSpc>
                <a:spcPct val="100000"/>
              </a:lnSpc>
            </a:pPr>
            <a:r>
              <a:rPr lang="en-US" sz="1200" b="0" u="none" strike="noStrike">
                <a:solidFill>
                  <a:srgbClr val="334155"/>
                </a:solidFill>
                <a:effectLst/>
                <a:uFillTx/>
                <a:latin typeface="Aptos"/>
              </a:rPr>
              <a:t>Umgebungsvariablen für Secrets</a:t>
            </a:r>
            <a:endParaRPr lang="de-DE" sz="1200" b="0" u="none" strike="noStrike">
              <a:solidFill>
                <a:srgbClr val="000000"/>
              </a:solidFill>
              <a:effectLst/>
              <a:uFillTx/>
              <a:latin typeface="Arial"/>
            </a:endParaRPr>
          </a:p>
          <a:p>
            <a:pPr defTabSz="914400">
              <a:lnSpc>
                <a:spcPct val="100000"/>
              </a:lnSpc>
            </a:pPr>
            <a:r>
              <a:rPr lang="en-US" sz="1200" b="0" u="none" strike="noStrike">
                <a:solidFill>
                  <a:srgbClr val="334155"/>
                </a:solidFill>
                <a:effectLst/>
                <a:uFillTx/>
                <a:latin typeface="Aptos"/>
              </a:rPr>
              <a:t>gehashte Reset-Tokens</a:t>
            </a:r>
            <a:endParaRPr lang="de-DE" sz="1200" b="0" u="none" strike="noStrike">
              <a:solidFill>
                <a:srgbClr val="000000"/>
              </a:solidFill>
              <a:effectLst/>
              <a:uFillTx/>
              <a:latin typeface="Arial"/>
            </a:endParaRPr>
          </a:p>
        </p:txBody>
      </p:sp>
      <p:sp>
        <p:nvSpPr>
          <p:cNvPr id="647" name="Shape 10"/>
          <p:cNvSpPr/>
          <p:nvPr/>
        </p:nvSpPr>
        <p:spPr>
          <a:xfrm>
            <a:off x="6309360" y="1371600"/>
            <a:ext cx="5120280" cy="4388760"/>
          </a:xfrm>
          <a:prstGeom prst="roundRect">
            <a:avLst>
              <a:gd name="adj" fmla="val 1667"/>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648" name="Text 11"/>
          <p:cNvSpPr/>
          <p:nvPr/>
        </p:nvSpPr>
        <p:spPr>
          <a:xfrm>
            <a:off x="6510600" y="1554480"/>
            <a:ext cx="47361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Für Produktion ergänzen</a:t>
            </a:r>
            <a:endParaRPr lang="de-DE" sz="1350" b="0" u="none" strike="noStrike">
              <a:solidFill>
                <a:srgbClr val="000000"/>
              </a:solidFill>
              <a:effectLst/>
              <a:uFillTx/>
              <a:latin typeface="Arial"/>
            </a:endParaRPr>
          </a:p>
        </p:txBody>
      </p:sp>
      <p:sp>
        <p:nvSpPr>
          <p:cNvPr id="649" name="Text 12"/>
          <p:cNvSpPr/>
          <p:nvPr/>
        </p:nvSpPr>
        <p:spPr>
          <a:xfrm>
            <a:off x="6565320" y="1993320"/>
            <a:ext cx="4617360" cy="342864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pPr>
            <a:r>
              <a:rPr lang="en-US" sz="1200" b="0" u="none" strike="noStrike">
                <a:solidFill>
                  <a:srgbClr val="334155"/>
                </a:solidFill>
                <a:effectLst/>
                <a:uFillTx/>
                <a:latin typeface="Aptos"/>
              </a:rPr>
              <a:t>CSRF-Schutz und Rate Limiting</a:t>
            </a:r>
            <a:endParaRPr lang="de-DE" sz="1200" b="0" u="none" strike="noStrike">
              <a:solidFill>
                <a:srgbClr val="000000"/>
              </a:solidFill>
              <a:effectLst/>
              <a:uFillTx/>
              <a:latin typeface="Arial"/>
            </a:endParaRPr>
          </a:p>
          <a:p>
            <a:pPr defTabSz="914400">
              <a:lnSpc>
                <a:spcPct val="100000"/>
              </a:lnSpc>
            </a:pPr>
            <a:r>
              <a:rPr lang="en-US" sz="1200" b="0" u="none" strike="noStrike">
                <a:solidFill>
                  <a:srgbClr val="334155"/>
                </a:solidFill>
                <a:effectLst/>
                <a:uFillTx/>
                <a:latin typeface="Aptos"/>
              </a:rPr>
              <a:t>sichere HTTP-Header</a:t>
            </a:r>
            <a:endParaRPr lang="de-DE" sz="1200" b="0" u="none" strike="noStrike">
              <a:solidFill>
                <a:srgbClr val="000000"/>
              </a:solidFill>
              <a:effectLst/>
              <a:uFillTx/>
              <a:latin typeface="Arial"/>
            </a:endParaRPr>
          </a:p>
          <a:p>
            <a:pPr defTabSz="914400">
              <a:lnSpc>
                <a:spcPct val="100000"/>
              </a:lnSpc>
            </a:pPr>
            <a:r>
              <a:rPr lang="en-US" sz="1200" b="0" u="none" strike="noStrike">
                <a:solidFill>
                  <a:srgbClr val="334155"/>
                </a:solidFill>
                <a:effectLst/>
                <a:uFillTx/>
                <a:latin typeface="Aptos"/>
              </a:rPr>
              <a:t>vollständiges Secret-Management</a:t>
            </a:r>
            <a:endParaRPr lang="de-DE" sz="1200" b="0" u="none" strike="noStrike">
              <a:solidFill>
                <a:srgbClr val="000000"/>
              </a:solidFill>
              <a:effectLst/>
              <a:uFillTx/>
              <a:latin typeface="Arial"/>
            </a:endParaRPr>
          </a:p>
          <a:p>
            <a:pPr defTabSz="914400">
              <a:lnSpc>
                <a:spcPct val="100000"/>
              </a:lnSpc>
            </a:pPr>
            <a:r>
              <a:rPr lang="en-US" sz="1200" b="0" u="none" strike="noStrike">
                <a:solidFill>
                  <a:srgbClr val="334155"/>
                </a:solidFill>
                <a:effectLst/>
                <a:uFillTx/>
                <a:latin typeface="Aptos"/>
              </a:rPr>
              <a:t>Monitoring und Logging</a:t>
            </a:r>
            <a:endParaRPr lang="de-DE" sz="1200" b="0" u="none" strike="noStrike">
              <a:solidFill>
                <a:srgbClr val="000000"/>
              </a:solidFill>
              <a:effectLst/>
              <a:uFillTx/>
              <a:latin typeface="Arial"/>
            </a:endParaRPr>
          </a:p>
          <a:p>
            <a:pPr defTabSz="914400">
              <a:lnSpc>
                <a:spcPct val="100000"/>
              </a:lnSpc>
            </a:pPr>
            <a:r>
              <a:rPr lang="en-US" sz="1200" b="0" u="none" strike="noStrike">
                <a:solidFill>
                  <a:srgbClr val="334155"/>
                </a:solidFill>
                <a:effectLst/>
                <a:uFillTx/>
                <a:latin typeface="Aptos"/>
              </a:rPr>
              <a:t>Security Review und Datenschutzprüfung</a:t>
            </a:r>
            <a:endParaRPr lang="de-DE"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650" name="Shape 0"/>
          <p:cNvSpPr/>
          <p:nvPr/>
        </p:nvSpPr>
        <p:spPr>
          <a:xfrm>
            <a:off x="0" y="0"/>
            <a:ext cx="12191400" cy="6857640"/>
          </a:xfrm>
          <a:prstGeom prst="rect">
            <a:avLst/>
          </a:prstGeom>
          <a:solidFill>
            <a:srgbClr val="F8FAFC"/>
          </a:solidFill>
          <a:ln w="12700">
            <a:solidFill>
              <a:srgbClr val="F8FAFC">
                <a:alpha val="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651" name="Shape 1"/>
          <p:cNvSpPr/>
          <p:nvPr/>
        </p:nvSpPr>
        <p:spPr>
          <a:xfrm>
            <a:off x="0" y="0"/>
            <a:ext cx="109440" cy="6857640"/>
          </a:xfrm>
          <a:prstGeom prst="rect">
            <a:avLst/>
          </a:prstGeom>
          <a:solidFill>
            <a:srgbClr val="10B981"/>
          </a:solidFill>
          <a:ln w="12700">
            <a:solidFill>
              <a:srgbClr val="10B981"/>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652" name="Text 2"/>
          <p:cNvSpPr/>
          <p:nvPr/>
        </p:nvSpPr>
        <p:spPr>
          <a:xfrm>
            <a:off x="594360" y="384120"/>
            <a:ext cx="9052200" cy="438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0F172A"/>
                </a:solidFill>
                <a:effectLst/>
                <a:uFillTx/>
                <a:latin typeface="Aptos Display"/>
                <a:ea typeface="Aptos Display"/>
              </a:rPr>
              <a:t>Tests und Demo-Vorbereitung</a:t>
            </a:r>
            <a:endParaRPr lang="de-DE" sz="2400" b="0" u="none" strike="noStrike">
              <a:solidFill>
                <a:srgbClr val="000000"/>
              </a:solidFill>
              <a:effectLst/>
              <a:uFillTx/>
              <a:latin typeface="Arial"/>
            </a:endParaRPr>
          </a:p>
        </p:txBody>
      </p:sp>
      <p:sp>
        <p:nvSpPr>
          <p:cNvPr id="653" name="Text 3"/>
          <p:cNvSpPr/>
          <p:nvPr/>
        </p:nvSpPr>
        <p:spPr>
          <a:xfrm>
            <a:off x="612720" y="850320"/>
            <a:ext cx="96008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4748B"/>
                </a:solidFill>
                <a:effectLst/>
                <a:uFillTx/>
                <a:latin typeface="Aptos"/>
              </a:rPr>
              <a:t>Qualitätssicherung entlang der wichtigsten Nutzerflüsse</a:t>
            </a:r>
            <a:endParaRPr lang="de-DE" sz="950" b="0" u="none" strike="noStrike">
              <a:solidFill>
                <a:srgbClr val="000000"/>
              </a:solidFill>
              <a:effectLst/>
              <a:uFillTx/>
              <a:latin typeface="Arial"/>
            </a:endParaRPr>
          </a:p>
        </p:txBody>
      </p:sp>
      <p:sp>
        <p:nvSpPr>
          <p:cNvPr id="654" name="Shape 4"/>
          <p:cNvSpPr/>
          <p:nvPr/>
        </p:nvSpPr>
        <p:spPr>
          <a:xfrm>
            <a:off x="502920" y="6473880"/>
            <a:ext cx="11201400" cy="360"/>
          </a:xfrm>
          <a:prstGeom prst="line">
            <a:avLst/>
          </a:prstGeom>
          <a:ln w="7620">
            <a:solidFill>
              <a:srgbClr val="CBD5E1">
                <a:alpha val="70000"/>
              </a:srgbClr>
            </a:solidFill>
            <a:round/>
          </a:ln>
        </p:spPr>
        <p:style>
          <a:lnRef idx="0"/>
          <a:fillRef idx="0"/>
          <a:effectRef idx="0"/>
          <a:fontRef idx="minor"/>
        </p:style>
        <p:txBody>
          <a:bodyPr lIns="90000" tIns="-44640" rIns="90000" bIns="-44640" anchor="t" anchorCtr="1">
            <a:noAutofit/>
          </a:bodyPr>
          <a:p>
            <a:endParaRPr lang="de-DE" sz="1800" b="0" u="none" strike="noStrike">
              <a:solidFill>
                <a:srgbClr val="000000"/>
              </a:solidFill>
              <a:effectLst/>
              <a:uFillTx/>
              <a:latin typeface="Arial"/>
            </a:endParaRPr>
          </a:p>
        </p:txBody>
      </p:sp>
      <p:sp>
        <p:nvSpPr>
          <p:cNvPr id="655" name="Text 5"/>
          <p:cNvSpPr/>
          <p:nvPr/>
        </p:nvSpPr>
        <p:spPr>
          <a:xfrm>
            <a:off x="567000" y="6519600"/>
            <a:ext cx="530316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4748B"/>
                </a:solidFill>
                <a:effectLst/>
                <a:uFillTx/>
                <a:latin typeface="Aptos"/>
                <a:ea typeface="Aptos"/>
              </a:rPr>
              <a:t>Teil 5 · Implementierung &amp; Sicherheit</a:t>
            </a:r>
            <a:endParaRPr lang="de-DE" sz="750" b="0" u="none" strike="noStrike">
              <a:solidFill>
                <a:srgbClr val="000000"/>
              </a:solidFill>
              <a:effectLst/>
              <a:uFillTx/>
              <a:latin typeface="Arial"/>
            </a:endParaRPr>
          </a:p>
        </p:txBody>
      </p:sp>
      <p:sp>
        <p:nvSpPr>
          <p:cNvPr id="656" name="Text 6"/>
          <p:cNvSpPr/>
          <p:nvPr/>
        </p:nvSpPr>
        <p:spPr>
          <a:xfrm>
            <a:off x="11201400" y="6519600"/>
            <a:ext cx="45684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50" b="0" u="none" strike="noStrike">
                <a:solidFill>
                  <a:srgbClr val="64748B"/>
                </a:solidFill>
                <a:effectLst/>
                <a:uFillTx/>
                <a:latin typeface="Aptos"/>
                <a:ea typeface="Aptos"/>
              </a:rPr>
              <a:t>34</a:t>
            </a:r>
            <a:endParaRPr lang="de-DE" sz="750" b="0" u="none" strike="noStrike">
              <a:solidFill>
                <a:srgbClr val="000000"/>
              </a:solidFill>
              <a:effectLst/>
              <a:uFillTx/>
              <a:latin typeface="Arial"/>
            </a:endParaRPr>
          </a:p>
        </p:txBody>
      </p:sp>
      <p:sp>
        <p:nvSpPr>
          <p:cNvPr id="657" name="Shape 7"/>
          <p:cNvSpPr/>
          <p:nvPr/>
        </p:nvSpPr>
        <p:spPr>
          <a:xfrm>
            <a:off x="731520" y="1371600"/>
            <a:ext cx="3154320" cy="1234080"/>
          </a:xfrm>
          <a:prstGeom prst="roundRect">
            <a:avLst>
              <a:gd name="adj" fmla="val 5926"/>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658" name="Text 8"/>
          <p:cNvSpPr/>
          <p:nvPr/>
        </p:nvSpPr>
        <p:spPr>
          <a:xfrm>
            <a:off x="896040" y="1536120"/>
            <a:ext cx="41112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10B981"/>
                </a:solidFill>
                <a:effectLst/>
                <a:uFillTx/>
                <a:latin typeface="Aptos"/>
              </a:rPr>
              <a:t>1</a:t>
            </a:r>
            <a:endParaRPr lang="de-DE" sz="1800" b="0" u="none" strike="noStrike">
              <a:solidFill>
                <a:srgbClr val="000000"/>
              </a:solidFill>
              <a:effectLst/>
              <a:uFillTx/>
              <a:latin typeface="Arial"/>
            </a:endParaRPr>
          </a:p>
        </p:txBody>
      </p:sp>
      <p:sp>
        <p:nvSpPr>
          <p:cNvPr id="659" name="Text 9"/>
          <p:cNvSpPr/>
          <p:nvPr/>
        </p:nvSpPr>
        <p:spPr>
          <a:xfrm>
            <a:off x="1389960" y="1554480"/>
            <a:ext cx="23313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Register</a:t>
            </a:r>
            <a:endParaRPr lang="de-DE" sz="1350" b="0" u="none" strike="noStrike">
              <a:solidFill>
                <a:srgbClr val="000000"/>
              </a:solidFill>
              <a:effectLst/>
              <a:uFillTx/>
              <a:latin typeface="Arial"/>
            </a:endParaRPr>
          </a:p>
        </p:txBody>
      </p:sp>
      <p:sp>
        <p:nvSpPr>
          <p:cNvPr id="660" name="Text 10"/>
          <p:cNvSpPr/>
          <p:nvPr/>
        </p:nvSpPr>
        <p:spPr>
          <a:xfrm>
            <a:off x="932760" y="2030040"/>
            <a:ext cx="2751840" cy="4111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60" b="0" u="none" strike="noStrike">
                <a:solidFill>
                  <a:srgbClr val="334155"/>
                </a:solidFill>
                <a:effectLst/>
                <a:uFillTx/>
                <a:latin typeface="Aptos"/>
              </a:rPr>
              <a:t>neues Konto anlegen</a:t>
            </a:r>
            <a:endParaRPr lang="de-DE" sz="960" b="0" u="none" strike="noStrike">
              <a:solidFill>
                <a:srgbClr val="000000"/>
              </a:solidFill>
              <a:effectLst/>
              <a:uFillTx/>
              <a:latin typeface="Arial"/>
            </a:endParaRPr>
          </a:p>
        </p:txBody>
      </p:sp>
      <p:sp>
        <p:nvSpPr>
          <p:cNvPr id="661" name="Shape 11"/>
          <p:cNvSpPr/>
          <p:nvPr/>
        </p:nvSpPr>
        <p:spPr>
          <a:xfrm>
            <a:off x="4434840" y="1371600"/>
            <a:ext cx="3154320" cy="1234080"/>
          </a:xfrm>
          <a:prstGeom prst="roundRect">
            <a:avLst>
              <a:gd name="adj" fmla="val 5926"/>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662" name="Text 12"/>
          <p:cNvSpPr/>
          <p:nvPr/>
        </p:nvSpPr>
        <p:spPr>
          <a:xfrm>
            <a:off x="4599360" y="1536120"/>
            <a:ext cx="41112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2563EB"/>
                </a:solidFill>
                <a:effectLst/>
                <a:uFillTx/>
                <a:latin typeface="Aptos"/>
              </a:rPr>
              <a:t>2</a:t>
            </a:r>
            <a:endParaRPr lang="de-DE" sz="1800" b="0" u="none" strike="noStrike">
              <a:solidFill>
                <a:srgbClr val="000000"/>
              </a:solidFill>
              <a:effectLst/>
              <a:uFillTx/>
              <a:latin typeface="Arial"/>
            </a:endParaRPr>
          </a:p>
        </p:txBody>
      </p:sp>
      <p:sp>
        <p:nvSpPr>
          <p:cNvPr id="663" name="Text 13"/>
          <p:cNvSpPr/>
          <p:nvPr/>
        </p:nvSpPr>
        <p:spPr>
          <a:xfrm>
            <a:off x="5093280" y="1554480"/>
            <a:ext cx="23313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Login</a:t>
            </a:r>
            <a:endParaRPr lang="de-DE" sz="1350" b="0" u="none" strike="noStrike">
              <a:solidFill>
                <a:srgbClr val="000000"/>
              </a:solidFill>
              <a:effectLst/>
              <a:uFillTx/>
              <a:latin typeface="Arial"/>
            </a:endParaRPr>
          </a:p>
        </p:txBody>
      </p:sp>
      <p:sp>
        <p:nvSpPr>
          <p:cNvPr id="664" name="Text 14"/>
          <p:cNvSpPr/>
          <p:nvPr/>
        </p:nvSpPr>
        <p:spPr>
          <a:xfrm>
            <a:off x="4636080" y="2030040"/>
            <a:ext cx="2751840" cy="4111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60" b="0" u="none" strike="noStrike">
                <a:solidFill>
                  <a:srgbClr val="334155"/>
                </a:solidFill>
                <a:effectLst/>
                <a:uFillTx/>
                <a:latin typeface="Aptos"/>
              </a:rPr>
              <a:t>richtige/falsche Daten prüfen</a:t>
            </a:r>
            <a:endParaRPr lang="de-DE" sz="960" b="0" u="none" strike="noStrike">
              <a:solidFill>
                <a:srgbClr val="000000"/>
              </a:solidFill>
              <a:effectLst/>
              <a:uFillTx/>
              <a:latin typeface="Arial"/>
            </a:endParaRPr>
          </a:p>
        </p:txBody>
      </p:sp>
      <p:sp>
        <p:nvSpPr>
          <p:cNvPr id="665" name="Shape 15"/>
          <p:cNvSpPr/>
          <p:nvPr/>
        </p:nvSpPr>
        <p:spPr>
          <a:xfrm>
            <a:off x="8138160" y="1371600"/>
            <a:ext cx="3154320" cy="1234080"/>
          </a:xfrm>
          <a:prstGeom prst="roundRect">
            <a:avLst>
              <a:gd name="adj" fmla="val 5926"/>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666" name="Text 16"/>
          <p:cNvSpPr/>
          <p:nvPr/>
        </p:nvSpPr>
        <p:spPr>
          <a:xfrm>
            <a:off x="8302680" y="1536120"/>
            <a:ext cx="41112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F59E0B"/>
                </a:solidFill>
                <a:effectLst/>
                <a:uFillTx/>
                <a:latin typeface="Aptos"/>
              </a:rPr>
              <a:t>3</a:t>
            </a:r>
            <a:endParaRPr lang="de-DE" sz="1800" b="0" u="none" strike="noStrike">
              <a:solidFill>
                <a:srgbClr val="000000"/>
              </a:solidFill>
              <a:effectLst/>
              <a:uFillTx/>
              <a:latin typeface="Arial"/>
            </a:endParaRPr>
          </a:p>
        </p:txBody>
      </p:sp>
      <p:sp>
        <p:nvSpPr>
          <p:cNvPr id="667" name="Text 17"/>
          <p:cNvSpPr/>
          <p:nvPr/>
        </p:nvSpPr>
        <p:spPr>
          <a:xfrm>
            <a:off x="8796600" y="1554480"/>
            <a:ext cx="23313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Profil</a:t>
            </a:r>
            <a:endParaRPr lang="de-DE" sz="1350" b="0" u="none" strike="noStrike">
              <a:solidFill>
                <a:srgbClr val="000000"/>
              </a:solidFill>
              <a:effectLst/>
              <a:uFillTx/>
              <a:latin typeface="Arial"/>
            </a:endParaRPr>
          </a:p>
        </p:txBody>
      </p:sp>
      <p:sp>
        <p:nvSpPr>
          <p:cNvPr id="668" name="Text 18"/>
          <p:cNvSpPr/>
          <p:nvPr/>
        </p:nvSpPr>
        <p:spPr>
          <a:xfrm>
            <a:off x="8339400" y="2030040"/>
            <a:ext cx="2751840" cy="4111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60" b="0" u="none" strike="noStrike">
                <a:solidFill>
                  <a:srgbClr val="334155"/>
                </a:solidFill>
                <a:effectLst/>
                <a:uFillTx/>
                <a:latin typeface="Aptos"/>
              </a:rPr>
              <a:t>Speichern und Neuladen</a:t>
            </a:r>
            <a:endParaRPr lang="de-DE" sz="960" b="0" u="none" strike="noStrike">
              <a:solidFill>
                <a:srgbClr val="000000"/>
              </a:solidFill>
              <a:effectLst/>
              <a:uFillTx/>
              <a:latin typeface="Arial"/>
            </a:endParaRPr>
          </a:p>
        </p:txBody>
      </p:sp>
      <p:sp>
        <p:nvSpPr>
          <p:cNvPr id="669" name="Shape 19"/>
          <p:cNvSpPr/>
          <p:nvPr/>
        </p:nvSpPr>
        <p:spPr>
          <a:xfrm>
            <a:off x="731520" y="3154680"/>
            <a:ext cx="3154320" cy="1234080"/>
          </a:xfrm>
          <a:prstGeom prst="roundRect">
            <a:avLst>
              <a:gd name="adj" fmla="val 5926"/>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670" name="Text 20"/>
          <p:cNvSpPr/>
          <p:nvPr/>
        </p:nvSpPr>
        <p:spPr>
          <a:xfrm>
            <a:off x="896040" y="3319200"/>
            <a:ext cx="41112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E11D48"/>
                </a:solidFill>
                <a:effectLst/>
                <a:uFillTx/>
                <a:latin typeface="Aptos"/>
              </a:rPr>
              <a:t>4</a:t>
            </a:r>
            <a:endParaRPr lang="de-DE" sz="1800" b="0" u="none" strike="noStrike">
              <a:solidFill>
                <a:srgbClr val="000000"/>
              </a:solidFill>
              <a:effectLst/>
              <a:uFillTx/>
              <a:latin typeface="Arial"/>
            </a:endParaRPr>
          </a:p>
        </p:txBody>
      </p:sp>
      <p:sp>
        <p:nvSpPr>
          <p:cNvPr id="671" name="Text 21"/>
          <p:cNvSpPr/>
          <p:nvPr/>
        </p:nvSpPr>
        <p:spPr>
          <a:xfrm>
            <a:off x="1389960" y="3337560"/>
            <a:ext cx="23313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Reset</a:t>
            </a:r>
            <a:endParaRPr lang="de-DE" sz="1350" b="0" u="none" strike="noStrike">
              <a:solidFill>
                <a:srgbClr val="000000"/>
              </a:solidFill>
              <a:effectLst/>
              <a:uFillTx/>
              <a:latin typeface="Arial"/>
            </a:endParaRPr>
          </a:p>
        </p:txBody>
      </p:sp>
      <p:sp>
        <p:nvSpPr>
          <p:cNvPr id="672" name="Text 22"/>
          <p:cNvSpPr/>
          <p:nvPr/>
        </p:nvSpPr>
        <p:spPr>
          <a:xfrm>
            <a:off x="932760" y="3813120"/>
            <a:ext cx="2751840" cy="4111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60" b="0" u="none" strike="noStrike">
                <a:solidFill>
                  <a:srgbClr val="334155"/>
                </a:solidFill>
                <a:effectLst/>
                <a:uFillTx/>
                <a:latin typeface="Aptos"/>
              </a:rPr>
              <a:t>Link und Ablauf prüfen</a:t>
            </a:r>
            <a:endParaRPr lang="de-DE" sz="960" b="0" u="none" strike="noStrike">
              <a:solidFill>
                <a:srgbClr val="000000"/>
              </a:solidFill>
              <a:effectLst/>
              <a:uFillTx/>
              <a:latin typeface="Arial"/>
            </a:endParaRPr>
          </a:p>
        </p:txBody>
      </p:sp>
      <p:sp>
        <p:nvSpPr>
          <p:cNvPr id="673" name="Shape 23"/>
          <p:cNvSpPr/>
          <p:nvPr/>
        </p:nvSpPr>
        <p:spPr>
          <a:xfrm>
            <a:off x="4434840" y="3154680"/>
            <a:ext cx="3154320" cy="1234080"/>
          </a:xfrm>
          <a:prstGeom prst="roundRect">
            <a:avLst>
              <a:gd name="adj" fmla="val 5926"/>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674" name="Text 24"/>
          <p:cNvSpPr/>
          <p:nvPr/>
        </p:nvSpPr>
        <p:spPr>
          <a:xfrm>
            <a:off x="4599360" y="3319200"/>
            <a:ext cx="41112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334155"/>
                </a:solidFill>
                <a:effectLst/>
                <a:uFillTx/>
                <a:latin typeface="Aptos"/>
              </a:rPr>
              <a:t>5</a:t>
            </a:r>
            <a:endParaRPr lang="de-DE" sz="1800" b="0" u="none" strike="noStrike">
              <a:solidFill>
                <a:srgbClr val="000000"/>
              </a:solidFill>
              <a:effectLst/>
              <a:uFillTx/>
              <a:latin typeface="Arial"/>
            </a:endParaRPr>
          </a:p>
        </p:txBody>
      </p:sp>
      <p:sp>
        <p:nvSpPr>
          <p:cNvPr id="675" name="Text 25"/>
          <p:cNvSpPr/>
          <p:nvPr/>
        </p:nvSpPr>
        <p:spPr>
          <a:xfrm>
            <a:off x="5093280" y="3337560"/>
            <a:ext cx="23313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FAQ</a:t>
            </a:r>
            <a:endParaRPr lang="de-DE" sz="1350" b="0" u="none" strike="noStrike">
              <a:solidFill>
                <a:srgbClr val="000000"/>
              </a:solidFill>
              <a:effectLst/>
              <a:uFillTx/>
              <a:latin typeface="Arial"/>
            </a:endParaRPr>
          </a:p>
        </p:txBody>
      </p:sp>
      <p:sp>
        <p:nvSpPr>
          <p:cNvPr id="676" name="Text 26"/>
          <p:cNvSpPr/>
          <p:nvPr/>
        </p:nvSpPr>
        <p:spPr>
          <a:xfrm>
            <a:off x="4636080" y="3813120"/>
            <a:ext cx="2751840" cy="4111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60" b="0" u="none" strike="noStrike">
                <a:solidFill>
                  <a:srgbClr val="334155"/>
                </a:solidFill>
                <a:effectLst/>
                <a:uFillTx/>
                <a:latin typeface="Aptos"/>
              </a:rPr>
              <a:t>Navigation und Inhalte prüfen</a:t>
            </a:r>
            <a:endParaRPr lang="de-DE" sz="960" b="0" u="none" strike="noStrike">
              <a:solidFill>
                <a:srgbClr val="000000"/>
              </a:solidFill>
              <a:effectLst/>
              <a:uFillTx/>
              <a:latin typeface="Arial"/>
            </a:endParaRPr>
          </a:p>
        </p:txBody>
      </p:sp>
      <p:sp>
        <p:nvSpPr>
          <p:cNvPr id="677" name="Shape 27"/>
          <p:cNvSpPr/>
          <p:nvPr/>
        </p:nvSpPr>
        <p:spPr>
          <a:xfrm>
            <a:off x="8138160" y="3154680"/>
            <a:ext cx="3154320" cy="1234080"/>
          </a:xfrm>
          <a:prstGeom prst="roundRect">
            <a:avLst>
              <a:gd name="adj" fmla="val 5926"/>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678" name="Text 28"/>
          <p:cNvSpPr/>
          <p:nvPr/>
        </p:nvSpPr>
        <p:spPr>
          <a:xfrm>
            <a:off x="8302680" y="3319200"/>
            <a:ext cx="41112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047857"/>
                </a:solidFill>
                <a:effectLst/>
                <a:uFillTx/>
                <a:latin typeface="Aptos"/>
              </a:rPr>
              <a:t>6</a:t>
            </a:r>
            <a:endParaRPr lang="de-DE" sz="1800" b="0" u="none" strike="noStrike">
              <a:solidFill>
                <a:srgbClr val="000000"/>
              </a:solidFill>
              <a:effectLst/>
              <a:uFillTx/>
              <a:latin typeface="Arial"/>
            </a:endParaRPr>
          </a:p>
        </p:txBody>
      </p:sp>
      <p:sp>
        <p:nvSpPr>
          <p:cNvPr id="679" name="Text 29"/>
          <p:cNvSpPr/>
          <p:nvPr/>
        </p:nvSpPr>
        <p:spPr>
          <a:xfrm>
            <a:off x="8796600" y="3337560"/>
            <a:ext cx="23313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Logout</a:t>
            </a:r>
            <a:endParaRPr lang="de-DE" sz="1350" b="0" u="none" strike="noStrike">
              <a:solidFill>
                <a:srgbClr val="000000"/>
              </a:solidFill>
              <a:effectLst/>
              <a:uFillTx/>
              <a:latin typeface="Arial"/>
            </a:endParaRPr>
          </a:p>
        </p:txBody>
      </p:sp>
      <p:sp>
        <p:nvSpPr>
          <p:cNvPr id="680" name="Text 30"/>
          <p:cNvSpPr/>
          <p:nvPr/>
        </p:nvSpPr>
        <p:spPr>
          <a:xfrm>
            <a:off x="8339400" y="3813120"/>
            <a:ext cx="2751840" cy="4111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60" b="0" u="none" strike="noStrike">
                <a:solidFill>
                  <a:srgbClr val="334155"/>
                </a:solidFill>
                <a:effectLst/>
                <a:uFillTx/>
                <a:latin typeface="Aptos"/>
              </a:rPr>
              <a:t>Sitzung beenden</a:t>
            </a:r>
            <a:endParaRPr lang="de-DE" sz="960" b="0" u="none" strike="noStrike">
              <a:solidFill>
                <a:srgbClr val="000000"/>
              </a:solidFill>
              <a:effectLst/>
              <a:uFillTx/>
              <a:latin typeface="Arial"/>
            </a:endParaRPr>
          </a:p>
        </p:txBody>
      </p:sp>
      <p:sp>
        <p:nvSpPr>
          <p:cNvPr id="681" name="Shape 31"/>
          <p:cNvSpPr/>
          <p:nvPr/>
        </p:nvSpPr>
        <p:spPr>
          <a:xfrm>
            <a:off x="3108960" y="5074920"/>
            <a:ext cx="5943240" cy="685440"/>
          </a:xfrm>
          <a:prstGeom prst="roundRect">
            <a:avLst>
              <a:gd name="adj" fmla="val 10667"/>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682" name="Text 32"/>
          <p:cNvSpPr/>
          <p:nvPr/>
        </p:nvSpPr>
        <p:spPr>
          <a:xfrm>
            <a:off x="3310200" y="5257800"/>
            <a:ext cx="55591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Ziel der Tests: Der Demo-Ablauf soll stabil und nachvollziehbar funktionieren.</a:t>
            </a:r>
            <a:endParaRPr lang="de-DE" sz="1350" b="0" u="none" strike="noStrike">
              <a:solidFill>
                <a:srgbClr val="000000"/>
              </a:solidFill>
              <a:effectLst/>
              <a:uFillTx/>
              <a:latin typeface="Arial"/>
            </a:endParaRPr>
          </a:p>
        </p:txBody>
      </p:sp>
      <p:sp>
        <p:nvSpPr>
          <p:cNvPr id="683" name="Text 33"/>
          <p:cNvSpPr/>
          <p:nvPr/>
        </p:nvSpPr>
        <p:spPr>
          <a:xfrm>
            <a:off x="3310200" y="5733360"/>
            <a:ext cx="5540760" cy="360"/>
          </a:xfrm>
          <a:prstGeom prst="rect">
            <a:avLst/>
          </a:prstGeom>
          <a:noFill/>
          <a:ln w="0">
            <a:noFill/>
          </a:ln>
        </p:spPr>
        <p:style>
          <a:lnRef idx="0"/>
          <a:fillRef idx="0"/>
          <a:effectRef idx="0"/>
          <a:fontRef idx="minor"/>
        </p:style>
        <p:txBody>
          <a:bodyPr lIns="360" tIns="360" rIns="360" bIns="360" anchor="ctr">
            <a:normAutofit fontScale="25000" lnSpcReduction="19999"/>
          </a:bodyPr>
          <a:p>
            <a:pPr defTabSz="914400">
              <a:lnSpc>
                <a:spcPct val="100000"/>
              </a:lnSpc>
              <a:tabLst>
                <a:tab pos="0" algn="l"/>
              </a:tabLst>
            </a:pPr>
            <a:r>
              <a:rPr lang="en-US" sz="960" b="0" u="none" strike="noStrike">
                <a:solidFill>
                  <a:srgbClr val="334155"/>
                </a:solidFill>
                <a:effectLst/>
                <a:uFillTx/>
                <a:latin typeface="Aptos"/>
              </a:rPr>
              <a:t>10B981</a:t>
            </a:r>
            <a:endParaRPr lang="de-DE" sz="96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684" name="Shape 0"/>
          <p:cNvSpPr/>
          <p:nvPr/>
        </p:nvSpPr>
        <p:spPr>
          <a:xfrm>
            <a:off x="0" y="0"/>
            <a:ext cx="12191400" cy="6857640"/>
          </a:xfrm>
          <a:prstGeom prst="rect">
            <a:avLst/>
          </a:prstGeom>
          <a:solidFill>
            <a:srgbClr val="0F172A"/>
          </a:solidFill>
          <a:ln w="12700">
            <a:solidFill>
              <a:srgbClr val="0F172A"/>
            </a:solidFill>
            <a:round/>
          </a:ln>
        </p:spPr>
        <p:style>
          <a:lnRef idx="0"/>
          <a:fillRef idx="0"/>
          <a:effectRef idx="0"/>
          <a:fontRef idx="minor"/>
        </p:style>
        <p:txBody>
          <a:bodyPr lIns="90000" tIns="45000" rIns="90000" bIns="45000" anchor="t">
            <a:noAutofit/>
          </a:bodyPr>
          <a:p>
            <a:endParaRPr lang="de-DE" sz="1800" b="0" u="none" strike="noStrike">
              <a:solidFill>
                <a:srgbClr val="FFFFFF"/>
              </a:solidFill>
              <a:effectLst/>
              <a:uFillTx/>
              <a:latin typeface="Arial"/>
            </a:endParaRPr>
          </a:p>
        </p:txBody>
      </p:sp>
      <p:sp>
        <p:nvSpPr>
          <p:cNvPr id="685" name="Shape 1"/>
          <p:cNvSpPr/>
          <p:nvPr/>
        </p:nvSpPr>
        <p:spPr>
          <a:xfrm>
            <a:off x="0" y="0"/>
            <a:ext cx="12191400" cy="200880"/>
          </a:xfrm>
          <a:prstGeom prst="rect">
            <a:avLst/>
          </a:prstGeom>
          <a:solidFill>
            <a:srgbClr val="334155"/>
          </a:solidFill>
          <a:ln w="12700">
            <a:solidFill>
              <a:srgbClr val="334155"/>
            </a:solidFill>
            <a:round/>
          </a:ln>
        </p:spPr>
        <p:style>
          <a:lnRef idx="0"/>
          <a:fillRef idx="0"/>
          <a:effectRef idx="0"/>
          <a:fontRef idx="minor"/>
        </p:style>
        <p:txBody>
          <a:bodyPr lIns="90000" tIns="45000" rIns="90000" bIns="45000" anchor="t">
            <a:noAutofit/>
          </a:bodyPr>
          <a:p>
            <a:endParaRPr lang="de-DE" sz="1800" b="0" u="none" strike="noStrike">
              <a:solidFill>
                <a:srgbClr val="FFFFFF"/>
              </a:solidFill>
              <a:effectLst/>
              <a:uFillTx/>
              <a:latin typeface="Arial"/>
            </a:endParaRPr>
          </a:p>
        </p:txBody>
      </p:sp>
      <p:sp>
        <p:nvSpPr>
          <p:cNvPr id="686" name="Text 2"/>
          <p:cNvSpPr/>
          <p:nvPr/>
        </p:nvSpPr>
        <p:spPr>
          <a:xfrm>
            <a:off x="685800" y="914400"/>
            <a:ext cx="123408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334155"/>
                </a:solidFill>
                <a:effectLst/>
                <a:uFillTx/>
                <a:latin typeface="Aptos"/>
              </a:rPr>
              <a:t>Teil 6</a:t>
            </a:r>
            <a:endParaRPr lang="de-DE" sz="1300" b="0" u="none" strike="noStrike">
              <a:solidFill>
                <a:srgbClr val="FFFFFF"/>
              </a:solidFill>
              <a:effectLst/>
              <a:uFillTx/>
              <a:latin typeface="Arial"/>
            </a:endParaRPr>
          </a:p>
        </p:txBody>
      </p:sp>
      <p:sp>
        <p:nvSpPr>
          <p:cNvPr id="687" name="Text 3"/>
          <p:cNvSpPr/>
          <p:nvPr/>
        </p:nvSpPr>
        <p:spPr>
          <a:xfrm>
            <a:off x="685800" y="1325880"/>
            <a:ext cx="8046360" cy="7311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3400" b="1" u="none" strike="noStrike">
                <a:solidFill>
                  <a:srgbClr val="FFFFFF"/>
                </a:solidFill>
                <a:effectLst/>
                <a:uFillTx/>
                <a:latin typeface="Aptos"/>
              </a:rPr>
              <a:t>Schlussteil &amp; Fazit</a:t>
            </a:r>
            <a:endParaRPr lang="de-DE" sz="3400" b="0" u="none" strike="noStrike">
              <a:solidFill>
                <a:srgbClr val="FFFFFF"/>
              </a:solidFill>
              <a:effectLst/>
              <a:uFillTx/>
              <a:latin typeface="Arial"/>
            </a:endParaRPr>
          </a:p>
        </p:txBody>
      </p:sp>
      <p:sp>
        <p:nvSpPr>
          <p:cNvPr id="688" name="Text 4"/>
          <p:cNvSpPr/>
          <p:nvPr/>
        </p:nvSpPr>
        <p:spPr>
          <a:xfrm>
            <a:off x="713160" y="2176200"/>
            <a:ext cx="50288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CBD5E1"/>
                </a:solidFill>
                <a:effectLst/>
                <a:uFillTx/>
                <a:latin typeface="Aptos"/>
              </a:rPr>
              <a:t>Person 1 · ca. 3–5 Minuten</a:t>
            </a:r>
            <a:endParaRPr lang="de-DE" sz="1300" b="0" u="none" strike="noStrike">
              <a:solidFill>
                <a:srgbClr val="FFFFFF"/>
              </a:solidFill>
              <a:effectLst/>
              <a:uFillTx/>
              <a:latin typeface="Arial"/>
            </a:endParaRPr>
          </a:p>
        </p:txBody>
      </p:sp>
      <p:sp>
        <p:nvSpPr>
          <p:cNvPr id="689" name="Text 5"/>
          <p:cNvSpPr/>
          <p:nvPr/>
        </p:nvSpPr>
        <p:spPr>
          <a:xfrm>
            <a:off x="9235440" y="1188720"/>
            <a:ext cx="1462680" cy="1279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5800" b="0" u="none" strike="noStrike">
                <a:solidFill>
                  <a:srgbClr val="334155"/>
                </a:solidFill>
                <a:effectLst/>
                <a:uFillTx/>
                <a:latin typeface="Aptos"/>
              </a:rPr>
              <a:t>🎯</a:t>
            </a:r>
            <a:endParaRPr lang="de-DE" sz="5800" b="0" u="none" strike="noStrike">
              <a:solidFill>
                <a:srgbClr val="FFFFFF"/>
              </a:solidFill>
              <a:effectLst/>
              <a:uFillTx/>
              <a:latin typeface="Arial"/>
            </a:endParaRPr>
          </a:p>
        </p:txBody>
      </p:sp>
      <p:sp>
        <p:nvSpPr>
          <p:cNvPr id="690" name="Shape 6"/>
          <p:cNvSpPr/>
          <p:nvPr/>
        </p:nvSpPr>
        <p:spPr>
          <a:xfrm>
            <a:off x="713160" y="2816280"/>
            <a:ext cx="10607040" cy="360"/>
          </a:xfrm>
          <a:prstGeom prst="line">
            <a:avLst/>
          </a:prstGeom>
          <a:ln w="12700">
            <a:solidFill>
              <a:srgbClr val="334155"/>
            </a:solidFill>
            <a:round/>
          </a:ln>
        </p:spPr>
        <p:style>
          <a:lnRef idx="0"/>
          <a:fillRef idx="0"/>
          <a:effectRef idx="0"/>
          <a:fontRef idx="minor"/>
        </p:style>
        <p:txBody>
          <a:bodyPr lIns="90000" tIns="-44640" rIns="90000" bIns="-44640" anchor="t" anchorCtr="1">
            <a:noAutofit/>
          </a:bodyPr>
          <a:p>
            <a:endParaRPr lang="de-DE" sz="1800" b="0" u="none" strike="noStrike">
              <a:solidFill>
                <a:srgbClr val="FFFFFF"/>
              </a:solidFill>
              <a:effectLst/>
              <a:uFillTx/>
              <a:latin typeface="Arial"/>
            </a:endParaRPr>
          </a:p>
        </p:txBody>
      </p:sp>
      <p:sp>
        <p:nvSpPr>
          <p:cNvPr id="691" name="Text 7"/>
          <p:cNvSpPr/>
          <p:nvPr/>
        </p:nvSpPr>
        <p:spPr>
          <a:xfrm>
            <a:off x="749880" y="3127320"/>
            <a:ext cx="201132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FFFFFF"/>
                </a:solidFill>
                <a:effectLst/>
                <a:uFillTx/>
                <a:latin typeface="Aptos"/>
              </a:rPr>
              <a:t>Ziel dieses Abschnitts</a:t>
            </a:r>
            <a:endParaRPr lang="de-DE" sz="1200" b="0" u="none" strike="noStrike">
              <a:solidFill>
                <a:srgbClr val="FFFFFF"/>
              </a:solidFill>
              <a:effectLst/>
              <a:uFillTx/>
              <a:latin typeface="Arial"/>
            </a:endParaRPr>
          </a:p>
        </p:txBody>
      </p:sp>
      <p:sp>
        <p:nvSpPr>
          <p:cNvPr id="692" name="Text 8"/>
          <p:cNvSpPr/>
          <p:nvPr/>
        </p:nvSpPr>
        <p:spPr>
          <a:xfrm>
            <a:off x="749880" y="3474720"/>
            <a:ext cx="7497720" cy="59400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1600" b="0" u="none" strike="noStrike">
                <a:solidFill>
                  <a:srgbClr val="E2E8F0"/>
                </a:solidFill>
                <a:effectLst/>
                <a:uFillTx/>
                <a:latin typeface="Aptos"/>
              </a:rPr>
              <a:t>Was wurde erreicht, welche Grenzen bestehen und wie kann das Projekt weiterentwickelt werden?</a:t>
            </a:r>
            <a:endParaRPr lang="de-DE" sz="1600" b="0" u="none" strike="noStrike">
              <a:solidFill>
                <a:srgbClr val="FFFFFF"/>
              </a:solidFill>
              <a:effectLst/>
              <a:uFillTx/>
              <a:latin typeface="Arial"/>
            </a:endParaRPr>
          </a:p>
        </p:txBody>
      </p:sp>
      <p:sp>
        <p:nvSpPr>
          <p:cNvPr id="693" name="Text 9"/>
          <p:cNvSpPr/>
          <p:nvPr/>
        </p:nvSpPr>
        <p:spPr>
          <a:xfrm>
            <a:off x="11174040" y="6473880"/>
            <a:ext cx="45684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50" b="0" u="none" strike="noStrike">
                <a:solidFill>
                  <a:srgbClr val="94A3B8"/>
                </a:solidFill>
                <a:effectLst/>
                <a:uFillTx/>
                <a:latin typeface="Aptos"/>
              </a:rPr>
              <a:t>35</a:t>
            </a:r>
            <a:endParaRPr lang="de-DE" sz="7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694" name="Shape 0"/>
          <p:cNvSpPr/>
          <p:nvPr/>
        </p:nvSpPr>
        <p:spPr>
          <a:xfrm>
            <a:off x="0" y="0"/>
            <a:ext cx="12191400" cy="6857640"/>
          </a:xfrm>
          <a:prstGeom prst="rect">
            <a:avLst/>
          </a:prstGeom>
          <a:solidFill>
            <a:srgbClr val="F8FAFC"/>
          </a:solidFill>
          <a:ln w="12700">
            <a:solidFill>
              <a:srgbClr val="F8FAFC">
                <a:alpha val="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695" name="Shape 1"/>
          <p:cNvSpPr/>
          <p:nvPr/>
        </p:nvSpPr>
        <p:spPr>
          <a:xfrm>
            <a:off x="0" y="0"/>
            <a:ext cx="109440" cy="6857640"/>
          </a:xfrm>
          <a:prstGeom prst="rect">
            <a:avLst/>
          </a:prstGeom>
          <a:solidFill>
            <a:srgbClr val="10B981"/>
          </a:solidFill>
          <a:ln w="12700">
            <a:solidFill>
              <a:srgbClr val="10B981"/>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696" name="Text 2"/>
          <p:cNvSpPr/>
          <p:nvPr/>
        </p:nvSpPr>
        <p:spPr>
          <a:xfrm>
            <a:off x="594360" y="384120"/>
            <a:ext cx="9052200" cy="438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0F172A"/>
                </a:solidFill>
                <a:effectLst/>
                <a:uFillTx/>
                <a:latin typeface="Aptos Display"/>
                <a:ea typeface="Aptos Display"/>
              </a:rPr>
              <a:t>Zentrale Herausforderungen</a:t>
            </a:r>
            <a:endParaRPr lang="de-DE" sz="2400" b="0" u="none" strike="noStrike">
              <a:solidFill>
                <a:srgbClr val="000000"/>
              </a:solidFill>
              <a:effectLst/>
              <a:uFillTx/>
              <a:latin typeface="Arial"/>
            </a:endParaRPr>
          </a:p>
        </p:txBody>
      </p:sp>
      <p:sp>
        <p:nvSpPr>
          <p:cNvPr id="697" name="Text 3"/>
          <p:cNvSpPr/>
          <p:nvPr/>
        </p:nvSpPr>
        <p:spPr>
          <a:xfrm>
            <a:off x="612720" y="850320"/>
            <a:ext cx="96008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4748B"/>
                </a:solidFill>
                <a:effectLst/>
                <a:uFillTx/>
                <a:latin typeface="Aptos"/>
              </a:rPr>
              <a:t>Was im Projekt besonders anspruchsvoll war</a:t>
            </a:r>
            <a:endParaRPr lang="de-DE" sz="950" b="0" u="none" strike="noStrike">
              <a:solidFill>
                <a:srgbClr val="000000"/>
              </a:solidFill>
              <a:effectLst/>
              <a:uFillTx/>
              <a:latin typeface="Arial"/>
            </a:endParaRPr>
          </a:p>
        </p:txBody>
      </p:sp>
      <p:sp>
        <p:nvSpPr>
          <p:cNvPr id="698" name="Shape 4"/>
          <p:cNvSpPr/>
          <p:nvPr/>
        </p:nvSpPr>
        <p:spPr>
          <a:xfrm>
            <a:off x="502920" y="6473880"/>
            <a:ext cx="11201400" cy="360"/>
          </a:xfrm>
          <a:prstGeom prst="line">
            <a:avLst/>
          </a:prstGeom>
          <a:ln w="7620">
            <a:solidFill>
              <a:srgbClr val="CBD5E1">
                <a:alpha val="70000"/>
              </a:srgbClr>
            </a:solidFill>
            <a:round/>
          </a:ln>
        </p:spPr>
        <p:style>
          <a:lnRef idx="0"/>
          <a:fillRef idx="0"/>
          <a:effectRef idx="0"/>
          <a:fontRef idx="minor"/>
        </p:style>
        <p:txBody>
          <a:bodyPr lIns="90000" tIns="-44640" rIns="90000" bIns="-44640" anchor="t" anchorCtr="1">
            <a:noAutofit/>
          </a:bodyPr>
          <a:p>
            <a:endParaRPr lang="de-DE" sz="1800" b="0" u="none" strike="noStrike">
              <a:solidFill>
                <a:srgbClr val="000000"/>
              </a:solidFill>
              <a:effectLst/>
              <a:uFillTx/>
              <a:latin typeface="Arial"/>
            </a:endParaRPr>
          </a:p>
        </p:txBody>
      </p:sp>
      <p:sp>
        <p:nvSpPr>
          <p:cNvPr id="699" name="Text 5"/>
          <p:cNvSpPr/>
          <p:nvPr/>
        </p:nvSpPr>
        <p:spPr>
          <a:xfrm>
            <a:off x="567000" y="6519600"/>
            <a:ext cx="530316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4748B"/>
                </a:solidFill>
                <a:effectLst/>
                <a:uFillTx/>
                <a:latin typeface="Aptos"/>
                <a:ea typeface="Aptos"/>
              </a:rPr>
              <a:t>Teil 6 · Schlussteil &amp; Fazit</a:t>
            </a:r>
            <a:endParaRPr lang="de-DE" sz="750" b="0" u="none" strike="noStrike">
              <a:solidFill>
                <a:srgbClr val="000000"/>
              </a:solidFill>
              <a:effectLst/>
              <a:uFillTx/>
              <a:latin typeface="Arial"/>
            </a:endParaRPr>
          </a:p>
        </p:txBody>
      </p:sp>
      <p:sp>
        <p:nvSpPr>
          <p:cNvPr id="700" name="Text 6"/>
          <p:cNvSpPr/>
          <p:nvPr/>
        </p:nvSpPr>
        <p:spPr>
          <a:xfrm>
            <a:off x="11201400" y="6519600"/>
            <a:ext cx="45684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50" b="0" u="none" strike="noStrike">
                <a:solidFill>
                  <a:srgbClr val="64748B"/>
                </a:solidFill>
                <a:effectLst/>
                <a:uFillTx/>
                <a:latin typeface="Aptos"/>
                <a:ea typeface="Aptos"/>
              </a:rPr>
              <a:t>36</a:t>
            </a:r>
            <a:endParaRPr lang="de-DE" sz="750" b="0" u="none" strike="noStrike">
              <a:solidFill>
                <a:srgbClr val="000000"/>
              </a:solidFill>
              <a:effectLst/>
              <a:uFillTx/>
              <a:latin typeface="Arial"/>
            </a:endParaRPr>
          </a:p>
        </p:txBody>
      </p:sp>
      <p:sp>
        <p:nvSpPr>
          <p:cNvPr id="701" name="Shape 7"/>
          <p:cNvSpPr/>
          <p:nvPr/>
        </p:nvSpPr>
        <p:spPr>
          <a:xfrm>
            <a:off x="731520" y="1417320"/>
            <a:ext cx="3291480" cy="3382920"/>
          </a:xfrm>
          <a:prstGeom prst="roundRect">
            <a:avLst>
              <a:gd name="adj" fmla="val 2222"/>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702" name="Text 8"/>
          <p:cNvSpPr/>
          <p:nvPr/>
        </p:nvSpPr>
        <p:spPr>
          <a:xfrm>
            <a:off x="896040" y="1581840"/>
            <a:ext cx="41112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F59E0B"/>
                </a:solidFill>
                <a:effectLst/>
                <a:uFillTx/>
                <a:latin typeface="Aptos"/>
              </a:rPr>
              <a:t>🗄</a:t>
            </a:r>
            <a:endParaRPr lang="de-DE" sz="1800" b="0" u="none" strike="noStrike">
              <a:solidFill>
                <a:srgbClr val="000000"/>
              </a:solidFill>
              <a:effectLst/>
              <a:uFillTx/>
              <a:latin typeface="Arial"/>
            </a:endParaRPr>
          </a:p>
        </p:txBody>
      </p:sp>
      <p:sp>
        <p:nvSpPr>
          <p:cNvPr id="703" name="Text 9"/>
          <p:cNvSpPr/>
          <p:nvPr/>
        </p:nvSpPr>
        <p:spPr>
          <a:xfrm>
            <a:off x="1389960" y="1600200"/>
            <a:ext cx="24685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Datenbankwechsel</a:t>
            </a:r>
            <a:endParaRPr lang="de-DE" sz="1350" b="0" u="none" strike="noStrike">
              <a:solidFill>
                <a:srgbClr val="000000"/>
              </a:solidFill>
              <a:effectLst/>
              <a:uFillTx/>
              <a:latin typeface="Arial"/>
            </a:endParaRPr>
          </a:p>
        </p:txBody>
      </p:sp>
      <p:sp>
        <p:nvSpPr>
          <p:cNvPr id="704" name="Text 10"/>
          <p:cNvSpPr/>
          <p:nvPr/>
        </p:nvSpPr>
        <p:spPr>
          <a:xfrm>
            <a:off x="932760" y="2075760"/>
            <a:ext cx="2889000" cy="25599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60" b="0" u="none" strike="noStrike">
                <a:solidFill>
                  <a:srgbClr val="334155"/>
                </a:solidFill>
                <a:effectLst/>
                <a:uFillTx/>
                <a:latin typeface="Aptos"/>
              </a:rPr>
              <a:t>Von Cosmos DB / JSON zu Supabase/PostgreSQL mit relationalem Modell.</a:t>
            </a:r>
            <a:endParaRPr lang="de-DE" sz="960" b="0" u="none" strike="noStrike">
              <a:solidFill>
                <a:srgbClr val="000000"/>
              </a:solidFill>
              <a:effectLst/>
              <a:uFillTx/>
              <a:latin typeface="Arial"/>
            </a:endParaRPr>
          </a:p>
        </p:txBody>
      </p:sp>
      <p:sp>
        <p:nvSpPr>
          <p:cNvPr id="705" name="Shape 11"/>
          <p:cNvSpPr/>
          <p:nvPr/>
        </p:nvSpPr>
        <p:spPr>
          <a:xfrm>
            <a:off x="4434840" y="1417320"/>
            <a:ext cx="3291480" cy="3382920"/>
          </a:xfrm>
          <a:prstGeom prst="roundRect">
            <a:avLst>
              <a:gd name="adj" fmla="val 2222"/>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706" name="Text 12"/>
          <p:cNvSpPr/>
          <p:nvPr/>
        </p:nvSpPr>
        <p:spPr>
          <a:xfrm>
            <a:off x="4599360" y="1581840"/>
            <a:ext cx="41112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2563EB"/>
                </a:solidFill>
                <a:effectLst/>
                <a:uFillTx/>
                <a:latin typeface="Aptos"/>
              </a:rPr>
              <a:t>🔗</a:t>
            </a:r>
            <a:endParaRPr lang="de-DE" sz="1800" b="0" u="none" strike="noStrike">
              <a:solidFill>
                <a:srgbClr val="000000"/>
              </a:solidFill>
              <a:effectLst/>
              <a:uFillTx/>
              <a:latin typeface="Arial"/>
            </a:endParaRPr>
          </a:p>
        </p:txBody>
      </p:sp>
      <p:sp>
        <p:nvSpPr>
          <p:cNvPr id="707" name="Text 13"/>
          <p:cNvSpPr/>
          <p:nvPr/>
        </p:nvSpPr>
        <p:spPr>
          <a:xfrm>
            <a:off x="5093280" y="1600200"/>
            <a:ext cx="24685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Integration</a:t>
            </a:r>
            <a:endParaRPr lang="de-DE" sz="1350" b="0" u="none" strike="noStrike">
              <a:solidFill>
                <a:srgbClr val="000000"/>
              </a:solidFill>
              <a:effectLst/>
              <a:uFillTx/>
              <a:latin typeface="Arial"/>
            </a:endParaRPr>
          </a:p>
        </p:txBody>
      </p:sp>
      <p:sp>
        <p:nvSpPr>
          <p:cNvPr id="708" name="Text 14"/>
          <p:cNvSpPr/>
          <p:nvPr/>
        </p:nvSpPr>
        <p:spPr>
          <a:xfrm>
            <a:off x="4636080" y="2075760"/>
            <a:ext cx="2889000" cy="25599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60" b="0" u="none" strike="noStrike">
                <a:solidFill>
                  <a:srgbClr val="334155"/>
                </a:solidFill>
                <a:effectLst/>
                <a:uFillTx/>
                <a:latin typeface="Aptos"/>
              </a:rPr>
              <a:t>Frontend, Backend, Datenbank, E-Mail und Docker mussten zusammenspielen.</a:t>
            </a:r>
            <a:endParaRPr lang="de-DE" sz="960" b="0" u="none" strike="noStrike">
              <a:solidFill>
                <a:srgbClr val="000000"/>
              </a:solidFill>
              <a:effectLst/>
              <a:uFillTx/>
              <a:latin typeface="Arial"/>
            </a:endParaRPr>
          </a:p>
        </p:txBody>
      </p:sp>
      <p:sp>
        <p:nvSpPr>
          <p:cNvPr id="709" name="Shape 15"/>
          <p:cNvSpPr/>
          <p:nvPr/>
        </p:nvSpPr>
        <p:spPr>
          <a:xfrm>
            <a:off x="8138160" y="1417320"/>
            <a:ext cx="3291480" cy="3382920"/>
          </a:xfrm>
          <a:prstGeom prst="roundRect">
            <a:avLst>
              <a:gd name="adj" fmla="val 2222"/>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710" name="Text 16"/>
          <p:cNvSpPr/>
          <p:nvPr/>
        </p:nvSpPr>
        <p:spPr>
          <a:xfrm>
            <a:off x="8302680" y="1581840"/>
            <a:ext cx="41112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10B981"/>
                </a:solidFill>
                <a:effectLst/>
                <a:uFillTx/>
                <a:latin typeface="Aptos"/>
              </a:rPr>
              <a:t>🔐</a:t>
            </a:r>
            <a:endParaRPr lang="de-DE" sz="1800" b="0" u="none" strike="noStrike">
              <a:solidFill>
                <a:srgbClr val="000000"/>
              </a:solidFill>
              <a:effectLst/>
              <a:uFillTx/>
              <a:latin typeface="Arial"/>
            </a:endParaRPr>
          </a:p>
        </p:txBody>
      </p:sp>
      <p:sp>
        <p:nvSpPr>
          <p:cNvPr id="711" name="Text 17"/>
          <p:cNvSpPr/>
          <p:nvPr/>
        </p:nvSpPr>
        <p:spPr>
          <a:xfrm>
            <a:off x="8796600" y="1600200"/>
            <a:ext cx="24685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Sicherheit</a:t>
            </a:r>
            <a:endParaRPr lang="de-DE" sz="1350" b="0" u="none" strike="noStrike">
              <a:solidFill>
                <a:srgbClr val="000000"/>
              </a:solidFill>
              <a:effectLst/>
              <a:uFillTx/>
              <a:latin typeface="Arial"/>
            </a:endParaRPr>
          </a:p>
        </p:txBody>
      </p:sp>
      <p:sp>
        <p:nvSpPr>
          <p:cNvPr id="712" name="Text 18"/>
          <p:cNvSpPr/>
          <p:nvPr/>
        </p:nvSpPr>
        <p:spPr>
          <a:xfrm>
            <a:off x="8339400" y="2075760"/>
            <a:ext cx="2889000" cy="25599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60" b="0" u="none" strike="noStrike">
                <a:solidFill>
                  <a:srgbClr val="334155"/>
                </a:solidFill>
                <a:effectLst/>
                <a:uFillTx/>
                <a:latin typeface="Aptos"/>
              </a:rPr>
              <a:t>Login, Sessions und Passwort-Reset mussten korrekt und nachvollziehbar umgesetzt werden.</a:t>
            </a:r>
            <a:endParaRPr lang="de-DE" sz="96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713" name="Shape 0"/>
          <p:cNvSpPr/>
          <p:nvPr/>
        </p:nvSpPr>
        <p:spPr>
          <a:xfrm>
            <a:off x="0" y="0"/>
            <a:ext cx="12191400" cy="6857640"/>
          </a:xfrm>
          <a:prstGeom prst="rect">
            <a:avLst/>
          </a:prstGeom>
          <a:solidFill>
            <a:srgbClr val="F8FAFC"/>
          </a:solidFill>
          <a:ln w="12700">
            <a:solidFill>
              <a:srgbClr val="F8FAFC">
                <a:alpha val="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714" name="Shape 1"/>
          <p:cNvSpPr/>
          <p:nvPr/>
        </p:nvSpPr>
        <p:spPr>
          <a:xfrm>
            <a:off x="0" y="0"/>
            <a:ext cx="109440" cy="6857640"/>
          </a:xfrm>
          <a:prstGeom prst="rect">
            <a:avLst/>
          </a:prstGeom>
          <a:solidFill>
            <a:srgbClr val="10B981"/>
          </a:solidFill>
          <a:ln w="12700">
            <a:solidFill>
              <a:srgbClr val="10B981"/>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715" name="Text 2"/>
          <p:cNvSpPr/>
          <p:nvPr/>
        </p:nvSpPr>
        <p:spPr>
          <a:xfrm>
            <a:off x="594360" y="384120"/>
            <a:ext cx="9052200" cy="438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0F172A"/>
                </a:solidFill>
                <a:effectLst/>
                <a:uFillTx/>
                <a:latin typeface="Aptos Display"/>
                <a:ea typeface="Aptos Display"/>
              </a:rPr>
              <a:t>Was wurde erreicht?</a:t>
            </a:r>
            <a:endParaRPr lang="de-DE" sz="2400" b="0" u="none" strike="noStrike">
              <a:solidFill>
                <a:srgbClr val="000000"/>
              </a:solidFill>
              <a:effectLst/>
              <a:uFillTx/>
              <a:latin typeface="Arial"/>
            </a:endParaRPr>
          </a:p>
        </p:txBody>
      </p:sp>
      <p:sp>
        <p:nvSpPr>
          <p:cNvPr id="716" name="Text 3"/>
          <p:cNvSpPr/>
          <p:nvPr/>
        </p:nvSpPr>
        <p:spPr>
          <a:xfrm>
            <a:off x="612720" y="850320"/>
            <a:ext cx="96008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4748B"/>
                </a:solidFill>
                <a:effectLst/>
                <a:uFillTx/>
                <a:latin typeface="Aptos"/>
              </a:rPr>
              <a:t>Bewertung anhand der Projektziele</a:t>
            </a:r>
            <a:endParaRPr lang="de-DE" sz="950" b="0" u="none" strike="noStrike">
              <a:solidFill>
                <a:srgbClr val="000000"/>
              </a:solidFill>
              <a:effectLst/>
              <a:uFillTx/>
              <a:latin typeface="Arial"/>
            </a:endParaRPr>
          </a:p>
        </p:txBody>
      </p:sp>
      <p:sp>
        <p:nvSpPr>
          <p:cNvPr id="717" name="Shape 4"/>
          <p:cNvSpPr/>
          <p:nvPr/>
        </p:nvSpPr>
        <p:spPr>
          <a:xfrm>
            <a:off x="502920" y="6473880"/>
            <a:ext cx="11201400" cy="360"/>
          </a:xfrm>
          <a:prstGeom prst="line">
            <a:avLst/>
          </a:prstGeom>
          <a:ln w="7620">
            <a:solidFill>
              <a:srgbClr val="CBD5E1">
                <a:alpha val="70000"/>
              </a:srgbClr>
            </a:solidFill>
            <a:round/>
          </a:ln>
        </p:spPr>
        <p:style>
          <a:lnRef idx="0"/>
          <a:fillRef idx="0"/>
          <a:effectRef idx="0"/>
          <a:fontRef idx="minor"/>
        </p:style>
        <p:txBody>
          <a:bodyPr lIns="90000" tIns="-44640" rIns="90000" bIns="-44640" anchor="t" anchorCtr="1">
            <a:noAutofit/>
          </a:bodyPr>
          <a:p>
            <a:endParaRPr lang="de-DE" sz="1800" b="0" u="none" strike="noStrike">
              <a:solidFill>
                <a:srgbClr val="000000"/>
              </a:solidFill>
              <a:effectLst/>
              <a:uFillTx/>
              <a:latin typeface="Arial"/>
            </a:endParaRPr>
          </a:p>
        </p:txBody>
      </p:sp>
      <p:sp>
        <p:nvSpPr>
          <p:cNvPr id="718" name="Text 5"/>
          <p:cNvSpPr/>
          <p:nvPr/>
        </p:nvSpPr>
        <p:spPr>
          <a:xfrm>
            <a:off x="567000" y="6519600"/>
            <a:ext cx="530316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4748B"/>
                </a:solidFill>
                <a:effectLst/>
                <a:uFillTx/>
                <a:latin typeface="Aptos"/>
                <a:ea typeface="Aptos"/>
              </a:rPr>
              <a:t>Teil 6 · Schlussteil &amp; Fazit</a:t>
            </a:r>
            <a:endParaRPr lang="de-DE" sz="750" b="0" u="none" strike="noStrike">
              <a:solidFill>
                <a:srgbClr val="000000"/>
              </a:solidFill>
              <a:effectLst/>
              <a:uFillTx/>
              <a:latin typeface="Arial"/>
            </a:endParaRPr>
          </a:p>
        </p:txBody>
      </p:sp>
      <p:sp>
        <p:nvSpPr>
          <p:cNvPr id="719" name="Text 6"/>
          <p:cNvSpPr/>
          <p:nvPr/>
        </p:nvSpPr>
        <p:spPr>
          <a:xfrm>
            <a:off x="11201400" y="6519600"/>
            <a:ext cx="45684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50" b="0" u="none" strike="noStrike">
                <a:solidFill>
                  <a:srgbClr val="64748B"/>
                </a:solidFill>
                <a:effectLst/>
                <a:uFillTx/>
                <a:latin typeface="Aptos"/>
                <a:ea typeface="Aptos"/>
              </a:rPr>
              <a:t>37</a:t>
            </a:r>
            <a:endParaRPr lang="de-DE" sz="750" b="0" u="none" strike="noStrike">
              <a:solidFill>
                <a:srgbClr val="000000"/>
              </a:solidFill>
              <a:effectLst/>
              <a:uFillTx/>
              <a:latin typeface="Arial"/>
            </a:endParaRPr>
          </a:p>
        </p:txBody>
      </p:sp>
      <p:sp>
        <p:nvSpPr>
          <p:cNvPr id="720" name="Text 7"/>
          <p:cNvSpPr/>
          <p:nvPr/>
        </p:nvSpPr>
        <p:spPr>
          <a:xfrm>
            <a:off x="868680" y="1371600"/>
            <a:ext cx="6674760" cy="43887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pPr>
            <a:r>
              <a:rPr lang="en-US" sz="1300" b="0" u="none" strike="noStrike">
                <a:solidFill>
                  <a:srgbClr val="334155"/>
                </a:solidFill>
                <a:effectLst/>
                <a:uFillTx/>
                <a:latin typeface="Aptos"/>
              </a:rPr>
              <a:t>Lauffähiger Prototyp mit React-Frontend und Flask-Backend</a:t>
            </a:r>
            <a:endParaRPr lang="de-DE" sz="1300" b="0" u="none" strike="noStrike">
              <a:solidFill>
                <a:srgbClr val="000000"/>
              </a:solidFill>
              <a:effectLst/>
              <a:uFillTx/>
              <a:latin typeface="Arial"/>
            </a:endParaRPr>
          </a:p>
          <a:p>
            <a:pPr defTabSz="914400">
              <a:lnSpc>
                <a:spcPct val="100000"/>
              </a:lnSpc>
            </a:pPr>
            <a:r>
              <a:rPr lang="en-US" sz="1300" b="0" u="none" strike="noStrike">
                <a:solidFill>
                  <a:srgbClr val="334155"/>
                </a:solidFill>
                <a:effectLst/>
                <a:uFillTx/>
                <a:latin typeface="Aptos"/>
              </a:rPr>
              <a:t>Benutzerverwaltung mit Registrierung, Login und Logout</a:t>
            </a:r>
            <a:endParaRPr lang="de-DE" sz="1300" b="0" u="none" strike="noStrike">
              <a:solidFill>
                <a:srgbClr val="000000"/>
              </a:solidFill>
              <a:effectLst/>
              <a:uFillTx/>
              <a:latin typeface="Arial"/>
            </a:endParaRPr>
          </a:p>
          <a:p>
            <a:pPr defTabSz="914400">
              <a:lnSpc>
                <a:spcPct val="100000"/>
              </a:lnSpc>
            </a:pPr>
            <a:r>
              <a:rPr lang="en-US" sz="1300" b="0" u="none" strike="noStrike">
                <a:solidFill>
                  <a:srgbClr val="334155"/>
                </a:solidFill>
                <a:effectLst/>
                <a:uFillTx/>
                <a:latin typeface="Aptos"/>
              </a:rPr>
              <a:t>Finanzprofil und nutzerbezogene Speicherung der Eingabewerte</a:t>
            </a:r>
            <a:endParaRPr lang="de-DE" sz="1300" b="0" u="none" strike="noStrike">
              <a:solidFill>
                <a:srgbClr val="000000"/>
              </a:solidFill>
              <a:effectLst/>
              <a:uFillTx/>
              <a:latin typeface="Arial"/>
            </a:endParaRPr>
          </a:p>
          <a:p>
            <a:pPr defTabSz="914400">
              <a:lnSpc>
                <a:spcPct val="100000"/>
              </a:lnSpc>
            </a:pPr>
            <a:r>
              <a:rPr lang="en-US" sz="1300" b="0" u="none" strike="noStrike">
                <a:solidFill>
                  <a:srgbClr val="334155"/>
                </a:solidFill>
                <a:effectLst/>
                <a:uFillTx/>
                <a:latin typeface="Aptos"/>
              </a:rPr>
              <a:t>Datenbankmodell nach Umstieg auf PostgreSQL überarbeitet</a:t>
            </a:r>
            <a:endParaRPr lang="de-DE" sz="1300" b="0" u="none" strike="noStrike">
              <a:solidFill>
                <a:srgbClr val="000000"/>
              </a:solidFill>
              <a:effectLst/>
              <a:uFillTx/>
              <a:latin typeface="Arial"/>
            </a:endParaRPr>
          </a:p>
          <a:p>
            <a:pPr defTabSz="914400">
              <a:lnSpc>
                <a:spcPct val="100000"/>
              </a:lnSpc>
            </a:pPr>
            <a:r>
              <a:rPr lang="en-US" sz="1300" b="0" u="none" strike="noStrike">
                <a:solidFill>
                  <a:srgbClr val="334155"/>
                </a:solidFill>
                <a:effectLst/>
                <a:uFillTx/>
                <a:latin typeface="Aptos"/>
              </a:rPr>
              <a:t>Passwort-vergessen-Funktion mit E-Mail-Link umgesetzt</a:t>
            </a:r>
            <a:endParaRPr lang="de-DE" sz="1300" b="0" u="none" strike="noStrike">
              <a:solidFill>
                <a:srgbClr val="000000"/>
              </a:solidFill>
              <a:effectLst/>
              <a:uFillTx/>
              <a:latin typeface="Arial"/>
            </a:endParaRPr>
          </a:p>
          <a:p>
            <a:pPr defTabSz="914400">
              <a:lnSpc>
                <a:spcPct val="100000"/>
              </a:lnSpc>
            </a:pPr>
            <a:r>
              <a:rPr lang="en-US" sz="1300" b="0" u="none" strike="noStrike">
                <a:solidFill>
                  <a:srgbClr val="334155"/>
                </a:solidFill>
                <a:effectLst/>
                <a:uFillTx/>
                <a:latin typeface="Aptos"/>
              </a:rPr>
              <a:t>FAQ-Seite und Demo-Vorbereitung integriert</a:t>
            </a:r>
            <a:endParaRPr lang="de-DE" sz="1300" b="0" u="none" strike="noStrike">
              <a:solidFill>
                <a:srgbClr val="000000"/>
              </a:solidFill>
              <a:effectLst/>
              <a:uFillTx/>
              <a:latin typeface="Arial"/>
            </a:endParaRPr>
          </a:p>
          <a:p>
            <a:pPr defTabSz="914400">
              <a:lnSpc>
                <a:spcPct val="100000"/>
              </a:lnSpc>
            </a:pPr>
            <a:r>
              <a:rPr lang="en-US" sz="1300" b="0" u="none" strike="noStrike">
                <a:solidFill>
                  <a:srgbClr val="334155"/>
                </a:solidFill>
                <a:effectLst/>
                <a:uFillTx/>
                <a:latin typeface="Aptos"/>
              </a:rPr>
              <a:t>Docker-Setup für lokale Inbetriebnahme vorhanden</a:t>
            </a:r>
            <a:endParaRPr lang="de-DE" sz="1300" b="0" u="none" strike="noStrike">
              <a:solidFill>
                <a:srgbClr val="000000"/>
              </a:solidFill>
              <a:effectLst/>
              <a:uFillTx/>
              <a:latin typeface="Arial"/>
            </a:endParaRPr>
          </a:p>
        </p:txBody>
      </p:sp>
      <p:sp>
        <p:nvSpPr>
          <p:cNvPr id="721" name="Shape 8"/>
          <p:cNvSpPr/>
          <p:nvPr/>
        </p:nvSpPr>
        <p:spPr>
          <a:xfrm>
            <a:off x="8138160" y="1965960"/>
            <a:ext cx="2651400" cy="2011320"/>
          </a:xfrm>
          <a:prstGeom prst="roundRect">
            <a:avLst>
              <a:gd name="adj" fmla="val 3636"/>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722" name="Text 9"/>
          <p:cNvSpPr/>
          <p:nvPr/>
        </p:nvSpPr>
        <p:spPr>
          <a:xfrm>
            <a:off x="8302680" y="2130480"/>
            <a:ext cx="41112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10B981"/>
                </a:solidFill>
                <a:effectLst/>
                <a:uFillTx/>
                <a:latin typeface="Aptos"/>
              </a:rPr>
              <a:t>✓</a:t>
            </a:r>
            <a:endParaRPr lang="de-DE" sz="1800" b="0" u="none" strike="noStrike">
              <a:solidFill>
                <a:srgbClr val="000000"/>
              </a:solidFill>
              <a:effectLst/>
              <a:uFillTx/>
              <a:latin typeface="Arial"/>
            </a:endParaRPr>
          </a:p>
        </p:txBody>
      </p:sp>
      <p:sp>
        <p:nvSpPr>
          <p:cNvPr id="723" name="Text 10"/>
          <p:cNvSpPr/>
          <p:nvPr/>
        </p:nvSpPr>
        <p:spPr>
          <a:xfrm>
            <a:off x="8796600" y="2148840"/>
            <a:ext cx="1828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Kernbotschaft</a:t>
            </a:r>
            <a:endParaRPr lang="de-DE" sz="1350" b="0" u="none" strike="noStrike">
              <a:solidFill>
                <a:srgbClr val="000000"/>
              </a:solidFill>
              <a:effectLst/>
              <a:uFillTx/>
              <a:latin typeface="Arial"/>
            </a:endParaRPr>
          </a:p>
        </p:txBody>
      </p:sp>
      <p:sp>
        <p:nvSpPr>
          <p:cNvPr id="724" name="Text 11"/>
          <p:cNvSpPr/>
          <p:nvPr/>
        </p:nvSpPr>
        <p:spPr>
          <a:xfrm>
            <a:off x="8339400" y="2624400"/>
            <a:ext cx="2248920" cy="118836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60" b="0" u="none" strike="noStrike">
                <a:solidFill>
                  <a:srgbClr val="334155"/>
                </a:solidFill>
                <a:effectLst/>
                <a:uFillTx/>
                <a:latin typeface="Aptos"/>
              </a:rPr>
              <a:t>Der Prototyp verbindet mehrere reale Webentwicklungsbausteine zu einem funktionierenden Gesamtsystem.</a:t>
            </a:r>
            <a:endParaRPr lang="de-DE" sz="96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725" name="Shape 0"/>
          <p:cNvSpPr/>
          <p:nvPr/>
        </p:nvSpPr>
        <p:spPr>
          <a:xfrm>
            <a:off x="0" y="0"/>
            <a:ext cx="12191400" cy="6857640"/>
          </a:xfrm>
          <a:prstGeom prst="rect">
            <a:avLst/>
          </a:prstGeom>
          <a:solidFill>
            <a:srgbClr val="F8FAFC"/>
          </a:solidFill>
          <a:ln w="12700">
            <a:solidFill>
              <a:srgbClr val="F8FAFC">
                <a:alpha val="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726" name="Shape 1"/>
          <p:cNvSpPr/>
          <p:nvPr/>
        </p:nvSpPr>
        <p:spPr>
          <a:xfrm>
            <a:off x="0" y="0"/>
            <a:ext cx="109440" cy="6857640"/>
          </a:xfrm>
          <a:prstGeom prst="rect">
            <a:avLst/>
          </a:prstGeom>
          <a:solidFill>
            <a:srgbClr val="10B981"/>
          </a:solidFill>
          <a:ln w="12700">
            <a:solidFill>
              <a:srgbClr val="10B981"/>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727" name="Text 2"/>
          <p:cNvSpPr/>
          <p:nvPr/>
        </p:nvSpPr>
        <p:spPr>
          <a:xfrm>
            <a:off x="594360" y="384120"/>
            <a:ext cx="9052200" cy="438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0F172A"/>
                </a:solidFill>
                <a:effectLst/>
                <a:uFillTx/>
                <a:latin typeface="Aptos Display"/>
                <a:ea typeface="Aptos Display"/>
              </a:rPr>
              <a:t>Ausblick</a:t>
            </a:r>
            <a:endParaRPr lang="de-DE" sz="2400" b="0" u="none" strike="noStrike">
              <a:solidFill>
                <a:srgbClr val="000000"/>
              </a:solidFill>
              <a:effectLst/>
              <a:uFillTx/>
              <a:latin typeface="Arial"/>
            </a:endParaRPr>
          </a:p>
        </p:txBody>
      </p:sp>
      <p:sp>
        <p:nvSpPr>
          <p:cNvPr id="728" name="Text 3"/>
          <p:cNvSpPr/>
          <p:nvPr/>
        </p:nvSpPr>
        <p:spPr>
          <a:xfrm>
            <a:off x="612720" y="850320"/>
            <a:ext cx="96008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4748B"/>
                </a:solidFill>
                <a:effectLst/>
                <a:uFillTx/>
                <a:latin typeface="Aptos"/>
              </a:rPr>
              <a:t>Wie der Lebens-Finanzplaner weiterentwickelt werden kann</a:t>
            </a:r>
            <a:endParaRPr lang="de-DE" sz="950" b="0" u="none" strike="noStrike">
              <a:solidFill>
                <a:srgbClr val="000000"/>
              </a:solidFill>
              <a:effectLst/>
              <a:uFillTx/>
              <a:latin typeface="Arial"/>
            </a:endParaRPr>
          </a:p>
        </p:txBody>
      </p:sp>
      <p:sp>
        <p:nvSpPr>
          <p:cNvPr id="729" name="Shape 4"/>
          <p:cNvSpPr/>
          <p:nvPr/>
        </p:nvSpPr>
        <p:spPr>
          <a:xfrm>
            <a:off x="502920" y="6473880"/>
            <a:ext cx="11201400" cy="360"/>
          </a:xfrm>
          <a:prstGeom prst="line">
            <a:avLst/>
          </a:prstGeom>
          <a:ln w="7620">
            <a:solidFill>
              <a:srgbClr val="CBD5E1">
                <a:alpha val="70000"/>
              </a:srgbClr>
            </a:solidFill>
            <a:round/>
          </a:ln>
        </p:spPr>
        <p:style>
          <a:lnRef idx="0"/>
          <a:fillRef idx="0"/>
          <a:effectRef idx="0"/>
          <a:fontRef idx="minor"/>
        </p:style>
        <p:txBody>
          <a:bodyPr lIns="90000" tIns="-44640" rIns="90000" bIns="-44640" anchor="t" anchorCtr="1">
            <a:noAutofit/>
          </a:bodyPr>
          <a:p>
            <a:endParaRPr lang="de-DE" sz="1800" b="0" u="none" strike="noStrike">
              <a:solidFill>
                <a:srgbClr val="000000"/>
              </a:solidFill>
              <a:effectLst/>
              <a:uFillTx/>
              <a:latin typeface="Arial"/>
            </a:endParaRPr>
          </a:p>
        </p:txBody>
      </p:sp>
      <p:sp>
        <p:nvSpPr>
          <p:cNvPr id="730" name="Text 5"/>
          <p:cNvSpPr/>
          <p:nvPr/>
        </p:nvSpPr>
        <p:spPr>
          <a:xfrm>
            <a:off x="567000" y="6519600"/>
            <a:ext cx="530316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4748B"/>
                </a:solidFill>
                <a:effectLst/>
                <a:uFillTx/>
                <a:latin typeface="Aptos"/>
                <a:ea typeface="Aptos"/>
              </a:rPr>
              <a:t>Teil 6 · Schlussteil &amp; Fazit</a:t>
            </a:r>
            <a:endParaRPr lang="de-DE" sz="750" b="0" u="none" strike="noStrike">
              <a:solidFill>
                <a:srgbClr val="000000"/>
              </a:solidFill>
              <a:effectLst/>
              <a:uFillTx/>
              <a:latin typeface="Arial"/>
            </a:endParaRPr>
          </a:p>
        </p:txBody>
      </p:sp>
      <p:sp>
        <p:nvSpPr>
          <p:cNvPr id="731" name="Text 6"/>
          <p:cNvSpPr/>
          <p:nvPr/>
        </p:nvSpPr>
        <p:spPr>
          <a:xfrm>
            <a:off x="11201400" y="6519600"/>
            <a:ext cx="45684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50" b="0" u="none" strike="noStrike">
                <a:solidFill>
                  <a:srgbClr val="64748B"/>
                </a:solidFill>
                <a:effectLst/>
                <a:uFillTx/>
                <a:latin typeface="Aptos"/>
                <a:ea typeface="Aptos"/>
              </a:rPr>
              <a:t>38</a:t>
            </a:r>
            <a:endParaRPr lang="de-DE" sz="750" b="0" u="none" strike="noStrike">
              <a:solidFill>
                <a:srgbClr val="000000"/>
              </a:solidFill>
              <a:effectLst/>
              <a:uFillTx/>
              <a:latin typeface="Arial"/>
            </a:endParaRPr>
          </a:p>
        </p:txBody>
      </p:sp>
      <p:sp>
        <p:nvSpPr>
          <p:cNvPr id="732" name="Shape 7"/>
          <p:cNvSpPr/>
          <p:nvPr/>
        </p:nvSpPr>
        <p:spPr>
          <a:xfrm>
            <a:off x="777240" y="1417320"/>
            <a:ext cx="3337200" cy="3291480"/>
          </a:xfrm>
          <a:prstGeom prst="roundRect">
            <a:avLst>
              <a:gd name="adj" fmla="val 2222"/>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733" name="Text 8"/>
          <p:cNvSpPr/>
          <p:nvPr/>
        </p:nvSpPr>
        <p:spPr>
          <a:xfrm>
            <a:off x="941760" y="1581840"/>
            <a:ext cx="41112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2563EB"/>
                </a:solidFill>
                <a:effectLst/>
                <a:uFillTx/>
                <a:latin typeface="Aptos"/>
              </a:rPr>
              <a:t>⚙</a:t>
            </a:r>
            <a:endParaRPr lang="de-DE" sz="1800" b="0" u="none" strike="noStrike">
              <a:solidFill>
                <a:srgbClr val="000000"/>
              </a:solidFill>
              <a:effectLst/>
              <a:uFillTx/>
              <a:latin typeface="Arial"/>
            </a:endParaRPr>
          </a:p>
        </p:txBody>
      </p:sp>
      <p:sp>
        <p:nvSpPr>
          <p:cNvPr id="734" name="Text 9"/>
          <p:cNvSpPr/>
          <p:nvPr/>
        </p:nvSpPr>
        <p:spPr>
          <a:xfrm>
            <a:off x="1435680" y="1600200"/>
            <a:ext cx="2514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Technisch</a:t>
            </a:r>
            <a:endParaRPr lang="de-DE" sz="1350" b="0" u="none" strike="noStrike">
              <a:solidFill>
                <a:srgbClr val="000000"/>
              </a:solidFill>
              <a:effectLst/>
              <a:uFillTx/>
              <a:latin typeface="Arial"/>
            </a:endParaRPr>
          </a:p>
        </p:txBody>
      </p:sp>
      <p:sp>
        <p:nvSpPr>
          <p:cNvPr id="735" name="Text 10"/>
          <p:cNvSpPr/>
          <p:nvPr/>
        </p:nvSpPr>
        <p:spPr>
          <a:xfrm>
            <a:off x="978480" y="2075760"/>
            <a:ext cx="2934720" cy="24685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60" b="0" u="none" strike="noStrike">
                <a:solidFill>
                  <a:srgbClr val="334155"/>
                </a:solidFill>
                <a:effectLst/>
                <a:uFillTx/>
                <a:latin typeface="Aptos"/>
              </a:rPr>
              <a:t>CI-Pipeline, API-Dokumentation, Migrationstool, HTTPS-Deployment, Monitoring.</a:t>
            </a:r>
            <a:endParaRPr lang="de-DE" sz="960" b="0" u="none" strike="noStrike">
              <a:solidFill>
                <a:srgbClr val="000000"/>
              </a:solidFill>
              <a:effectLst/>
              <a:uFillTx/>
              <a:latin typeface="Arial"/>
            </a:endParaRPr>
          </a:p>
        </p:txBody>
      </p:sp>
      <p:sp>
        <p:nvSpPr>
          <p:cNvPr id="736" name="Shape 11"/>
          <p:cNvSpPr/>
          <p:nvPr/>
        </p:nvSpPr>
        <p:spPr>
          <a:xfrm>
            <a:off x="4434840" y="1417320"/>
            <a:ext cx="3337200" cy="3291480"/>
          </a:xfrm>
          <a:prstGeom prst="roundRect">
            <a:avLst>
              <a:gd name="adj" fmla="val 2222"/>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737" name="Text 12"/>
          <p:cNvSpPr/>
          <p:nvPr/>
        </p:nvSpPr>
        <p:spPr>
          <a:xfrm>
            <a:off x="4599360" y="1581840"/>
            <a:ext cx="41112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10B981"/>
                </a:solidFill>
                <a:effectLst/>
                <a:uFillTx/>
                <a:latin typeface="Aptos"/>
              </a:rPr>
              <a:t>📈</a:t>
            </a:r>
            <a:endParaRPr lang="de-DE" sz="1800" b="0" u="none" strike="noStrike">
              <a:solidFill>
                <a:srgbClr val="000000"/>
              </a:solidFill>
              <a:effectLst/>
              <a:uFillTx/>
              <a:latin typeface="Arial"/>
            </a:endParaRPr>
          </a:p>
        </p:txBody>
      </p:sp>
      <p:sp>
        <p:nvSpPr>
          <p:cNvPr id="738" name="Text 13"/>
          <p:cNvSpPr/>
          <p:nvPr/>
        </p:nvSpPr>
        <p:spPr>
          <a:xfrm>
            <a:off x="5093280" y="1600200"/>
            <a:ext cx="2514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Fachlich</a:t>
            </a:r>
            <a:endParaRPr lang="de-DE" sz="1350" b="0" u="none" strike="noStrike">
              <a:solidFill>
                <a:srgbClr val="000000"/>
              </a:solidFill>
              <a:effectLst/>
              <a:uFillTx/>
              <a:latin typeface="Arial"/>
            </a:endParaRPr>
          </a:p>
        </p:txBody>
      </p:sp>
      <p:sp>
        <p:nvSpPr>
          <p:cNvPr id="739" name="Text 14"/>
          <p:cNvSpPr/>
          <p:nvPr/>
        </p:nvSpPr>
        <p:spPr>
          <a:xfrm>
            <a:off x="4636080" y="2075760"/>
            <a:ext cx="2934720" cy="24685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60" b="0" u="none" strike="noStrike">
                <a:solidFill>
                  <a:srgbClr val="334155"/>
                </a:solidFill>
                <a:effectLst/>
                <a:uFillTx/>
                <a:latin typeface="Aptos"/>
              </a:rPr>
              <a:t>Mehr Szenarien, Inflation, Exporte, detaillierte Berechnungen und verständlichere Erklärungen.</a:t>
            </a:r>
            <a:endParaRPr lang="de-DE" sz="960" b="0" u="none" strike="noStrike">
              <a:solidFill>
                <a:srgbClr val="000000"/>
              </a:solidFill>
              <a:effectLst/>
              <a:uFillTx/>
              <a:latin typeface="Arial"/>
            </a:endParaRPr>
          </a:p>
        </p:txBody>
      </p:sp>
      <p:sp>
        <p:nvSpPr>
          <p:cNvPr id="740" name="Shape 15"/>
          <p:cNvSpPr/>
          <p:nvPr/>
        </p:nvSpPr>
        <p:spPr>
          <a:xfrm>
            <a:off x="8092440" y="1417320"/>
            <a:ext cx="3337200" cy="3291480"/>
          </a:xfrm>
          <a:prstGeom prst="roundRect">
            <a:avLst>
              <a:gd name="adj" fmla="val 2222"/>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741" name="Text 16"/>
          <p:cNvSpPr/>
          <p:nvPr/>
        </p:nvSpPr>
        <p:spPr>
          <a:xfrm>
            <a:off x="8256960" y="1581840"/>
            <a:ext cx="41112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E11D48"/>
                </a:solidFill>
                <a:effectLst/>
                <a:uFillTx/>
                <a:latin typeface="Aptos"/>
              </a:rPr>
              <a:t>⚖</a:t>
            </a:r>
            <a:endParaRPr lang="de-DE" sz="1800" b="0" u="none" strike="noStrike">
              <a:solidFill>
                <a:srgbClr val="000000"/>
              </a:solidFill>
              <a:effectLst/>
              <a:uFillTx/>
              <a:latin typeface="Arial"/>
            </a:endParaRPr>
          </a:p>
        </p:txBody>
      </p:sp>
      <p:sp>
        <p:nvSpPr>
          <p:cNvPr id="742" name="Text 17"/>
          <p:cNvSpPr/>
          <p:nvPr/>
        </p:nvSpPr>
        <p:spPr>
          <a:xfrm>
            <a:off x="8750880" y="1600200"/>
            <a:ext cx="2514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Sicherheit &amp; Recht</a:t>
            </a:r>
            <a:endParaRPr lang="de-DE" sz="1350" b="0" u="none" strike="noStrike">
              <a:solidFill>
                <a:srgbClr val="000000"/>
              </a:solidFill>
              <a:effectLst/>
              <a:uFillTx/>
              <a:latin typeface="Arial"/>
            </a:endParaRPr>
          </a:p>
        </p:txBody>
      </p:sp>
      <p:sp>
        <p:nvSpPr>
          <p:cNvPr id="743" name="Text 18"/>
          <p:cNvSpPr/>
          <p:nvPr/>
        </p:nvSpPr>
        <p:spPr>
          <a:xfrm>
            <a:off x="8293680" y="2075760"/>
            <a:ext cx="2934720" cy="24685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60" b="0" u="none" strike="noStrike">
                <a:solidFill>
                  <a:srgbClr val="334155"/>
                </a:solidFill>
                <a:effectLst/>
                <a:uFillTx/>
                <a:latin typeface="Aptos"/>
              </a:rPr>
              <a:t>Security Review, Datenschutzkonzept, Rate Limiting, klare Abgrenzung von Finanzberatung.</a:t>
            </a:r>
            <a:endParaRPr lang="de-DE" sz="96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744" name="Shape 0"/>
          <p:cNvSpPr/>
          <p:nvPr/>
        </p:nvSpPr>
        <p:spPr>
          <a:xfrm>
            <a:off x="0" y="0"/>
            <a:ext cx="12191400" cy="6857640"/>
          </a:xfrm>
          <a:prstGeom prst="rect">
            <a:avLst/>
          </a:prstGeom>
          <a:solidFill>
            <a:srgbClr val="F8FAFC"/>
          </a:solidFill>
          <a:ln w="12700">
            <a:solidFill>
              <a:srgbClr val="F8FAFC">
                <a:alpha val="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745" name="Shape 1"/>
          <p:cNvSpPr/>
          <p:nvPr/>
        </p:nvSpPr>
        <p:spPr>
          <a:xfrm>
            <a:off x="0" y="0"/>
            <a:ext cx="109440" cy="6857640"/>
          </a:xfrm>
          <a:prstGeom prst="rect">
            <a:avLst/>
          </a:prstGeom>
          <a:solidFill>
            <a:srgbClr val="10B981"/>
          </a:solidFill>
          <a:ln w="12700">
            <a:solidFill>
              <a:srgbClr val="10B981"/>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746" name="Text 2"/>
          <p:cNvSpPr/>
          <p:nvPr/>
        </p:nvSpPr>
        <p:spPr>
          <a:xfrm>
            <a:off x="594360" y="384120"/>
            <a:ext cx="9052200" cy="438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0F172A"/>
                </a:solidFill>
                <a:effectLst/>
                <a:uFillTx/>
                <a:latin typeface="Aptos Display"/>
                <a:ea typeface="Aptos Display"/>
              </a:rPr>
              <a:t>Fazit</a:t>
            </a:r>
            <a:endParaRPr lang="de-DE" sz="2400" b="0" u="none" strike="noStrike">
              <a:solidFill>
                <a:srgbClr val="000000"/>
              </a:solidFill>
              <a:effectLst/>
              <a:uFillTx/>
              <a:latin typeface="Arial"/>
            </a:endParaRPr>
          </a:p>
        </p:txBody>
      </p:sp>
      <p:sp>
        <p:nvSpPr>
          <p:cNvPr id="747" name="Text 3"/>
          <p:cNvSpPr/>
          <p:nvPr/>
        </p:nvSpPr>
        <p:spPr>
          <a:xfrm>
            <a:off x="612720" y="850320"/>
            <a:ext cx="96008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4748B"/>
                </a:solidFill>
                <a:effectLst/>
                <a:uFillTx/>
                <a:latin typeface="Aptos"/>
              </a:rPr>
              <a:t>Vom Planungsproblem zum technischen Prototyp</a:t>
            </a:r>
            <a:endParaRPr lang="de-DE" sz="950" b="0" u="none" strike="noStrike">
              <a:solidFill>
                <a:srgbClr val="000000"/>
              </a:solidFill>
              <a:effectLst/>
              <a:uFillTx/>
              <a:latin typeface="Arial"/>
            </a:endParaRPr>
          </a:p>
        </p:txBody>
      </p:sp>
      <p:sp>
        <p:nvSpPr>
          <p:cNvPr id="748" name="Shape 4"/>
          <p:cNvSpPr/>
          <p:nvPr/>
        </p:nvSpPr>
        <p:spPr>
          <a:xfrm>
            <a:off x="502920" y="6473880"/>
            <a:ext cx="11201400" cy="360"/>
          </a:xfrm>
          <a:prstGeom prst="line">
            <a:avLst/>
          </a:prstGeom>
          <a:ln w="7620">
            <a:solidFill>
              <a:srgbClr val="CBD5E1">
                <a:alpha val="70000"/>
              </a:srgbClr>
            </a:solidFill>
            <a:round/>
          </a:ln>
        </p:spPr>
        <p:style>
          <a:lnRef idx="0"/>
          <a:fillRef idx="0"/>
          <a:effectRef idx="0"/>
          <a:fontRef idx="minor"/>
        </p:style>
        <p:txBody>
          <a:bodyPr lIns="90000" tIns="-44640" rIns="90000" bIns="-44640" anchor="t" anchorCtr="1">
            <a:noAutofit/>
          </a:bodyPr>
          <a:p>
            <a:endParaRPr lang="de-DE" sz="1800" b="0" u="none" strike="noStrike">
              <a:solidFill>
                <a:srgbClr val="000000"/>
              </a:solidFill>
              <a:effectLst/>
              <a:uFillTx/>
              <a:latin typeface="Arial"/>
            </a:endParaRPr>
          </a:p>
        </p:txBody>
      </p:sp>
      <p:sp>
        <p:nvSpPr>
          <p:cNvPr id="749" name="Text 5"/>
          <p:cNvSpPr/>
          <p:nvPr/>
        </p:nvSpPr>
        <p:spPr>
          <a:xfrm>
            <a:off x="567000" y="6519600"/>
            <a:ext cx="530316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4748B"/>
                </a:solidFill>
                <a:effectLst/>
                <a:uFillTx/>
                <a:latin typeface="Aptos"/>
                <a:ea typeface="Aptos"/>
              </a:rPr>
              <a:t>Teil 6 · Schlussteil &amp; Fazit</a:t>
            </a:r>
            <a:endParaRPr lang="de-DE" sz="750" b="0" u="none" strike="noStrike">
              <a:solidFill>
                <a:srgbClr val="000000"/>
              </a:solidFill>
              <a:effectLst/>
              <a:uFillTx/>
              <a:latin typeface="Arial"/>
            </a:endParaRPr>
          </a:p>
        </p:txBody>
      </p:sp>
      <p:sp>
        <p:nvSpPr>
          <p:cNvPr id="750" name="Text 6"/>
          <p:cNvSpPr/>
          <p:nvPr/>
        </p:nvSpPr>
        <p:spPr>
          <a:xfrm>
            <a:off x="11201400" y="6519600"/>
            <a:ext cx="456840" cy="1825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50" b="0" u="none" strike="noStrike">
                <a:solidFill>
                  <a:srgbClr val="64748B"/>
                </a:solidFill>
                <a:effectLst/>
                <a:uFillTx/>
                <a:latin typeface="Aptos"/>
                <a:ea typeface="Aptos"/>
              </a:rPr>
              <a:t>39</a:t>
            </a:r>
            <a:endParaRPr lang="de-DE" sz="750" b="0" u="none" strike="noStrike">
              <a:solidFill>
                <a:srgbClr val="000000"/>
              </a:solidFill>
              <a:effectLst/>
              <a:uFillTx/>
              <a:latin typeface="Arial"/>
            </a:endParaRPr>
          </a:p>
        </p:txBody>
      </p:sp>
      <p:sp>
        <p:nvSpPr>
          <p:cNvPr id="751" name="Text 7"/>
          <p:cNvSpPr/>
          <p:nvPr/>
        </p:nvSpPr>
        <p:spPr>
          <a:xfrm>
            <a:off x="868680" y="1417320"/>
            <a:ext cx="9966600" cy="639720"/>
          </a:xfrm>
          <a:prstGeom prst="rect">
            <a:avLst/>
          </a:prstGeom>
          <a:noFill/>
          <a:ln w="0">
            <a:noFill/>
          </a:ln>
        </p:spPr>
        <p:style>
          <a:lnRef idx="0"/>
          <a:fillRef idx="0"/>
          <a:effectRef idx="0"/>
          <a:fontRef idx="minor"/>
        </p:style>
        <p:txBody>
          <a:bodyPr lIns="360" tIns="360" rIns="360" bIns="360" anchor="ctr">
            <a:normAutofit lnSpcReduction="9999"/>
          </a:bodyPr>
          <a:p>
            <a:pPr defTabSz="914400">
              <a:lnSpc>
                <a:spcPct val="100000"/>
              </a:lnSpc>
              <a:tabLst>
                <a:tab pos="0" algn="l"/>
              </a:tabLst>
            </a:pPr>
            <a:r>
              <a:rPr lang="en-US" sz="2200" b="1" u="none" strike="noStrike">
                <a:solidFill>
                  <a:srgbClr val="0F172A"/>
                </a:solidFill>
                <a:effectLst/>
                <a:uFillTx/>
                <a:latin typeface="Aptos"/>
              </a:rPr>
              <a:t>Der Lebens-Finanzplaner zeigt, wie persönliche Finanzplanung als moderne Webanwendung umgesetzt werden kann.</a:t>
            </a:r>
            <a:endParaRPr lang="de-DE" sz="2200" b="0" u="none" strike="noStrike">
              <a:solidFill>
                <a:srgbClr val="000000"/>
              </a:solidFill>
              <a:effectLst/>
              <a:uFillTx/>
              <a:latin typeface="Arial"/>
            </a:endParaRPr>
          </a:p>
        </p:txBody>
      </p:sp>
      <p:sp>
        <p:nvSpPr>
          <p:cNvPr id="752" name="Shape 8"/>
          <p:cNvSpPr/>
          <p:nvPr/>
        </p:nvSpPr>
        <p:spPr>
          <a:xfrm>
            <a:off x="914400" y="2743200"/>
            <a:ext cx="2925720" cy="1279800"/>
          </a:xfrm>
          <a:prstGeom prst="roundRect">
            <a:avLst>
              <a:gd name="adj" fmla="val 5714"/>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753" name="Text 9"/>
          <p:cNvSpPr/>
          <p:nvPr/>
        </p:nvSpPr>
        <p:spPr>
          <a:xfrm>
            <a:off x="1078920" y="2907720"/>
            <a:ext cx="41112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10B981"/>
                </a:solidFill>
                <a:effectLst/>
                <a:uFillTx/>
                <a:latin typeface="Aptos"/>
              </a:rPr>
              <a:t>1</a:t>
            </a:r>
            <a:endParaRPr lang="de-DE" sz="1800" b="0" u="none" strike="noStrike">
              <a:solidFill>
                <a:srgbClr val="000000"/>
              </a:solidFill>
              <a:effectLst/>
              <a:uFillTx/>
              <a:latin typeface="Arial"/>
            </a:endParaRPr>
          </a:p>
        </p:txBody>
      </p:sp>
      <p:sp>
        <p:nvSpPr>
          <p:cNvPr id="754" name="Text 10"/>
          <p:cNvSpPr/>
          <p:nvPr/>
        </p:nvSpPr>
        <p:spPr>
          <a:xfrm>
            <a:off x="1572840" y="2926080"/>
            <a:ext cx="21027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Projektidee</a:t>
            </a:r>
            <a:endParaRPr lang="de-DE" sz="1350" b="0" u="none" strike="noStrike">
              <a:solidFill>
                <a:srgbClr val="000000"/>
              </a:solidFill>
              <a:effectLst/>
              <a:uFillTx/>
              <a:latin typeface="Arial"/>
            </a:endParaRPr>
          </a:p>
        </p:txBody>
      </p:sp>
      <p:sp>
        <p:nvSpPr>
          <p:cNvPr id="755" name="Text 11"/>
          <p:cNvSpPr/>
          <p:nvPr/>
        </p:nvSpPr>
        <p:spPr>
          <a:xfrm>
            <a:off x="1115640" y="3401640"/>
            <a:ext cx="2523240" cy="45684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60" b="0" u="none" strike="noStrike">
                <a:solidFill>
                  <a:srgbClr val="334155"/>
                </a:solidFill>
                <a:effectLst/>
                <a:uFillTx/>
                <a:latin typeface="Aptos"/>
              </a:rPr>
              <a:t>Finanzdaten zentral und verständlich planen</a:t>
            </a:r>
            <a:endParaRPr lang="de-DE" sz="960" b="0" u="none" strike="noStrike">
              <a:solidFill>
                <a:srgbClr val="000000"/>
              </a:solidFill>
              <a:effectLst/>
              <a:uFillTx/>
              <a:latin typeface="Arial"/>
            </a:endParaRPr>
          </a:p>
        </p:txBody>
      </p:sp>
      <p:sp>
        <p:nvSpPr>
          <p:cNvPr id="756" name="Shape 12"/>
          <p:cNvSpPr/>
          <p:nvPr/>
        </p:nvSpPr>
        <p:spPr>
          <a:xfrm>
            <a:off x="4617720" y="2743200"/>
            <a:ext cx="2925720" cy="1279800"/>
          </a:xfrm>
          <a:prstGeom prst="roundRect">
            <a:avLst>
              <a:gd name="adj" fmla="val 5714"/>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757" name="Text 13"/>
          <p:cNvSpPr/>
          <p:nvPr/>
        </p:nvSpPr>
        <p:spPr>
          <a:xfrm>
            <a:off x="4782240" y="2907720"/>
            <a:ext cx="41112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2563EB"/>
                </a:solidFill>
                <a:effectLst/>
                <a:uFillTx/>
                <a:latin typeface="Aptos"/>
              </a:rPr>
              <a:t>2</a:t>
            </a:r>
            <a:endParaRPr lang="de-DE" sz="1800" b="0" u="none" strike="noStrike">
              <a:solidFill>
                <a:srgbClr val="000000"/>
              </a:solidFill>
              <a:effectLst/>
              <a:uFillTx/>
              <a:latin typeface="Arial"/>
            </a:endParaRPr>
          </a:p>
        </p:txBody>
      </p:sp>
      <p:sp>
        <p:nvSpPr>
          <p:cNvPr id="758" name="Text 14"/>
          <p:cNvSpPr/>
          <p:nvPr/>
        </p:nvSpPr>
        <p:spPr>
          <a:xfrm>
            <a:off x="5276160" y="2926080"/>
            <a:ext cx="21027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Umsetzung</a:t>
            </a:r>
            <a:endParaRPr lang="de-DE" sz="1350" b="0" u="none" strike="noStrike">
              <a:solidFill>
                <a:srgbClr val="000000"/>
              </a:solidFill>
              <a:effectLst/>
              <a:uFillTx/>
              <a:latin typeface="Arial"/>
            </a:endParaRPr>
          </a:p>
        </p:txBody>
      </p:sp>
      <p:sp>
        <p:nvSpPr>
          <p:cNvPr id="759" name="Text 15"/>
          <p:cNvSpPr/>
          <p:nvPr/>
        </p:nvSpPr>
        <p:spPr>
          <a:xfrm>
            <a:off x="4818960" y="3401640"/>
            <a:ext cx="2523240" cy="45684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60" b="0" u="none" strike="noStrike">
                <a:solidFill>
                  <a:srgbClr val="334155"/>
                </a:solidFill>
                <a:effectLst/>
                <a:uFillTx/>
                <a:latin typeface="Aptos"/>
              </a:rPr>
              <a:t>React, Flask, PostgreSQL und Docker integriert</a:t>
            </a:r>
            <a:endParaRPr lang="de-DE" sz="960" b="0" u="none" strike="noStrike">
              <a:solidFill>
                <a:srgbClr val="000000"/>
              </a:solidFill>
              <a:effectLst/>
              <a:uFillTx/>
              <a:latin typeface="Arial"/>
            </a:endParaRPr>
          </a:p>
        </p:txBody>
      </p:sp>
      <p:sp>
        <p:nvSpPr>
          <p:cNvPr id="760" name="Shape 16"/>
          <p:cNvSpPr/>
          <p:nvPr/>
        </p:nvSpPr>
        <p:spPr>
          <a:xfrm>
            <a:off x="8321040" y="2743200"/>
            <a:ext cx="2925720" cy="1279800"/>
          </a:xfrm>
          <a:prstGeom prst="roundRect">
            <a:avLst>
              <a:gd name="adj" fmla="val 5714"/>
            </a:avLst>
          </a:prstGeom>
          <a:solidFill>
            <a:srgbClr val="FFFFFF"/>
          </a:solidFill>
          <a:ln w="8890">
            <a:solidFill>
              <a:srgbClr val="CBD5E1">
                <a:alpha val="70000"/>
              </a:srgbClr>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761" name="Text 17"/>
          <p:cNvSpPr/>
          <p:nvPr/>
        </p:nvSpPr>
        <p:spPr>
          <a:xfrm>
            <a:off x="8485560" y="2907720"/>
            <a:ext cx="41112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F59E0B"/>
                </a:solidFill>
                <a:effectLst/>
                <a:uFillTx/>
                <a:latin typeface="Aptos"/>
              </a:rPr>
              <a:t>3</a:t>
            </a:r>
            <a:endParaRPr lang="de-DE" sz="1800" b="0" u="none" strike="noStrike">
              <a:solidFill>
                <a:srgbClr val="000000"/>
              </a:solidFill>
              <a:effectLst/>
              <a:uFillTx/>
              <a:latin typeface="Arial"/>
            </a:endParaRPr>
          </a:p>
        </p:txBody>
      </p:sp>
      <p:sp>
        <p:nvSpPr>
          <p:cNvPr id="762" name="Text 18"/>
          <p:cNvSpPr/>
          <p:nvPr/>
        </p:nvSpPr>
        <p:spPr>
          <a:xfrm>
            <a:off x="8979480" y="2926080"/>
            <a:ext cx="21027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0F172A"/>
                </a:solidFill>
                <a:effectLst/>
                <a:uFillTx/>
                <a:latin typeface="Aptos"/>
              </a:rPr>
              <a:t>Lerneffekt</a:t>
            </a:r>
            <a:endParaRPr lang="de-DE" sz="1350" b="0" u="none" strike="noStrike">
              <a:solidFill>
                <a:srgbClr val="000000"/>
              </a:solidFill>
              <a:effectLst/>
              <a:uFillTx/>
              <a:latin typeface="Arial"/>
            </a:endParaRPr>
          </a:p>
        </p:txBody>
      </p:sp>
      <p:sp>
        <p:nvSpPr>
          <p:cNvPr id="763" name="Text 19"/>
          <p:cNvSpPr/>
          <p:nvPr/>
        </p:nvSpPr>
        <p:spPr>
          <a:xfrm>
            <a:off x="8522280" y="3401640"/>
            <a:ext cx="2523240" cy="45684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60" b="0" u="none" strike="noStrike">
                <a:solidFill>
                  <a:srgbClr val="334155"/>
                </a:solidFill>
                <a:effectLst/>
                <a:uFillTx/>
                <a:latin typeface="Aptos"/>
              </a:rPr>
              <a:t>Datenmodell, Sicherheit und Teamarbeit real erlebt</a:t>
            </a:r>
            <a:endParaRPr lang="de-DE" sz="960" b="0" u="none" strike="noStrike">
              <a:solidFill>
                <a:srgbClr val="000000"/>
              </a:solidFill>
              <a:effectLst/>
              <a:uFillTx/>
              <a:latin typeface="Arial"/>
            </a:endParaRPr>
          </a:p>
        </p:txBody>
      </p:sp>
      <p:sp>
        <p:nvSpPr>
          <p:cNvPr id="764" name="Text 20"/>
          <p:cNvSpPr/>
          <p:nvPr/>
        </p:nvSpPr>
        <p:spPr>
          <a:xfrm>
            <a:off x="3520440" y="5212080"/>
            <a:ext cx="502884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200" b="1" u="none" strike="noStrike">
                <a:solidFill>
                  <a:srgbClr val="10B981"/>
                </a:solidFill>
                <a:effectLst/>
                <a:uFillTx/>
                <a:latin typeface="Aptos"/>
              </a:rPr>
              <a:t>Vielen Dank · Fragen?</a:t>
            </a:r>
            <a:endParaRPr lang="de-DE" sz="2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pitchFamily="0" charset="1"/>
        <a:ea typeface=""/>
        <a:cs typeface=""/>
      </a:majorFont>
      <a:minorFont>
        <a:latin typeface="Apto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kument" ma:contentTypeID="0x010100C3574396489F2A408CA3654B3BFD8422" ma:contentTypeVersion="10" ma:contentTypeDescription="Ein neues Dokument erstellen." ma:contentTypeScope="" ma:versionID="969204ac11472e36d23f9bf858dc86b1">
  <xsd:schema xmlns:xsd="http://www.w3.org/2001/XMLSchema" xmlns:xs="http://www.w3.org/2001/XMLSchema" xmlns:p="http://schemas.microsoft.com/office/2006/metadata/properties" xmlns:ns2="ee027e5d-e3f7-4a15-8562-b3d3cde3991d" xmlns:ns3="1dacdcdf-d4df-4960-8c37-34aeefdb918c" targetNamespace="http://schemas.microsoft.com/office/2006/metadata/properties" ma:root="true" ma:fieldsID="4bfbc37b80d867521b2692f88b3f4205" ns2:_="" ns3:_="">
    <xsd:import namespace="ee027e5d-e3f7-4a15-8562-b3d3cde3991d"/>
    <xsd:import namespace="1dacdcdf-d4df-4960-8c37-34aeefdb918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e027e5d-e3f7-4a15-8562-b3d3cde3991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Bildmarkierungen" ma:readOnly="false" ma:fieldId="{5cf76f15-5ced-4ddc-b409-7134ff3c332f}" ma:taxonomyMulti="true" ma:sspId="e9e705d6-38b3-4b97-b0df-0b3ae6773d96"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dacdcdf-d4df-4960-8c37-34aeefdb918c"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1b87afd1-52cb-466b-91df-8b174df1b189}" ma:internalName="TaxCatchAll" ma:showField="CatchAllData" ma:web="1dacdcdf-d4df-4960-8c37-34aeefdb918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1dacdcdf-d4df-4960-8c37-34aeefdb918c" xsi:nil="true"/>
    <lcf76f155ced4ddcb4097134ff3c332f xmlns="ee027e5d-e3f7-4a15-8562-b3d3cde3991d">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96E29F4F-ED04-4711-AB4E-50CE9F380A9A}">
  <ds:schemaRefs>
    <ds:schemaRef ds:uri="http://schemas.microsoft.com/sharepoint/v3/contenttype/forms"/>
  </ds:schemaRefs>
</ds:datastoreItem>
</file>

<file path=customXml/itemProps2.xml><?xml version="1.0" encoding="utf-8"?>
<ds:datastoreItem xmlns:ds="http://schemas.openxmlformats.org/officeDocument/2006/customXml" ds:itemID="{08483088-420C-434E-A469-1CAD36F60A6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e027e5d-e3f7-4a15-8562-b3d3cde3991d"/>
    <ds:schemaRef ds:uri="1dacdcdf-d4df-4960-8c37-34aeefdb918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60A790B-9C07-4D26-90BF-175C92DB0386}">
  <ds:schemaRefs>
    <ds:schemaRef ds:uri="http://schemas.microsoft.com/office/2006/metadata/properties"/>
    <ds:schemaRef ds:uri="http://schemas.microsoft.com/office/infopath/2007/PartnerControls"/>
    <ds:schemaRef ds:uri="1dacdcdf-d4df-4960-8c37-34aeefdb918c"/>
    <ds:schemaRef ds:uri="ee027e5d-e3f7-4a15-8562-b3d3cde3991d"/>
  </ds:schemaRefs>
</ds:datastoreItem>
</file>

<file path=docProps/app.xml><?xml version="1.0" encoding="utf-8"?>
<Properties xmlns="http://schemas.openxmlformats.org/officeDocument/2006/extended-properties" xmlns:vt="http://schemas.openxmlformats.org/officeDocument/2006/docPropsVTypes">
  <Template/>
  <TotalTime>40</TotalTime>
  <Application>LibreOffice/26.2.1.2$Windows_X86_64 LibreOffice_project/620$Build-2</Application>
  <AppVersion>15.0000</AppVersion>
  <Words>0</Words>
  <Paragraphs>0</Paragraphs>
  <Company>Hochschulprojekt</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2026-07-13T13:39:48Z</dcterms:created>
  <dc:creator>Lebens-Finanzplaner Projektteam</dc:creator>
  <dc:description/>
  <dc:language>de-DE</dc:language>
  <cp:lastModifiedBy/>
  <dcterms:modified xsi:type="dcterms:W3CDTF">2026-07-16T12:08:27Z</dcterms:modified>
  <cp:revision>21</cp:revision>
  <dc:subject>Präsentation Lebens-Finanzplaner</dc:subject>
  <dc:title>Lebens-Finanzplaner – Projektpräsentation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0x010100C3574396489F2A408CA3654B3BFD8422</vt:lpwstr>
  </property>
  <property fmtid="{D5CDD505-2E9C-101B-9397-08002B2CF9AE}" pid="3" name="MediaServiceImageTags">
    <vt:lpwstr/>
  </property>
  <property fmtid="{D5CDD505-2E9C-101B-9397-08002B2CF9AE}" pid="4" name="Notes">
    <vt:i4>39</vt:i4>
  </property>
  <property fmtid="{D5CDD505-2E9C-101B-9397-08002B2CF9AE}" pid="5" name="PresentationFormat">
    <vt:lpwstr>Breitbild</vt:lpwstr>
  </property>
  <property fmtid="{D5CDD505-2E9C-101B-9397-08002B2CF9AE}" pid="6" name="Slides">
    <vt:i4>40</vt:i4>
  </property>
</Properties>
</file>